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539" r:id="rId2"/>
    <p:sldId id="540" r:id="rId3"/>
    <p:sldId id="541" r:id="rId4"/>
    <p:sldId id="542" r:id="rId5"/>
    <p:sldId id="543" r:id="rId6"/>
    <p:sldId id="545" r:id="rId7"/>
    <p:sldId id="547" r:id="rId8"/>
    <p:sldId id="548" r:id="rId9"/>
    <p:sldId id="550" r:id="rId10"/>
    <p:sldId id="553" r:id="rId11"/>
    <p:sldId id="554" r:id="rId12"/>
    <p:sldId id="555" r:id="rId13"/>
    <p:sldId id="558" r:id="rId14"/>
    <p:sldId id="559" r:id="rId15"/>
    <p:sldId id="560" r:id="rId16"/>
    <p:sldId id="561" r:id="rId17"/>
    <p:sldId id="563" r:id="rId18"/>
    <p:sldId id="564" r:id="rId19"/>
    <p:sldId id="569" r:id="rId20"/>
    <p:sldId id="570" r:id="rId21"/>
    <p:sldId id="565" r:id="rId22"/>
  </p:sldIdLst>
  <p:sldSz cx="9144000" cy="6858000" type="screen4x3"/>
  <p:notesSz cx="6807200" cy="9939338"/>
  <p:embeddedFontLst>
    <p:embeddedFont>
      <p:font typeface="Taipei Sans TC Beta" panose="02020500000000000000" charset="-120"/>
      <p:regular r:id="rId25"/>
      <p:bold r:id="rId26"/>
    </p:embeddedFont>
    <p:embeddedFont>
      <p:font typeface="SimHei" panose="02010600030101010101" charset="-122"/>
      <p:regular r:id="rId27"/>
    </p:embeddedFont>
    <p:embeddedFont>
      <p:font typeface="微軟正黑體" panose="020B0604030504040204" pitchFamily="34" charset="-120"/>
      <p:regular r:id="rId28"/>
      <p:bold r:id="rId29"/>
    </p:embeddedFont>
    <p:embeddedFont>
      <p:font typeface="Garamond" panose="02020404030301010803" pitchFamily="18" charset="0"/>
      <p:regular r:id="rId30"/>
      <p:bold r:id="rId31"/>
      <p:italic r:id="rId32"/>
    </p:embeddedFont>
    <p:embeddedFont>
      <p:font typeface="Taipei Sans TC Beta Light" panose="02020500000000000000" charset="-120"/>
      <p:regular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地政局" initials="地政局" lastIdx="1" clrIdx="0">
    <p:extLst>
      <p:ext uri="{19B8F6BF-5375-455C-9EA6-DF929625EA0E}">
        <p15:presenceInfo xmlns:p15="http://schemas.microsoft.com/office/powerpoint/2012/main" userId="地政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FF"/>
    <a:srgbClr val="00B050"/>
    <a:srgbClr val="0000CC"/>
    <a:srgbClr val="003366"/>
    <a:srgbClr val="000099"/>
    <a:srgbClr val="FF00FF"/>
    <a:srgbClr val="1B1B76"/>
    <a:srgbClr val="C00000"/>
    <a:srgbClr val="66FFFF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00" autoAdjust="0"/>
    <p:restoredTop sz="94333" autoAdjust="0"/>
  </p:normalViewPr>
  <p:slideViewPr>
    <p:cSldViewPr>
      <p:cViewPr varScale="1">
        <p:scale>
          <a:sx n="91" d="100"/>
          <a:sy n="91" d="100"/>
        </p:scale>
        <p:origin x="140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0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8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F6E41-C125-46BD-98EF-32F9B8C0ED4E}" type="datetimeFigureOut">
              <a:rPr lang="zh-TW" altLang="en-US" smtClean="0"/>
              <a:t>2022/2/25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FC0F8-52EF-42D7-BF9B-F6CBDFBBC7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89993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C7AC4-CAD9-4DA5-902A-9A0B6F2EF406}" type="datetimeFigureOut">
              <a:rPr lang="zh-TW" altLang="en-US" smtClean="0"/>
              <a:t>2022/2/25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634EA-FA22-4E4D-BED3-D4E240F3CC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383281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423840-A407-4558-9EE6-87D206C654B0}" type="slidenum">
              <a:rPr lang="zh-TW" altLang="en-US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93287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423840-A407-4558-9EE6-87D206C654B0}" type="slidenum">
              <a:rPr lang="zh-TW" altLang="en-US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53026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423840-A407-4558-9EE6-87D206C654B0}" type="slidenum">
              <a:rPr lang="zh-TW" altLang="en-US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31468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423840-A407-4558-9EE6-87D206C654B0}" type="slidenum">
              <a:rPr lang="zh-TW" altLang="en-US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811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smtClean="0"/>
              <a:t>東南段、頭前段</a:t>
            </a:r>
            <a:endParaRPr lang="en-US" altLang="zh-TW" smtClean="0"/>
          </a:p>
          <a:p>
            <a:endParaRPr lang="zh-TW" altLang="en-US" smtClean="0"/>
          </a:p>
        </p:txBody>
      </p:sp>
      <p:sp>
        <p:nvSpPr>
          <p:cNvPr id="2560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fld id="{E3EFC39A-8740-4685-B6D2-A6A0AD6EE2BF}" type="slidenum">
              <a:rPr lang="zh-TW" altLang="en-US" sz="1200">
                <a:ea typeface="新細明體" charset="-120"/>
              </a:rPr>
              <a:pPr/>
              <a:t>9</a:t>
            </a:fld>
            <a:endParaRPr lang="en-US" altLang="zh-TW" sz="120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7037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423840-A407-4558-9EE6-87D206C654B0}" type="slidenum">
              <a:rPr lang="zh-TW" altLang="en-US" smtClean="0"/>
              <a:pPr>
                <a:defRPr/>
              </a:pPr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39631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423840-A407-4558-9EE6-87D206C654B0}" type="slidenum">
              <a:rPr lang="zh-TW" altLang="en-US" smtClean="0"/>
              <a:pPr>
                <a:defRPr/>
              </a:pPr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46467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423840-A407-4558-9EE6-87D206C654B0}" type="slidenum">
              <a:rPr lang="zh-TW" altLang="en-US" smtClean="0"/>
              <a:pPr>
                <a:defRPr/>
              </a:pPr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22933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423840-A407-4558-9EE6-87D206C654B0}" type="slidenum">
              <a:rPr lang="zh-TW" altLang="en-US" smtClean="0"/>
              <a:pPr>
                <a:defRPr/>
              </a:pPr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516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423840-A407-4558-9EE6-87D206C654B0}" type="slidenum">
              <a:rPr lang="zh-TW" altLang="en-US" smtClean="0"/>
              <a:pPr>
                <a:defRPr/>
              </a:pPr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36775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DD8839-B8D1-4715-BB74-EC1DFDE72F20}" type="slidenum">
              <a:rPr lang="zh-TW" altLang="en-US" smtClean="0"/>
              <a:pPr>
                <a:defRPr/>
              </a:pPr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07377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11278-B0C7-4D59-8DC4-51CFFC21566D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250825" y="6381750"/>
            <a:ext cx="5257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6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TW" altLang="en-US" sz="1400" dirty="0">
                <a:solidFill>
                  <a:srgbClr val="000000"/>
                </a:solidFill>
                <a:latin typeface="+mn-lt"/>
                <a:ea typeface="+mj-ea"/>
              </a:rPr>
              <a:t>臺南市地價及標準地價評議委員會</a:t>
            </a:r>
            <a:r>
              <a:rPr lang="en-US" altLang="zh-TW" sz="1400" dirty="0" smtClean="0">
                <a:solidFill>
                  <a:srgbClr val="000000"/>
                </a:solidFill>
                <a:latin typeface="+mn-lt"/>
                <a:ea typeface="+mj-ea"/>
              </a:rPr>
              <a:t>110</a:t>
            </a:r>
            <a:r>
              <a:rPr lang="zh-TW" altLang="en-US" sz="1400" dirty="0" smtClean="0">
                <a:solidFill>
                  <a:srgbClr val="000000"/>
                </a:solidFill>
                <a:latin typeface="+mn-lt"/>
                <a:ea typeface="+mj-ea"/>
              </a:rPr>
              <a:t>年</a:t>
            </a:r>
            <a:r>
              <a:rPr lang="zh-TW" altLang="en-US" sz="1400" dirty="0" smtClean="0">
                <a:solidFill>
                  <a:srgbClr val="000000"/>
                </a:solidFill>
                <a:latin typeface="+mn-lt"/>
                <a:ea typeface="+mj-ea"/>
              </a:rPr>
              <a:t>第次</a:t>
            </a:r>
            <a:r>
              <a:rPr lang="zh-TW" altLang="en-US" sz="1400" dirty="0">
                <a:solidFill>
                  <a:srgbClr val="000000"/>
                </a:solidFill>
                <a:latin typeface="+mn-lt"/>
                <a:ea typeface="+mj-ea"/>
              </a:rPr>
              <a:t>會議簡報</a:t>
            </a:r>
          </a:p>
        </p:txBody>
      </p:sp>
    </p:spTree>
    <p:extLst>
      <p:ext uri="{BB962C8B-B14F-4D97-AF65-F5344CB8AC3E}">
        <p14:creationId xmlns:p14="http://schemas.microsoft.com/office/powerpoint/2010/main" val="3272948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tabLst>
                <a:tab pos="723900" algn="l"/>
                <a:tab pos="1447800" algn="l"/>
              </a:tabLst>
              <a:defRPr kumimoji="1">
                <a:ea typeface="SimHei" panose="02010609060101010101" pitchFamily="49" charset="-122"/>
              </a:defRPr>
            </a:lvl1pPr>
          </a:lstStyle>
          <a:p>
            <a:pPr>
              <a:defRPr/>
            </a:pPr>
            <a:fld id="{ADB62C50-BE54-404A-9A59-E0561553789E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95072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6863" y="261328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 smtClean="0"/>
              <a:t>按一下以編輯母片標題樣式</a:t>
            </a:r>
            <a:endParaRPr lang="en-US" altLang="zh-TW" dirty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87977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 smtClean="0"/>
              <a:t>按一下以編輯母片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第二層</a:t>
            </a:r>
            <a:endParaRPr lang="en-US" altLang="zh-TW" dirty="0" smtClean="0"/>
          </a:p>
          <a:p>
            <a:pPr lvl="2"/>
            <a:r>
              <a:rPr lang="en-US" altLang="zh-TW" dirty="0" err="1" smtClean="0"/>
              <a:t>第三層</a:t>
            </a:r>
            <a:endParaRPr lang="en-US" altLang="zh-TW" dirty="0" smtClean="0"/>
          </a:p>
          <a:p>
            <a:pPr lvl="3"/>
            <a:r>
              <a:rPr lang="en-US" altLang="zh-TW" dirty="0" err="1" smtClean="0"/>
              <a:t>第四層</a:t>
            </a:r>
            <a:endParaRPr lang="en-US" altLang="zh-TW" dirty="0" smtClean="0"/>
          </a:p>
          <a:p>
            <a:pPr lvl="4"/>
            <a:r>
              <a:rPr lang="en-US" altLang="zh-TW" dirty="0" err="1" smtClean="0"/>
              <a:t>第五層</a:t>
            </a:r>
            <a:endParaRPr lang="en-US" altLang="zh-TW" dirty="0" smtClean="0"/>
          </a:p>
        </p:txBody>
      </p:sp>
      <p:sp>
        <p:nvSpPr>
          <p:cNvPr id="80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solidFill>
                  <a:srgbClr val="000000"/>
                </a:solidFill>
                <a:latin typeface="Garamond" pitchFamily="18" charset="0"/>
                <a:ea typeface="新細明體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4CEA064-3B03-4E6D-A37E-9FA7EFCF8877}" type="slidenum">
              <a:rPr lang="en-US" altLang="zh-TW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TW" dirty="0"/>
          </a:p>
        </p:txBody>
      </p:sp>
      <p:sp>
        <p:nvSpPr>
          <p:cNvPr id="18439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250825" y="6381750"/>
            <a:ext cx="52578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6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TW" altLang="en-US" sz="1400" dirty="0">
                <a:solidFill>
                  <a:srgbClr val="000000"/>
                </a:solidFill>
                <a:latin typeface="+mn-lt"/>
                <a:ea typeface="+mj-ea"/>
              </a:rPr>
              <a:t>臺南市地價及標準地價評議</a:t>
            </a:r>
            <a:r>
              <a:rPr lang="zh-TW" altLang="en-US" sz="1400" dirty="0" smtClean="0">
                <a:solidFill>
                  <a:srgbClr val="000000"/>
                </a:solidFill>
                <a:latin typeface="+mn-lt"/>
                <a:ea typeface="+mj-ea"/>
              </a:rPr>
              <a:t>委員會</a:t>
            </a:r>
            <a:r>
              <a:rPr lang="en-US" altLang="zh-TW" sz="1400" dirty="0" smtClean="0">
                <a:solidFill>
                  <a:srgbClr val="000000"/>
                </a:solidFill>
                <a:latin typeface="+mn-lt"/>
                <a:ea typeface="+mj-ea"/>
              </a:rPr>
              <a:t>110</a:t>
            </a:r>
            <a:r>
              <a:rPr lang="zh-TW" altLang="en-US" sz="1400" dirty="0" smtClean="0">
                <a:solidFill>
                  <a:srgbClr val="000000"/>
                </a:solidFill>
                <a:latin typeface="+mn-lt"/>
                <a:ea typeface="+mj-ea"/>
              </a:rPr>
              <a:t>年</a:t>
            </a:r>
            <a:r>
              <a:rPr lang="zh-TW" altLang="en-US" sz="1400" dirty="0" smtClean="0">
                <a:solidFill>
                  <a:srgbClr val="000000"/>
                </a:solidFill>
                <a:latin typeface="+mn-lt"/>
                <a:ea typeface="+mj-ea"/>
              </a:rPr>
              <a:t>第次</a:t>
            </a:r>
            <a:r>
              <a:rPr lang="zh-TW" altLang="en-US" sz="1400" dirty="0">
                <a:solidFill>
                  <a:srgbClr val="000000"/>
                </a:solidFill>
                <a:latin typeface="+mn-lt"/>
                <a:ea typeface="+mj-ea"/>
              </a:rPr>
              <a:t>會議簡報</a:t>
            </a:r>
          </a:p>
        </p:txBody>
      </p:sp>
    </p:spTree>
    <p:extLst>
      <p:ext uri="{BB962C8B-B14F-4D97-AF65-F5344CB8AC3E}">
        <p14:creationId xmlns:p14="http://schemas.microsoft.com/office/powerpoint/2010/main" val="3562952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200">
          <a:solidFill>
            <a:srgbClr val="0000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kumimoji="1" sz="2600">
          <a:solidFill>
            <a:schemeClr val="tx1"/>
          </a:solidFill>
          <a:latin typeface="+mn-lt"/>
          <a:ea typeface="+mn-ea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kumimoji="1" sz="2200">
          <a:solidFill>
            <a:schemeClr val="tx1"/>
          </a:solidFill>
          <a:latin typeface="+mn-lt"/>
          <a:ea typeface="+mn-ea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kumimoji="1" sz="2000">
          <a:solidFill>
            <a:schemeClr val="tx1"/>
          </a:solidFill>
          <a:latin typeface="+mn-lt"/>
          <a:ea typeface="+mn-ea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&#19981;&#21205;&#29986;&#20272;&#20729;&#22577;&#21578;&#26360;&#26597;&#20272;&#26360;&#34920;&#35037;&#35330;&#27425;&#24207;.pd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ctrTitle" idx="4294967295"/>
          </p:nvPr>
        </p:nvSpPr>
        <p:spPr>
          <a:xfrm>
            <a:off x="396082" y="1628775"/>
            <a:ext cx="8351837" cy="2232025"/>
          </a:xfrm>
        </p:spPr>
        <p:txBody>
          <a:bodyPr/>
          <a:lstStyle/>
          <a:p>
            <a:pPr algn="ctr">
              <a:lnSpc>
                <a:spcPct val="125000"/>
              </a:lnSpc>
            </a:pPr>
            <a:r>
              <a:rPr lang="en-US" altLang="zh-TW" sz="3600" b="1" dirty="0">
                <a:latin typeface="+mj-ea"/>
              </a:rPr>
              <a:t>○○○○○○○○○</a:t>
            </a:r>
            <a:r>
              <a:rPr lang="zh-TW" altLang="en-US" sz="3600" b="1" dirty="0">
                <a:latin typeface="+mj-ea"/>
              </a:rPr>
              <a:t>工程</a:t>
            </a:r>
            <a:r>
              <a:rPr lang="en-US" altLang="zh-TW" sz="3600" b="1" dirty="0">
                <a:latin typeface="+mj-ea"/>
              </a:rPr>
              <a:t/>
            </a:r>
            <a:br>
              <a:rPr lang="en-US" altLang="zh-TW" sz="3600" b="1" dirty="0">
                <a:latin typeface="+mj-ea"/>
              </a:rPr>
            </a:br>
            <a:r>
              <a:rPr lang="zh-TW" altLang="en-US" sz="3600" b="1" dirty="0">
                <a:latin typeface="+mj-ea"/>
              </a:rPr>
              <a:t>預定徵收土地宗地單位市價評定案</a:t>
            </a:r>
            <a:r>
              <a:rPr lang="en-US" altLang="zh-TW" sz="3600" b="1" dirty="0">
                <a:latin typeface="+mj-ea"/>
              </a:rPr>
              <a:t/>
            </a:r>
            <a:br>
              <a:rPr lang="en-US" altLang="zh-TW" sz="3600" b="1" dirty="0">
                <a:latin typeface="+mj-ea"/>
              </a:rPr>
            </a:br>
            <a:r>
              <a:rPr lang="zh-TW" altLang="en-US" sz="3600" b="1" dirty="0">
                <a:latin typeface="+mj-ea"/>
              </a:rPr>
              <a:t>（</a:t>
            </a:r>
            <a:r>
              <a:rPr lang="en-US" altLang="zh-TW" sz="3600" b="1" dirty="0">
                <a:solidFill>
                  <a:srgbClr val="FF0000"/>
                </a:solidFill>
                <a:latin typeface="+mj-ea"/>
              </a:rPr>
              <a:t>108</a:t>
            </a:r>
            <a:r>
              <a:rPr lang="zh-TW" altLang="en-US" sz="3600" b="1" dirty="0">
                <a:solidFill>
                  <a:srgbClr val="FF0000"/>
                </a:solidFill>
                <a:latin typeface="+mj-ea"/>
              </a:rPr>
              <a:t>年徵收案重新提評</a:t>
            </a:r>
            <a:r>
              <a:rPr lang="zh-TW" altLang="en-US" sz="3600" b="1" dirty="0">
                <a:latin typeface="+mj-ea"/>
              </a:rPr>
              <a:t>）</a:t>
            </a:r>
            <a:endParaRPr lang="en-US" altLang="zh-TW" sz="3600" b="1" dirty="0">
              <a:latin typeface="+mj-ea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2483768" y="4652963"/>
            <a:ext cx="6660231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rgbClr val="00CC99"/>
              </a:buClr>
              <a:buSzPct val="65000"/>
              <a:buFont typeface="Wingdings" pitchFamily="2" charset="2"/>
              <a:buNone/>
            </a:pPr>
            <a:r>
              <a:rPr kumimoji="0" lang="zh-TW" altLang="en-US" sz="2800" b="1" dirty="0">
                <a:solidFill>
                  <a:srgbClr val="000000"/>
                </a:solidFill>
                <a:latin typeface="Times New Roman" pitchFamily="18" charset="0"/>
              </a:rPr>
              <a:t>報告單位</a:t>
            </a:r>
            <a:r>
              <a:rPr kumimoji="0" lang="zh-TW" altLang="en-US" sz="2800" b="1" dirty="0" smtClean="0">
                <a:solidFill>
                  <a:srgbClr val="000000"/>
                </a:solidFill>
                <a:latin typeface="Times New Roman" pitchFamily="18" charset="0"/>
              </a:rPr>
              <a:t>：</a:t>
            </a:r>
            <a:r>
              <a:rPr lang="en-US" altLang="zh-TW" sz="2800" b="1" dirty="0" smtClean="0">
                <a:latin typeface="微軟正黑體" pitchFamily="34" charset="-120"/>
                <a:ea typeface="微軟正黑體" pitchFamily="34" charset="-120"/>
              </a:rPr>
              <a:t>○○○</a:t>
            </a:r>
            <a:r>
              <a:rPr kumimoji="0" lang="zh-TW" altLang="en-US" sz="2800" b="1" dirty="0" smtClean="0">
                <a:solidFill>
                  <a:srgbClr val="000000"/>
                </a:solidFill>
                <a:latin typeface="Times New Roman" pitchFamily="18" charset="0"/>
              </a:rPr>
              <a:t>不動產</a:t>
            </a:r>
            <a:r>
              <a:rPr kumimoji="0" lang="zh-TW" altLang="en-US" sz="2800" b="1" dirty="0">
                <a:solidFill>
                  <a:srgbClr val="000000"/>
                </a:solidFill>
                <a:latin typeface="Times New Roman" pitchFamily="18" charset="0"/>
              </a:rPr>
              <a:t>估價師事務所</a:t>
            </a:r>
          </a:p>
        </p:txBody>
      </p:sp>
      <p:sp>
        <p:nvSpPr>
          <p:cNvPr id="17413" name="Text Box 4"/>
          <p:cNvSpPr txBox="1">
            <a:spLocks noChangeArrowheads="1"/>
          </p:cNvSpPr>
          <p:nvPr/>
        </p:nvSpPr>
        <p:spPr bwMode="auto">
          <a:xfrm>
            <a:off x="581025" y="476250"/>
            <a:ext cx="81676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000">
                <a:solidFill>
                  <a:srgbClr val="000000"/>
                </a:solidFill>
                <a:latin typeface="Arial" charset="0"/>
                <a:ea typeface="新細明體" charset="-120"/>
              </a:defRPr>
            </a:lvl1pPr>
            <a:lvl2pPr>
              <a:defRPr sz="2600">
                <a:solidFill>
                  <a:srgbClr val="000000"/>
                </a:solidFill>
                <a:latin typeface="Arial" charset="0"/>
                <a:ea typeface="新細明體" charset="-120"/>
              </a:defRPr>
            </a:lvl2pPr>
            <a:lvl3pPr>
              <a:defRPr sz="2200">
                <a:solidFill>
                  <a:srgbClr val="000000"/>
                </a:solidFill>
                <a:latin typeface="Arial" charset="0"/>
                <a:ea typeface="新細明體" charset="-120"/>
              </a:defRPr>
            </a:lvl3pPr>
            <a:lvl4pPr>
              <a:defRPr sz="2000">
                <a:solidFill>
                  <a:srgbClr val="000000"/>
                </a:solidFill>
                <a:latin typeface="Arial" charset="0"/>
                <a:ea typeface="新細明體" charset="-120"/>
              </a:defRPr>
            </a:lvl4pPr>
            <a:lvl5pPr>
              <a:defRPr sz="2000">
                <a:solidFill>
                  <a:srgbClr val="000000"/>
                </a:solidFill>
                <a:latin typeface="Arial" charset="0"/>
                <a:ea typeface="新細明體" charset="-120"/>
              </a:defRPr>
            </a:lvl5pPr>
            <a:lvl6pPr eaLnBrk="0" hangingPunct="0">
              <a:buChar char="»"/>
              <a:defRPr sz="2000">
                <a:solidFill>
                  <a:srgbClr val="000000"/>
                </a:solidFill>
                <a:latin typeface="Arial" charset="0"/>
                <a:ea typeface="新細明體" charset="-120"/>
              </a:defRPr>
            </a:lvl6pPr>
            <a:lvl7pPr eaLnBrk="0" hangingPunct="0">
              <a:buChar char="»"/>
              <a:defRPr sz="2000">
                <a:solidFill>
                  <a:srgbClr val="000000"/>
                </a:solidFill>
                <a:latin typeface="Arial" charset="0"/>
                <a:ea typeface="新細明體" charset="-120"/>
              </a:defRPr>
            </a:lvl7pPr>
            <a:lvl8pPr eaLnBrk="0" hangingPunct="0">
              <a:buChar char="»"/>
              <a:defRPr sz="2000">
                <a:solidFill>
                  <a:srgbClr val="000000"/>
                </a:solidFill>
                <a:latin typeface="Arial" charset="0"/>
                <a:ea typeface="新細明體" charset="-120"/>
              </a:defRPr>
            </a:lvl8pPr>
            <a:lvl9pPr eaLnBrk="0" hangingPunct="0">
              <a:buChar char="»"/>
              <a:defRPr sz="2000">
                <a:solidFill>
                  <a:srgbClr val="000000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TW" altLang="en-US" sz="3600" b="1" dirty="0">
                <a:latin typeface="+mj-ea"/>
                <a:ea typeface="+mj-ea"/>
              </a:rPr>
              <a:t>編號:第案</a:t>
            </a:r>
            <a:r>
              <a:rPr kumimoji="1" lang="en-US" altLang="zh-TW" sz="3600" b="1" dirty="0">
                <a:latin typeface="+mj-ea"/>
                <a:ea typeface="+mj-ea"/>
              </a:rPr>
              <a:t>(</a:t>
            </a:r>
            <a:r>
              <a:rPr kumimoji="1" lang="zh-TW" altLang="en-US" sz="3600" b="1" dirty="0">
                <a:latin typeface="+mj-ea"/>
                <a:ea typeface="+mj-ea"/>
              </a:rPr>
              <a:t>案號：</a:t>
            </a:r>
            <a:r>
              <a:rPr kumimoji="1" lang="en-US" altLang="zh-TW" sz="3600" b="1" dirty="0">
                <a:latin typeface="+mj-ea"/>
                <a:ea typeface="+mj-ea"/>
              </a:rPr>
              <a:t>1090901-99-○○○)</a:t>
            </a:r>
          </a:p>
        </p:txBody>
      </p:sp>
      <p:sp>
        <p:nvSpPr>
          <p:cNvPr id="6" name="矩形圖說文字 5"/>
          <p:cNvSpPr/>
          <p:nvPr/>
        </p:nvSpPr>
        <p:spPr>
          <a:xfrm>
            <a:off x="8732906" y="1412776"/>
            <a:ext cx="3528392" cy="2061078"/>
          </a:xfrm>
          <a:prstGeom prst="wedgeRectCallout">
            <a:avLst>
              <a:gd name="adj1" fmla="val -106190"/>
              <a:gd name="adj2" fmla="val 5053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sz="2000" dirty="0" smtClean="0"/>
              <a:t>以前年度</a:t>
            </a:r>
            <a:r>
              <a:rPr lang="zh-TW" altLang="en-US" sz="2000" dirty="0" smtClean="0">
                <a:solidFill>
                  <a:srgbClr val="FF0000"/>
                </a:solidFill>
              </a:rPr>
              <a:t>經</a:t>
            </a:r>
            <a:r>
              <a:rPr lang="zh-TW" altLang="en-US" sz="2000" u="sng" dirty="0" smtClean="0">
                <a:solidFill>
                  <a:srgbClr val="FF0000"/>
                </a:solidFill>
              </a:rPr>
              <a:t>地</a:t>
            </a:r>
            <a:r>
              <a:rPr lang="zh-TW" altLang="en-US" sz="2000" u="sng" dirty="0">
                <a:solidFill>
                  <a:srgbClr val="FF0000"/>
                </a:solidFill>
              </a:rPr>
              <a:t>評</a:t>
            </a:r>
            <a:r>
              <a:rPr lang="zh-TW" altLang="en-US" sz="2000" u="sng" dirty="0" smtClean="0">
                <a:solidFill>
                  <a:srgbClr val="FF0000"/>
                </a:solidFill>
              </a:rPr>
              <a:t>會</a:t>
            </a:r>
            <a:r>
              <a:rPr lang="zh-TW" altLang="en-US" sz="2000" dirty="0" smtClean="0">
                <a:solidFill>
                  <a:srgbClr val="FF0000"/>
                </a:solidFill>
              </a:rPr>
              <a:t>評定</a:t>
            </a:r>
            <a:r>
              <a:rPr lang="zh-TW" altLang="en-US" sz="2000" dirty="0" smtClean="0"/>
              <a:t>案件，</a:t>
            </a:r>
            <a:r>
              <a:rPr lang="zh-TW" altLang="en-US" sz="2000" dirty="0"/>
              <a:t>應填載此項。</a:t>
            </a:r>
            <a:endParaRPr lang="en-US" altLang="zh-TW" sz="2000" dirty="0"/>
          </a:p>
          <a:p>
            <a:r>
              <a:rPr lang="en-US" altLang="zh-TW" sz="2000" dirty="0"/>
              <a:t>(</a:t>
            </a:r>
            <a:r>
              <a:rPr lang="zh-TW" altLang="en-US" sz="2000" dirty="0" smtClean="0"/>
              <a:t>如</a:t>
            </a:r>
            <a:r>
              <a:rPr lang="en-US" altLang="zh-TW" sz="2000" dirty="0"/>
              <a:t>1</a:t>
            </a:r>
            <a:r>
              <a:rPr lang="en-US" altLang="zh-TW" sz="2000" dirty="0" smtClean="0"/>
              <a:t>08</a:t>
            </a:r>
            <a:r>
              <a:rPr lang="zh-TW" altLang="en-US" sz="2000" dirty="0" smtClean="0"/>
              <a:t>年徵收案</a:t>
            </a:r>
            <a:r>
              <a:rPr lang="zh-TW" altLang="en-US" sz="2000" dirty="0"/>
              <a:t>，則填載為</a:t>
            </a:r>
            <a:r>
              <a:rPr lang="en-US" altLang="zh-TW" sz="2000" dirty="0"/>
              <a:t>108</a:t>
            </a:r>
            <a:r>
              <a:rPr lang="zh-TW" altLang="en-US" sz="2000" dirty="0"/>
              <a:t>年徵收案重新提評</a:t>
            </a:r>
            <a:r>
              <a:rPr lang="en-US" altLang="zh-TW" sz="2000" dirty="0"/>
              <a:t>)</a:t>
            </a:r>
            <a:endParaRPr lang="zh-TW" altLang="en-US" sz="2000" dirty="0"/>
          </a:p>
        </p:txBody>
      </p:sp>
      <p:sp>
        <p:nvSpPr>
          <p:cNvPr id="7" name="矩形圖說文字 6"/>
          <p:cNvSpPr/>
          <p:nvPr/>
        </p:nvSpPr>
        <p:spPr>
          <a:xfrm>
            <a:off x="5076056" y="1628775"/>
            <a:ext cx="3528392" cy="793195"/>
          </a:xfrm>
          <a:prstGeom prst="wedgeRectCallout">
            <a:avLst>
              <a:gd name="adj1" fmla="val 1474"/>
              <a:gd name="adj2" fmla="val -127656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sz="2000" dirty="0" smtClean="0"/>
              <a:t>需地機關送件後取號，請洽地政局承辦。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329272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68313" y="908050"/>
            <a:ext cx="8218487" cy="54737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41325" indent="-441325"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TW" sz="2800" b="1" kern="0" dirty="0" smtClean="0">
                <a:solidFill>
                  <a:srgbClr val="A50021"/>
                </a:solidFill>
                <a:latin typeface="SimHei" pitchFamily="49" charset="-122"/>
                <a:ea typeface="SimHei" pitchFamily="49" charset="-122"/>
              </a:rPr>
              <a:t>1.</a:t>
            </a:r>
            <a:r>
              <a:rPr lang="zh-TW" altLang="en-US" sz="2800" b="1" kern="0" dirty="0" smtClean="0">
                <a:solidFill>
                  <a:srgbClr val="A50021"/>
                </a:solidFill>
                <a:latin typeface="SimHei" pitchFamily="49" charset="-122"/>
                <a:ea typeface="SimHei" pitchFamily="49" charset="-122"/>
              </a:rPr>
              <a:t>興辦事業計畫名稱：</a:t>
            </a:r>
            <a:endParaRPr lang="en-US" altLang="zh-TW" sz="2800" b="1" kern="0" dirty="0" smtClean="0">
              <a:solidFill>
                <a:srgbClr val="A50021"/>
              </a:solidFill>
              <a:latin typeface="SimHei" pitchFamily="49" charset="-122"/>
              <a:ea typeface="SimHei" pitchFamily="49" charset="-122"/>
            </a:endParaRPr>
          </a:p>
          <a:p>
            <a:pPr marL="361950" indent="0"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zh-TW" altLang="en-US" sz="2400" b="1" kern="0" dirty="0" smtClean="0">
                <a:solidFill>
                  <a:srgbClr val="000099"/>
                </a:solidFill>
                <a:latin typeface="SimHei" pitchFamily="49" charset="-122"/>
                <a:ea typeface="SimHei" pitchFamily="49" charset="-122"/>
              </a:rPr>
              <a:t>○○○○○○○工程</a:t>
            </a:r>
            <a:endParaRPr lang="en-US" altLang="zh-TW" sz="2400" b="1" kern="0" dirty="0" smtClean="0">
              <a:solidFill>
                <a:srgbClr val="000099"/>
              </a:solidFill>
              <a:latin typeface="SimHei" pitchFamily="49" charset="-122"/>
              <a:ea typeface="SimHei" pitchFamily="49" charset="-122"/>
            </a:endParaRPr>
          </a:p>
          <a:p>
            <a:pPr marL="0" indent="0"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kumimoji="0" lang="en-US" altLang="zh-TW" sz="2800" b="1" kern="0" dirty="0" smtClean="0">
                <a:solidFill>
                  <a:srgbClr val="A50021"/>
                </a:solidFill>
                <a:latin typeface="SimHei" pitchFamily="49" charset="-122"/>
                <a:ea typeface="SimHei" pitchFamily="49" charset="-122"/>
              </a:rPr>
              <a:t>2.</a:t>
            </a:r>
            <a:r>
              <a:rPr lang="zh-TW" altLang="en-US" sz="2800" b="1" kern="0" dirty="0" smtClean="0">
                <a:solidFill>
                  <a:srgbClr val="A50021"/>
                </a:solidFill>
                <a:latin typeface="SimHei" pitchFamily="49" charset="-122"/>
                <a:ea typeface="SimHei" pitchFamily="49" charset="-122"/>
              </a:rPr>
              <a:t>需用土地人：</a:t>
            </a:r>
            <a:r>
              <a:rPr lang="zh-TW" altLang="en-US" sz="2400" b="1" kern="0" dirty="0" smtClean="0">
                <a:solidFill>
                  <a:srgbClr val="000099"/>
                </a:solidFill>
                <a:latin typeface="SimHei" pitchFamily="49" charset="-122"/>
                <a:ea typeface="SimHei" pitchFamily="49" charset="-122"/>
              </a:rPr>
              <a:t>○○○○○○○</a:t>
            </a:r>
            <a:endParaRPr lang="en-US" altLang="zh-TW" sz="2400" b="1" kern="0" dirty="0" smtClean="0">
              <a:solidFill>
                <a:srgbClr val="000099"/>
              </a:solidFill>
              <a:latin typeface="SimHei" pitchFamily="49" charset="-122"/>
              <a:ea typeface="SimHei" pitchFamily="49" charset="-122"/>
            </a:endParaRPr>
          </a:p>
          <a:p>
            <a:pPr marL="441325" indent="-441325" eaLnBrk="1" hangingPunct="1">
              <a:spcBef>
                <a:spcPts val="600"/>
              </a:spcBef>
              <a:buClr>
                <a:schemeClr val="bg1"/>
              </a:buClr>
              <a:buFont typeface="Wingdings" pitchFamily="2" charset="2"/>
              <a:buNone/>
              <a:defRPr/>
            </a:pPr>
            <a:r>
              <a:rPr kumimoji="0" lang="en-US" altLang="zh-TW" sz="2800" b="1" kern="0" dirty="0" smtClean="0">
                <a:solidFill>
                  <a:srgbClr val="A50021"/>
                </a:solidFill>
                <a:latin typeface="SimHei" pitchFamily="49" charset="-122"/>
                <a:ea typeface="SimHei" pitchFamily="49" charset="-122"/>
              </a:rPr>
              <a:t>3.</a:t>
            </a:r>
            <a:r>
              <a:rPr kumimoji="0" lang="zh-TW" altLang="en-US" sz="2800" b="1" kern="0" dirty="0" smtClean="0">
                <a:solidFill>
                  <a:srgbClr val="A50021"/>
                </a:solidFill>
                <a:latin typeface="SimHei" pitchFamily="49" charset="-122"/>
                <a:ea typeface="SimHei" pitchFamily="49" charset="-122"/>
              </a:rPr>
              <a:t>徵收範圍及筆數：</a:t>
            </a:r>
            <a:endParaRPr kumimoji="0" lang="en-US" altLang="zh-TW" sz="2800" b="1" kern="0" dirty="0" smtClean="0">
              <a:solidFill>
                <a:srgbClr val="A50021"/>
              </a:solidFill>
              <a:latin typeface="SimHei" pitchFamily="49" charset="-122"/>
              <a:ea typeface="SimHei" pitchFamily="49" charset="-122"/>
            </a:endParaRPr>
          </a:p>
          <a:p>
            <a:pPr marL="361950" indent="0" eaLnBrk="1" hangingPunct="1">
              <a:spcBef>
                <a:spcPts val="600"/>
              </a:spcBef>
              <a:buClr>
                <a:schemeClr val="bg1"/>
              </a:buClr>
              <a:buFont typeface="Wingdings" pitchFamily="2" charset="2"/>
              <a:buNone/>
              <a:defRPr/>
            </a:pPr>
            <a:r>
              <a:rPr lang="zh-TW" altLang="en-US" sz="2400" b="1" kern="0" dirty="0" smtClean="0">
                <a:solidFill>
                  <a:srgbClr val="000099"/>
                </a:solidFill>
                <a:latin typeface="SimHei" pitchFamily="49" charset="-122"/>
                <a:ea typeface="SimHei" pitchFamily="49" charset="-122"/>
              </a:rPr>
              <a:t>○○區○○段</a:t>
            </a:r>
            <a:r>
              <a:rPr lang="en-US" altLang="zh-TW" sz="2400" b="1" kern="0" dirty="0" smtClean="0">
                <a:solidFill>
                  <a:srgbClr val="000099"/>
                </a:solidFill>
                <a:latin typeface="SimHei" pitchFamily="49" charset="-122"/>
                <a:ea typeface="SimHei" pitchFamily="49" charset="-122"/>
              </a:rPr>
              <a:t>○○</a:t>
            </a:r>
            <a:r>
              <a:rPr lang="zh-TW" altLang="en-US" sz="2400" b="1" kern="0" dirty="0" smtClean="0">
                <a:solidFill>
                  <a:srgbClr val="000099"/>
                </a:solidFill>
                <a:latin typeface="SimHei" pitchFamily="49" charset="-122"/>
                <a:ea typeface="SimHei" pitchFamily="49" charset="-122"/>
              </a:rPr>
              <a:t>地號等共</a:t>
            </a:r>
            <a:r>
              <a:rPr lang="en-US" altLang="zh-TW" sz="2400" b="1" kern="0" dirty="0" smtClean="0">
                <a:solidFill>
                  <a:srgbClr val="000099"/>
                </a:solidFill>
                <a:latin typeface="SimHei" pitchFamily="49" charset="-122"/>
                <a:ea typeface="SimHei" pitchFamily="49" charset="-122"/>
              </a:rPr>
              <a:t>18</a:t>
            </a:r>
            <a:r>
              <a:rPr lang="zh-TW" altLang="en-US" sz="2400" b="1" kern="0" dirty="0" smtClean="0">
                <a:solidFill>
                  <a:srgbClr val="000099"/>
                </a:solidFill>
                <a:latin typeface="SimHei" pitchFamily="49" charset="-122"/>
                <a:ea typeface="SimHei" pitchFamily="49" charset="-122"/>
              </a:rPr>
              <a:t>筆土地，面積</a:t>
            </a:r>
            <a:r>
              <a:rPr lang="en-US" altLang="zh-TW" sz="2400" b="1" kern="0" dirty="0" smtClean="0">
                <a:solidFill>
                  <a:srgbClr val="000099"/>
                </a:solidFill>
                <a:latin typeface="SimHei" pitchFamily="49" charset="-122"/>
                <a:ea typeface="SimHei" pitchFamily="49" charset="-122"/>
              </a:rPr>
              <a:t>:0.1525</a:t>
            </a:r>
            <a:r>
              <a:rPr lang="zh-TW" altLang="en-US" sz="2400" b="1" kern="0" dirty="0" smtClean="0">
                <a:solidFill>
                  <a:srgbClr val="000099"/>
                </a:solidFill>
                <a:latin typeface="SimHei" pitchFamily="49" charset="-122"/>
                <a:ea typeface="SimHei" pitchFamily="49" charset="-122"/>
              </a:rPr>
              <a:t>公頃。</a:t>
            </a:r>
            <a:endParaRPr lang="en-US" altLang="zh-TW" sz="2400" b="1" kern="0" baseline="30000" dirty="0" smtClean="0">
              <a:solidFill>
                <a:srgbClr val="000099"/>
              </a:solidFill>
              <a:latin typeface="SimHei" pitchFamily="49" charset="-122"/>
              <a:ea typeface="SimHei" pitchFamily="49" charset="-122"/>
            </a:endParaRPr>
          </a:p>
          <a:p>
            <a:pPr marL="441325" indent="-441325"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TW" sz="2800" b="1" kern="0" dirty="0" smtClean="0">
                <a:solidFill>
                  <a:srgbClr val="A50021"/>
                </a:solidFill>
                <a:latin typeface="SimHei" pitchFamily="49" charset="-122"/>
                <a:ea typeface="SimHei" pitchFamily="49" charset="-122"/>
              </a:rPr>
              <a:t>4.</a:t>
            </a:r>
            <a:r>
              <a:rPr lang="zh-TW" altLang="en-US" sz="2800" b="1" kern="0" dirty="0" smtClean="0">
                <a:solidFill>
                  <a:srgbClr val="A50021"/>
                </a:solidFill>
                <a:latin typeface="SimHei" pitchFamily="49" charset="-122"/>
                <a:ea typeface="SimHei" pitchFamily="49" charset="-122"/>
              </a:rPr>
              <a:t>辦理協議價購情形：</a:t>
            </a:r>
            <a:endParaRPr lang="en-US" altLang="zh-TW" sz="2800" b="1" kern="0" dirty="0" smtClean="0">
              <a:solidFill>
                <a:srgbClr val="A50021"/>
              </a:solidFill>
              <a:latin typeface="SimHei" pitchFamily="49" charset="-122"/>
              <a:ea typeface="SimHei" pitchFamily="49" charset="-122"/>
            </a:endParaRPr>
          </a:p>
          <a:p>
            <a:pPr marL="361950" indent="0"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zh-TW" altLang="en-US" sz="2400" b="1" kern="0" dirty="0" smtClean="0">
                <a:solidFill>
                  <a:srgbClr val="000099"/>
                </a:solidFill>
                <a:latin typeface="SimHei" pitchFamily="49" charset="-122"/>
                <a:ea typeface="SimHei" pitchFamily="49" charset="-122"/>
              </a:rPr>
              <a:t>協議價購會議日期：年月日</a:t>
            </a:r>
            <a:endParaRPr lang="en-US" altLang="zh-TW" sz="2400" b="1" kern="0" dirty="0" smtClean="0">
              <a:solidFill>
                <a:srgbClr val="000099"/>
              </a:solidFill>
              <a:latin typeface="SimHei" pitchFamily="49" charset="-122"/>
              <a:ea typeface="SimHei" pitchFamily="49" charset="-122"/>
            </a:endParaRPr>
          </a:p>
          <a:p>
            <a:pPr marL="361950" indent="0"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zh-TW" altLang="en-US" sz="2400" b="1" kern="0" dirty="0" smtClean="0">
                <a:solidFill>
                  <a:srgbClr val="000099"/>
                </a:solidFill>
                <a:latin typeface="SimHei" pitchFamily="49" charset="-122"/>
                <a:ea typeface="SimHei" pitchFamily="49" charset="-122"/>
              </a:rPr>
              <a:t>同意價購面積比例：</a:t>
            </a:r>
            <a:r>
              <a:rPr lang="en-US" altLang="zh-TW" sz="2400" b="1" kern="0" dirty="0" smtClean="0">
                <a:solidFill>
                  <a:srgbClr val="000099"/>
                </a:solidFill>
                <a:latin typeface="SimHei" pitchFamily="49" charset="-122"/>
                <a:ea typeface="SimHei" pitchFamily="49" charset="-122"/>
              </a:rPr>
              <a:t>%</a:t>
            </a:r>
          </a:p>
          <a:p>
            <a:pPr marL="361950" indent="0"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zh-TW" altLang="en-US" sz="2400" b="1" kern="0" dirty="0" smtClean="0">
                <a:solidFill>
                  <a:srgbClr val="000099"/>
                </a:solidFill>
                <a:latin typeface="SimHei" pitchFamily="49" charset="-122"/>
                <a:ea typeface="SimHei" pitchFamily="49" charset="-122"/>
              </a:rPr>
              <a:t>協議價購單價：</a:t>
            </a:r>
            <a:r>
              <a:rPr lang="en-US" altLang="zh-TW" sz="2400" b="1" kern="0" dirty="0" smtClean="0">
                <a:solidFill>
                  <a:srgbClr val="FF0000"/>
                </a:solidFill>
                <a:latin typeface="SimHei" pitchFamily="49" charset="-122"/>
                <a:ea typeface="SimHei" pitchFamily="49" charset="-122"/>
              </a:rPr>
              <a:t>~</a:t>
            </a:r>
            <a:r>
              <a:rPr lang="zh-TW" altLang="en-US" sz="2400" b="1" kern="0" dirty="0" smtClean="0">
                <a:solidFill>
                  <a:srgbClr val="FF0000"/>
                </a:solidFill>
                <a:latin typeface="SimHei" pitchFamily="49" charset="-122"/>
                <a:ea typeface="SimHei" pitchFamily="49" charset="-122"/>
              </a:rPr>
              <a:t>元</a:t>
            </a:r>
            <a:r>
              <a:rPr lang="en-US" altLang="zh-TW" sz="2400" b="1" kern="0" dirty="0" smtClean="0">
                <a:solidFill>
                  <a:srgbClr val="FF0000"/>
                </a:solidFill>
                <a:latin typeface="SimHei" pitchFamily="49" charset="-122"/>
                <a:ea typeface="SimHei" pitchFamily="49" charset="-122"/>
              </a:rPr>
              <a:t>/m</a:t>
            </a:r>
            <a:r>
              <a:rPr lang="en-US" altLang="zh-TW" sz="2400" b="1" kern="0" baseline="30000" dirty="0" smtClean="0">
                <a:solidFill>
                  <a:srgbClr val="FF0000"/>
                </a:solidFill>
                <a:latin typeface="SimHei" pitchFamily="49" charset="-122"/>
                <a:ea typeface="SimHei" pitchFamily="49" charset="-122"/>
              </a:rPr>
              <a:t>2</a:t>
            </a:r>
            <a:r>
              <a:rPr lang="zh-TW" altLang="en-US" sz="2400" b="1" kern="0" dirty="0" smtClean="0">
                <a:solidFill>
                  <a:srgbClr val="FF0000"/>
                </a:solidFill>
                <a:latin typeface="SimHei" pitchFamily="49" charset="-122"/>
                <a:ea typeface="SimHei" pitchFamily="49" charset="-122"/>
              </a:rPr>
              <a:t> </a:t>
            </a:r>
            <a:endParaRPr lang="en-US" altLang="zh-TW" sz="2400" b="1" kern="0" dirty="0" smtClean="0">
              <a:solidFill>
                <a:srgbClr val="000099"/>
              </a:solidFill>
              <a:latin typeface="SimHei" pitchFamily="49" charset="-122"/>
              <a:ea typeface="SimHei" pitchFamily="49" charset="-122"/>
            </a:endParaRPr>
          </a:p>
          <a:p>
            <a:pPr marL="441325" indent="-441325"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zh-TW" altLang="en-US" sz="2800" b="1" kern="0" dirty="0" smtClean="0">
                <a:solidFill>
                  <a:srgbClr val="0000FF"/>
                </a:solidFill>
              </a:rPr>
              <a:t>   </a:t>
            </a:r>
          </a:p>
        </p:txBody>
      </p:sp>
      <p:sp>
        <p:nvSpPr>
          <p:cNvPr id="18434" name="投影片編號版面配置區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fld id="{A853C6A5-E8FF-49F2-8BBA-CAA5F08424B4}" type="slidenum">
              <a:rPr kumimoji="0" lang="en-US" altLang="zh-TW" sz="1200">
                <a:latin typeface="Garamond" pitchFamily="18" charset="0"/>
                <a:ea typeface="新細明體" charset="-120"/>
              </a:rPr>
              <a:pPr/>
              <a:t>2</a:t>
            </a:fld>
            <a:endParaRPr kumimoji="0" lang="en-US" altLang="zh-TW" sz="1200">
              <a:latin typeface="Garamond" pitchFamily="18" charset="0"/>
              <a:ea typeface="新細明體" charset="-12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395288" y="260350"/>
            <a:ext cx="8075612" cy="7191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3000" b="1" kern="0" dirty="0" smtClean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壹、預定徵收地區基本資料說明</a:t>
            </a:r>
            <a:endParaRPr lang="en-US" altLang="zh-TW" sz="3000" b="1" kern="0" dirty="0" smtClean="0">
              <a:solidFill>
                <a:srgbClr val="000066"/>
              </a:solidFill>
              <a:latin typeface="SimHei" pitchFamily="49" charset="-122"/>
              <a:ea typeface="SimHei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77521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FE26C2A3-1AC3-40ED-B84B-8F313058290D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95288" y="260350"/>
            <a:ext cx="8075612" cy="57636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3000" b="1" dirty="0" smtClean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壹、預定徵收地區基本資料說明</a:t>
            </a:r>
            <a:endParaRPr lang="en-US" altLang="zh-TW" sz="3000" b="1" dirty="0" smtClean="0">
              <a:solidFill>
                <a:srgbClr val="000066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4441" y="988707"/>
            <a:ext cx="8235525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defRPr/>
            </a:pPr>
            <a:r>
              <a:rPr lang="zh-TW" altLang="en-US" sz="17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本案徵收用地位於臺南市新化區全興里區道南</a:t>
            </a:r>
            <a:r>
              <a:rPr lang="en-US" altLang="zh-TW" sz="17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170</a:t>
            </a:r>
            <a:r>
              <a:rPr lang="zh-TW" altLang="en-US" sz="17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線外環道路，道路路線東起南</a:t>
            </a:r>
            <a:r>
              <a:rPr lang="en-US" altLang="zh-TW" sz="17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170</a:t>
            </a:r>
            <a:r>
              <a:rPr lang="zh-TW" altLang="en-US" sz="17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線</a:t>
            </a:r>
            <a:r>
              <a:rPr lang="en-US" altLang="zh-TW" sz="17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0K+000</a:t>
            </a:r>
            <a:r>
              <a:rPr lang="zh-TW" altLang="en-US" sz="17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，往西至南</a:t>
            </a:r>
            <a:r>
              <a:rPr lang="en-US" altLang="zh-TW" sz="17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170</a:t>
            </a:r>
            <a:r>
              <a:rPr lang="zh-TW" altLang="en-US" sz="17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線</a:t>
            </a:r>
            <a:r>
              <a:rPr lang="en-US" altLang="zh-TW" sz="17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0K+140</a:t>
            </a:r>
            <a:r>
              <a:rPr lang="zh-TW" altLang="en-US" sz="17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，工程長度約</a:t>
            </a:r>
            <a:r>
              <a:rPr lang="en-US" altLang="zh-TW" sz="17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140</a:t>
            </a:r>
            <a:r>
              <a:rPr lang="zh-TW" altLang="en-US" sz="17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公尺，工程長度約</a:t>
            </a:r>
            <a:r>
              <a:rPr lang="en-US" altLang="zh-TW" sz="17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140</a:t>
            </a:r>
            <a:r>
              <a:rPr lang="zh-TW" altLang="en-US" sz="17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公尺，預計開闢路寬</a:t>
            </a:r>
            <a:r>
              <a:rPr lang="en-US" altLang="zh-TW" sz="17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18</a:t>
            </a:r>
            <a:r>
              <a:rPr lang="zh-TW" altLang="en-US" sz="17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公尺。</a:t>
            </a:r>
          </a:p>
        </p:txBody>
      </p:sp>
      <p:pic>
        <p:nvPicPr>
          <p:cNvPr id="9" name="圖片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20651" y="2636912"/>
            <a:ext cx="9217025" cy="356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手繪多邊形 9"/>
          <p:cNvSpPr/>
          <p:nvPr/>
        </p:nvSpPr>
        <p:spPr>
          <a:xfrm>
            <a:off x="1063255" y="3827720"/>
            <a:ext cx="903767" cy="818707"/>
          </a:xfrm>
          <a:custGeom>
            <a:avLst/>
            <a:gdLst>
              <a:gd name="connsiteX0" fmla="*/ 0 w 903767"/>
              <a:gd name="connsiteY0" fmla="*/ 0 h 818707"/>
              <a:gd name="connsiteX1" fmla="*/ 287079 w 903767"/>
              <a:gd name="connsiteY1" fmla="*/ 191386 h 818707"/>
              <a:gd name="connsiteX2" fmla="*/ 520995 w 903767"/>
              <a:gd name="connsiteY2" fmla="*/ 382772 h 818707"/>
              <a:gd name="connsiteX3" fmla="*/ 903767 w 903767"/>
              <a:gd name="connsiteY3" fmla="*/ 818707 h 818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3767" h="818707">
                <a:moveTo>
                  <a:pt x="0" y="0"/>
                </a:moveTo>
                <a:lnTo>
                  <a:pt x="287079" y="191386"/>
                </a:lnTo>
                <a:lnTo>
                  <a:pt x="520995" y="382772"/>
                </a:lnTo>
                <a:lnTo>
                  <a:pt x="903767" y="818707"/>
                </a:lnTo>
              </a:path>
            </a:pathLst>
          </a:cu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圖說文字 45"/>
          <p:cNvSpPr/>
          <p:nvPr/>
        </p:nvSpPr>
        <p:spPr>
          <a:xfrm>
            <a:off x="-2052736" y="2276872"/>
            <a:ext cx="1944216" cy="2860285"/>
          </a:xfrm>
          <a:prstGeom prst="wedgeRectCallout">
            <a:avLst>
              <a:gd name="adj1" fmla="val 137992"/>
              <a:gd name="adj2" fmla="val 23543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 smtClean="0"/>
              <a:t>1.</a:t>
            </a:r>
            <a:r>
              <a:rPr lang="zh-TW" altLang="en-US" dirty="0" smtClean="0"/>
              <a:t>用地範圍動畫閃爍以利判斷</a:t>
            </a:r>
            <a:endParaRPr lang="en-US" altLang="zh-TW" dirty="0" smtClean="0"/>
          </a:p>
          <a:p>
            <a:r>
              <a:rPr lang="en-US" altLang="zh-TW" dirty="0"/>
              <a:t>2.</a:t>
            </a:r>
            <a:r>
              <a:rPr lang="zh-TW" altLang="en-US" dirty="0"/>
              <a:t>範圍線請以</a:t>
            </a:r>
            <a:r>
              <a:rPr lang="zh-TW" altLang="en-US" b="1" u="sng" dirty="0"/>
              <a:t>非紅色</a:t>
            </a:r>
            <a:r>
              <a:rPr lang="zh-TW" altLang="en-US" dirty="0" smtClean="0"/>
              <a:t>表示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649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7A2B8584-FAD0-45FC-851A-6D63C402077F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395288" y="260350"/>
            <a:ext cx="8075612" cy="57636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3000" b="1" dirty="0" smtClean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壹、預定徵收地區基本資料說明</a:t>
            </a:r>
            <a:endParaRPr lang="en-US" altLang="zh-TW" sz="3000" b="1" dirty="0" smtClean="0">
              <a:solidFill>
                <a:srgbClr val="000066"/>
              </a:solidFill>
              <a:latin typeface="SimHei" pitchFamily="49" charset="-122"/>
              <a:ea typeface="SimHei" pitchFamily="49" charset="-122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94133" y="1556792"/>
            <a:ext cx="8210550" cy="4671982"/>
          </a:xfrm>
          <a:prstGeom prst="rect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標題 1"/>
          <p:cNvSpPr txBox="1">
            <a:spLocks/>
          </p:cNvSpPr>
          <p:nvPr/>
        </p:nvSpPr>
        <p:spPr>
          <a:xfrm>
            <a:off x="389370" y="979488"/>
            <a:ext cx="8234362" cy="541297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99"/>
            </a:solidFill>
          </a:ln>
        </p:spPr>
        <p:txBody>
          <a:bodyPr anchor="ctr"/>
          <a:lstStyle/>
          <a:p>
            <a:pPr algn="dist">
              <a:defRPr/>
            </a:pPr>
            <a:r>
              <a:rPr lang="zh-TW" altLang="en-US" sz="2400" b="1" kern="0" dirty="0">
                <a:solidFill>
                  <a:srgbClr val="1B00C0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徵收用地土地使用分區示意圖</a:t>
            </a:r>
          </a:p>
        </p:txBody>
      </p:sp>
      <p:sp>
        <p:nvSpPr>
          <p:cNvPr id="15" name="手繪多邊形 14"/>
          <p:cNvSpPr/>
          <p:nvPr/>
        </p:nvSpPr>
        <p:spPr bwMode="auto">
          <a:xfrm>
            <a:off x="4072370" y="4191894"/>
            <a:ext cx="868363" cy="698900"/>
          </a:xfrm>
          <a:custGeom>
            <a:avLst/>
            <a:gdLst>
              <a:gd name="connsiteX0" fmla="*/ 0 w 804863"/>
              <a:gd name="connsiteY0" fmla="*/ 123825 h 676275"/>
              <a:gd name="connsiteX1" fmla="*/ 533400 w 804863"/>
              <a:gd name="connsiteY1" fmla="*/ 552450 h 676275"/>
              <a:gd name="connsiteX2" fmla="*/ 676275 w 804863"/>
              <a:gd name="connsiteY2" fmla="*/ 676275 h 676275"/>
              <a:gd name="connsiteX3" fmla="*/ 804863 w 804863"/>
              <a:gd name="connsiteY3" fmla="*/ 523875 h 676275"/>
              <a:gd name="connsiteX4" fmla="*/ 123825 w 804863"/>
              <a:gd name="connsiteY4" fmla="*/ 0 h 676275"/>
              <a:gd name="connsiteX5" fmla="*/ 0 w 804863"/>
              <a:gd name="connsiteY5" fmla="*/ 123825 h 676275"/>
              <a:gd name="connsiteX0" fmla="*/ 0 w 804863"/>
              <a:gd name="connsiteY0" fmla="*/ 138112 h 690562"/>
              <a:gd name="connsiteX1" fmla="*/ 533400 w 804863"/>
              <a:gd name="connsiteY1" fmla="*/ 566737 h 690562"/>
              <a:gd name="connsiteX2" fmla="*/ 676275 w 804863"/>
              <a:gd name="connsiteY2" fmla="*/ 690562 h 690562"/>
              <a:gd name="connsiteX3" fmla="*/ 804863 w 804863"/>
              <a:gd name="connsiteY3" fmla="*/ 538162 h 690562"/>
              <a:gd name="connsiteX4" fmla="*/ 114300 w 804863"/>
              <a:gd name="connsiteY4" fmla="*/ 0 h 690562"/>
              <a:gd name="connsiteX5" fmla="*/ 0 w 804863"/>
              <a:gd name="connsiteY5" fmla="*/ 138112 h 690562"/>
              <a:gd name="connsiteX0" fmla="*/ 0 w 868363"/>
              <a:gd name="connsiteY0" fmla="*/ 138112 h 690562"/>
              <a:gd name="connsiteX1" fmla="*/ 533400 w 868363"/>
              <a:gd name="connsiteY1" fmla="*/ 566737 h 690562"/>
              <a:gd name="connsiteX2" fmla="*/ 676275 w 868363"/>
              <a:gd name="connsiteY2" fmla="*/ 690562 h 690562"/>
              <a:gd name="connsiteX3" fmla="*/ 868363 w 868363"/>
              <a:gd name="connsiteY3" fmla="*/ 623887 h 690562"/>
              <a:gd name="connsiteX4" fmla="*/ 114300 w 868363"/>
              <a:gd name="connsiteY4" fmla="*/ 0 h 690562"/>
              <a:gd name="connsiteX5" fmla="*/ 0 w 868363"/>
              <a:gd name="connsiteY5" fmla="*/ 138112 h 690562"/>
              <a:gd name="connsiteX0" fmla="*/ 0 w 868363"/>
              <a:gd name="connsiteY0" fmla="*/ 138112 h 735012"/>
              <a:gd name="connsiteX1" fmla="*/ 533400 w 868363"/>
              <a:gd name="connsiteY1" fmla="*/ 566737 h 735012"/>
              <a:gd name="connsiteX2" fmla="*/ 787400 w 868363"/>
              <a:gd name="connsiteY2" fmla="*/ 735012 h 735012"/>
              <a:gd name="connsiteX3" fmla="*/ 868363 w 868363"/>
              <a:gd name="connsiteY3" fmla="*/ 623887 h 735012"/>
              <a:gd name="connsiteX4" fmla="*/ 114300 w 868363"/>
              <a:gd name="connsiteY4" fmla="*/ 0 h 735012"/>
              <a:gd name="connsiteX5" fmla="*/ 0 w 868363"/>
              <a:gd name="connsiteY5" fmla="*/ 138112 h 735012"/>
              <a:gd name="connsiteX0" fmla="*/ 0 w 868363"/>
              <a:gd name="connsiteY0" fmla="*/ 138112 h 757237"/>
              <a:gd name="connsiteX1" fmla="*/ 533400 w 868363"/>
              <a:gd name="connsiteY1" fmla="*/ 566737 h 757237"/>
              <a:gd name="connsiteX2" fmla="*/ 771525 w 868363"/>
              <a:gd name="connsiteY2" fmla="*/ 757237 h 757237"/>
              <a:gd name="connsiteX3" fmla="*/ 868363 w 868363"/>
              <a:gd name="connsiteY3" fmla="*/ 623887 h 757237"/>
              <a:gd name="connsiteX4" fmla="*/ 114300 w 868363"/>
              <a:gd name="connsiteY4" fmla="*/ 0 h 757237"/>
              <a:gd name="connsiteX5" fmla="*/ 0 w 868363"/>
              <a:gd name="connsiteY5" fmla="*/ 138112 h 757237"/>
              <a:gd name="connsiteX0" fmla="*/ 0 w 868363"/>
              <a:gd name="connsiteY0" fmla="*/ 115887 h 757237"/>
              <a:gd name="connsiteX1" fmla="*/ 533400 w 868363"/>
              <a:gd name="connsiteY1" fmla="*/ 566737 h 757237"/>
              <a:gd name="connsiteX2" fmla="*/ 771525 w 868363"/>
              <a:gd name="connsiteY2" fmla="*/ 757237 h 757237"/>
              <a:gd name="connsiteX3" fmla="*/ 868363 w 868363"/>
              <a:gd name="connsiteY3" fmla="*/ 623887 h 757237"/>
              <a:gd name="connsiteX4" fmla="*/ 114300 w 868363"/>
              <a:gd name="connsiteY4" fmla="*/ 0 h 757237"/>
              <a:gd name="connsiteX5" fmla="*/ 0 w 868363"/>
              <a:gd name="connsiteY5" fmla="*/ 115887 h 757237"/>
              <a:gd name="connsiteX0" fmla="*/ 0 w 868363"/>
              <a:gd name="connsiteY0" fmla="*/ 119062 h 760412"/>
              <a:gd name="connsiteX1" fmla="*/ 533400 w 868363"/>
              <a:gd name="connsiteY1" fmla="*/ 569912 h 760412"/>
              <a:gd name="connsiteX2" fmla="*/ 771525 w 868363"/>
              <a:gd name="connsiteY2" fmla="*/ 760412 h 760412"/>
              <a:gd name="connsiteX3" fmla="*/ 868363 w 868363"/>
              <a:gd name="connsiteY3" fmla="*/ 627062 h 760412"/>
              <a:gd name="connsiteX4" fmla="*/ 101600 w 868363"/>
              <a:gd name="connsiteY4" fmla="*/ 0 h 760412"/>
              <a:gd name="connsiteX5" fmla="*/ 0 w 868363"/>
              <a:gd name="connsiteY5" fmla="*/ 119062 h 760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363" h="760412">
                <a:moveTo>
                  <a:pt x="0" y="119062"/>
                </a:moveTo>
                <a:lnTo>
                  <a:pt x="533400" y="569912"/>
                </a:lnTo>
                <a:lnTo>
                  <a:pt x="771525" y="760412"/>
                </a:lnTo>
                <a:lnTo>
                  <a:pt x="868363" y="627062"/>
                </a:lnTo>
                <a:lnTo>
                  <a:pt x="101600" y="0"/>
                </a:lnTo>
                <a:lnTo>
                  <a:pt x="0" y="119062"/>
                </a:lnTo>
                <a:close/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6" name="圓角矩形圖說文字 15"/>
          <p:cNvSpPr/>
          <p:nvPr/>
        </p:nvSpPr>
        <p:spPr bwMode="auto">
          <a:xfrm>
            <a:off x="3008745" y="4724460"/>
            <a:ext cx="1293813" cy="331212"/>
          </a:xfrm>
          <a:prstGeom prst="wedgeRoundRectCallout">
            <a:avLst>
              <a:gd name="adj1" fmla="val 44966"/>
              <a:gd name="adj2" fmla="val -15820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TW" altLang="en-US" sz="1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工程</a:t>
            </a:r>
            <a:r>
              <a:rPr lang="zh-TW" altLang="en-US" sz="14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用地範圍</a:t>
            </a:r>
            <a:endParaRPr lang="en-US" altLang="zh-TW" sz="1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7" name="矩形圖說文字 16"/>
          <p:cNvSpPr/>
          <p:nvPr/>
        </p:nvSpPr>
        <p:spPr>
          <a:xfrm>
            <a:off x="6374368" y="1720882"/>
            <a:ext cx="1944216" cy="2736304"/>
          </a:xfrm>
          <a:prstGeom prst="wedgeRectCallout">
            <a:avLst>
              <a:gd name="adj1" fmla="val -145125"/>
              <a:gd name="adj2" fmla="val 48566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 smtClean="0"/>
              <a:t>1.</a:t>
            </a:r>
            <a:r>
              <a:rPr lang="zh-TW" altLang="en-US" dirty="0" smtClean="0"/>
              <a:t>用地範圍動畫閃爍以利判斷</a:t>
            </a:r>
            <a:endParaRPr lang="en-US" altLang="zh-TW" dirty="0" smtClean="0"/>
          </a:p>
          <a:p>
            <a:r>
              <a:rPr lang="en-US" altLang="zh-TW" dirty="0" smtClean="0"/>
              <a:t>2.</a:t>
            </a:r>
            <a:r>
              <a:rPr lang="en-US" altLang="zh-TW" dirty="0"/>
              <a:t> </a:t>
            </a:r>
            <a:r>
              <a:rPr lang="zh-TW" altLang="en-US" dirty="0" smtClean="0"/>
              <a:t>範圍</a:t>
            </a:r>
            <a:r>
              <a:rPr lang="zh-TW" altLang="en-US" dirty="0"/>
              <a:t>線請以</a:t>
            </a:r>
            <a:r>
              <a:rPr lang="zh-TW" altLang="en-US" b="1" u="sng" dirty="0"/>
              <a:t>非</a:t>
            </a:r>
            <a:r>
              <a:rPr lang="zh-TW" altLang="en-US" b="1" u="sng" dirty="0" smtClean="0"/>
              <a:t>紅色</a:t>
            </a:r>
            <a:r>
              <a:rPr lang="zh-TW" altLang="en-US" dirty="0" smtClean="0"/>
              <a:t>表示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829584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編號版面配置區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fld id="{FB6209C7-FD1D-4413-85E6-EFBA7F6971BE}" type="slidenum">
              <a:rPr kumimoji="0" lang="en-US" altLang="zh-TW" sz="1200">
                <a:latin typeface="Garamond" pitchFamily="18" charset="0"/>
                <a:ea typeface="新細明體" charset="-120"/>
              </a:rPr>
              <a:pPr/>
              <a:t>5</a:t>
            </a:fld>
            <a:endParaRPr kumimoji="0" lang="en-US" altLang="zh-TW" sz="1200">
              <a:latin typeface="Garamond" pitchFamily="18" charset="0"/>
              <a:ea typeface="新細明體" charset="-12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5288" y="260648"/>
            <a:ext cx="8075613" cy="719138"/>
          </a:xfrm>
        </p:spPr>
        <p:txBody>
          <a:bodyPr/>
          <a:lstStyle/>
          <a:p>
            <a:pPr eaLnBrk="1" hangingPunct="1"/>
            <a:r>
              <a:rPr lang="zh-TW" altLang="en-US" sz="3000" b="1" dirty="0" smtClean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貳、預定徵收地區市價查估作業情形</a:t>
            </a:r>
            <a:endParaRPr lang="en-US" altLang="zh-TW" sz="3000" b="1" dirty="0" smtClean="0">
              <a:solidFill>
                <a:srgbClr val="000066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1" name="矩形圖說文字 10"/>
          <p:cNvSpPr/>
          <p:nvPr/>
        </p:nvSpPr>
        <p:spPr>
          <a:xfrm>
            <a:off x="-2858544" y="3356991"/>
            <a:ext cx="2858544" cy="1728193"/>
          </a:xfrm>
          <a:prstGeom prst="wedgeRectCallout">
            <a:avLst>
              <a:gd name="adj1" fmla="val 72324"/>
              <a:gd name="adj2" fmla="val -4644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dirty="0"/>
              <a:t>本簡報中，表格標頭底色，綠色為徵收範圍區段，紅色為徵收範圍估計比準地及宗地市價時之表示欄位，藍色為買賣實例。</a:t>
            </a:r>
            <a:endParaRPr lang="zh-TW" altLang="en-US" dirty="0"/>
          </a:p>
        </p:txBody>
      </p:sp>
      <p:graphicFrame>
        <p:nvGraphicFramePr>
          <p:cNvPr id="8" name="Group 4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1916842"/>
              </p:ext>
            </p:extLst>
          </p:nvPr>
        </p:nvGraphicFramePr>
        <p:xfrm>
          <a:off x="683568" y="3052992"/>
          <a:ext cx="7991921" cy="3256328"/>
        </p:xfrm>
        <a:graphic>
          <a:graphicData uri="http://schemas.openxmlformats.org/drawingml/2006/table">
            <a:tbl>
              <a:tblPr/>
              <a:tblGrid>
                <a:gridCol w="1489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imHei" pitchFamily="49" charset="-122"/>
                          <a:ea typeface="SimHei" pitchFamily="49" charset="-122"/>
                        </a:rPr>
                        <a:t>地價區段</a:t>
                      </a:r>
                    </a:p>
                  </a:txBody>
                  <a:tcPr marT="45500" marB="455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5742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imHei" pitchFamily="49" charset="-122"/>
                          <a:ea typeface="SimHei" pitchFamily="49" charset="-122"/>
                        </a:rPr>
                        <a:t>分區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imHei" pitchFamily="49" charset="-122"/>
                          <a:ea typeface="SimHei" pitchFamily="49" charset="-122"/>
                        </a:rPr>
                        <a:t>/</a:t>
                      </a:r>
                      <a:r>
                        <a:rPr kumimoji="1" lang="zh-TW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imHei" pitchFamily="49" charset="-122"/>
                          <a:ea typeface="SimHei" pitchFamily="49" charset="-122"/>
                        </a:rPr>
                        <a:t>用地</a:t>
                      </a:r>
                    </a:p>
                  </a:txBody>
                  <a:tcPr marT="45500" marB="455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5742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imHei" pitchFamily="49" charset="-122"/>
                          <a:ea typeface="SimHei" pitchFamily="49" charset="-122"/>
                        </a:rPr>
                        <a:t>區段範圍說明</a:t>
                      </a:r>
                    </a:p>
                  </a:txBody>
                  <a:tcPr marT="45500" marB="455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574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3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SimHei" pitchFamily="49" charset="-122"/>
                          <a:ea typeface="SimHei" pitchFamily="49" charset="-122"/>
                        </a:rPr>
                        <a:t>P101-00</a:t>
                      </a:r>
                      <a:endParaRPr kumimoji="0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SimHei" pitchFamily="49" charset="-122"/>
                        <a:ea typeface="新細明體" pitchFamily="18" charset="-120"/>
                      </a:endParaRPr>
                    </a:p>
                  </a:txBody>
                  <a:tcPr marT="45500" marB="455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SimHei" pitchFamily="49" charset="-122"/>
                          <a:ea typeface="SimHei" pitchFamily="49" charset="-122"/>
                        </a:rPr>
                        <a:t>特定農業區農牧用地</a:t>
                      </a:r>
                    </a:p>
                  </a:txBody>
                  <a:tcPr marT="45500" marB="455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zh-TW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SimHei" pitchFamily="49" charset="-122"/>
                          <a:ea typeface="SimHei" pitchFamily="49" charset="-122"/>
                        </a:rPr>
                        <a:t>臨區道南</a:t>
                      </a:r>
                      <a:r>
                        <a:rPr kumimoji="1" lang="en-US" altLang="zh-TW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SimHei" pitchFamily="49" charset="-122"/>
                          <a:ea typeface="SimHei" pitchFamily="49" charset="-122"/>
                        </a:rPr>
                        <a:t>170</a:t>
                      </a:r>
                      <a:r>
                        <a:rPr kumimoji="1" lang="zh-TW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SimHei" pitchFamily="49" charset="-122"/>
                          <a:ea typeface="SimHei" pitchFamily="49" charset="-122"/>
                        </a:rPr>
                        <a:t>線</a:t>
                      </a:r>
                      <a:r>
                        <a:rPr kumimoji="1" lang="en-US" altLang="zh-TW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SimHei" pitchFamily="49" charset="-122"/>
                          <a:ea typeface="SimHei" pitchFamily="49" charset="-122"/>
                        </a:rPr>
                        <a:t>(</a:t>
                      </a:r>
                      <a:r>
                        <a:rPr kumimoji="1" lang="zh-TW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SimHei" pitchFamily="49" charset="-122"/>
                          <a:ea typeface="SimHei" pitchFamily="49" charset="-122"/>
                        </a:rPr>
                        <a:t>嘉南大圳南幹線以西、大智路以東</a:t>
                      </a:r>
                      <a:r>
                        <a:rPr kumimoji="1" lang="en-US" altLang="zh-TW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SimHei" pitchFamily="49" charset="-122"/>
                          <a:ea typeface="SimHei" pitchFamily="49" charset="-122"/>
                        </a:rPr>
                        <a:t>)</a:t>
                      </a:r>
                      <a:r>
                        <a:rPr kumimoji="1" lang="zh-TW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SimHei" pitchFamily="49" charset="-122"/>
                          <a:ea typeface="SimHei" pitchFamily="49" charset="-122"/>
                        </a:rPr>
                        <a:t>兩側之特定農業區農牧用地土地。</a:t>
                      </a: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marT="45500" marB="455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3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SimHei" pitchFamily="49" charset="-122"/>
                        <a:ea typeface="新細明體" pitchFamily="18" charset="-120"/>
                      </a:endParaRPr>
                    </a:p>
                  </a:txBody>
                  <a:tcPr marT="45500" marB="455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marT="45500" marB="455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marT="45500" marB="455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3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SimHei" pitchFamily="49" charset="-122"/>
                        <a:ea typeface="新細明體" pitchFamily="18" charset="-120"/>
                      </a:endParaRPr>
                    </a:p>
                  </a:txBody>
                  <a:tcPr marT="45500" marB="455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marT="45500" marB="455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marT="45500" marB="455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3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SimHei" pitchFamily="49" charset="-122"/>
                        <a:ea typeface="新細明體" pitchFamily="18" charset="-120"/>
                      </a:endParaRPr>
                    </a:p>
                  </a:txBody>
                  <a:tcPr marT="45500" marB="455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marT="45500" marB="455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marT="45500" marB="455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95288" y="908720"/>
            <a:ext cx="8075612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503238" indent="-441325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6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TW" sz="2000" b="1" dirty="0" smtClean="0">
                <a:solidFill>
                  <a:srgbClr val="A50021"/>
                </a:solidFill>
                <a:latin typeface="SimHei" pitchFamily="49" charset="-122"/>
              </a:rPr>
              <a:t>1.</a:t>
            </a:r>
            <a:r>
              <a:rPr lang="zh-TW" altLang="en-US" sz="2000" b="1" dirty="0" smtClean="0">
                <a:solidFill>
                  <a:srgbClr val="A50021"/>
                </a:solidFill>
                <a:latin typeface="SimHei" pitchFamily="49" charset="-122"/>
              </a:rPr>
              <a:t>估價基準日：</a:t>
            </a:r>
            <a:r>
              <a:rPr lang="en-US" altLang="zh-TW" sz="2000" b="1" dirty="0" smtClean="0">
                <a:solidFill>
                  <a:srgbClr val="0000FF"/>
                </a:solidFill>
                <a:latin typeface="SimHei" pitchFamily="49" charset="-122"/>
              </a:rPr>
              <a:t>○○</a:t>
            </a:r>
            <a:r>
              <a:rPr lang="zh-TW" altLang="en-US" sz="2000" dirty="0" smtClean="0">
                <a:solidFill>
                  <a:srgbClr val="0000FF"/>
                </a:solidFill>
                <a:latin typeface="SimHei" panose="02010609060101010101" pitchFamily="49" charset="-122"/>
              </a:rPr>
              <a:t>年</a:t>
            </a:r>
            <a:r>
              <a:rPr lang="en-US" altLang="zh-TW" sz="2000" b="1" dirty="0">
                <a:solidFill>
                  <a:srgbClr val="0000FF"/>
                </a:solidFill>
                <a:latin typeface="SimHei" pitchFamily="49" charset="-122"/>
              </a:rPr>
              <a:t>○○</a:t>
            </a:r>
            <a:r>
              <a:rPr lang="zh-TW" altLang="en-US" sz="2000" dirty="0" smtClean="0">
                <a:solidFill>
                  <a:srgbClr val="0000FF"/>
                </a:solidFill>
                <a:latin typeface="SimHei" panose="02010609060101010101" pitchFamily="49" charset="-122"/>
              </a:rPr>
              <a:t>月</a:t>
            </a:r>
            <a:r>
              <a:rPr lang="en-US" altLang="zh-TW" sz="2000" b="1" dirty="0">
                <a:solidFill>
                  <a:srgbClr val="0000FF"/>
                </a:solidFill>
                <a:latin typeface="SimHei" pitchFamily="49" charset="-122"/>
              </a:rPr>
              <a:t>○○</a:t>
            </a:r>
            <a:r>
              <a:rPr lang="zh-TW" altLang="en-US" sz="2000" dirty="0" smtClean="0">
                <a:solidFill>
                  <a:srgbClr val="0000FF"/>
                </a:solidFill>
                <a:latin typeface="SimHei" panose="02010609060101010101" pitchFamily="49" charset="-122"/>
              </a:rPr>
              <a:t>日</a:t>
            </a:r>
            <a:endParaRPr lang="en-US" altLang="zh-TW" sz="2000" dirty="0">
              <a:solidFill>
                <a:srgbClr val="0000FF"/>
              </a:solidFill>
              <a:latin typeface="SimHei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ts val="6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TW" sz="2000" b="1" dirty="0" smtClean="0">
                <a:solidFill>
                  <a:srgbClr val="A50021"/>
                </a:solidFill>
                <a:latin typeface="SimHei" pitchFamily="49" charset="-122"/>
              </a:rPr>
              <a:t>2.</a:t>
            </a:r>
            <a:r>
              <a:rPr lang="zh-TW" altLang="en-US" sz="2000" b="1" dirty="0" smtClean="0">
                <a:solidFill>
                  <a:srgbClr val="A50021"/>
                </a:solidFill>
                <a:latin typeface="SimHei" pitchFamily="49" charset="-122"/>
              </a:rPr>
              <a:t>案例蒐集期間：</a:t>
            </a:r>
            <a:r>
              <a:rPr lang="en-US" altLang="zh-TW" sz="2000" b="1" dirty="0" smtClean="0">
                <a:solidFill>
                  <a:srgbClr val="0000FF"/>
                </a:solidFill>
                <a:latin typeface="SimHei" pitchFamily="49" charset="-122"/>
              </a:rPr>
              <a:t>○○</a:t>
            </a:r>
            <a:r>
              <a:rPr lang="en-US" altLang="zh-TW" sz="2000" dirty="0" smtClean="0">
                <a:solidFill>
                  <a:srgbClr val="0000FF"/>
                </a:solidFill>
                <a:latin typeface="SimHei" panose="02010609060101010101" pitchFamily="49" charset="-122"/>
              </a:rPr>
              <a:t>/</a:t>
            </a:r>
            <a:r>
              <a:rPr lang="en-US" altLang="zh-TW" sz="2000" b="1" dirty="0" smtClean="0">
                <a:solidFill>
                  <a:srgbClr val="0000FF"/>
                </a:solidFill>
                <a:latin typeface="SimHei" pitchFamily="49" charset="-122"/>
              </a:rPr>
              <a:t>○○</a:t>
            </a:r>
            <a:r>
              <a:rPr lang="en-US" altLang="zh-TW" sz="2000" dirty="0" smtClean="0">
                <a:solidFill>
                  <a:srgbClr val="0000FF"/>
                </a:solidFill>
                <a:latin typeface="SimHei" panose="02010609060101010101" pitchFamily="49" charset="-122"/>
              </a:rPr>
              <a:t>/</a:t>
            </a:r>
            <a:r>
              <a:rPr lang="en-US" altLang="zh-TW" sz="2000" b="1" dirty="0" smtClean="0">
                <a:solidFill>
                  <a:srgbClr val="0000FF"/>
                </a:solidFill>
                <a:latin typeface="SimHei" pitchFamily="49" charset="-122"/>
              </a:rPr>
              <a:t>○○</a:t>
            </a:r>
            <a:r>
              <a:rPr lang="en-US" altLang="zh-TW" sz="2000" dirty="0" smtClean="0">
                <a:solidFill>
                  <a:srgbClr val="0000FF"/>
                </a:solidFill>
                <a:latin typeface="SimHei" panose="02010609060101010101" pitchFamily="49" charset="-122"/>
              </a:rPr>
              <a:t>-</a:t>
            </a:r>
            <a:r>
              <a:rPr lang="en-US" altLang="zh-TW" sz="2000" b="1" dirty="0" smtClean="0">
                <a:solidFill>
                  <a:srgbClr val="0000FF"/>
                </a:solidFill>
                <a:latin typeface="SimHei" pitchFamily="49" charset="-122"/>
              </a:rPr>
              <a:t>○○</a:t>
            </a:r>
            <a:r>
              <a:rPr lang="en-US" altLang="zh-TW" sz="2000" dirty="0" smtClean="0">
                <a:solidFill>
                  <a:srgbClr val="0000FF"/>
                </a:solidFill>
                <a:latin typeface="SimHei" panose="02010609060101010101" pitchFamily="49" charset="-122"/>
              </a:rPr>
              <a:t>/</a:t>
            </a:r>
            <a:r>
              <a:rPr lang="en-US" altLang="zh-TW" sz="2000" b="1" dirty="0" smtClean="0">
                <a:solidFill>
                  <a:srgbClr val="0000FF"/>
                </a:solidFill>
                <a:latin typeface="SimHei" pitchFamily="49" charset="-122"/>
              </a:rPr>
              <a:t>○○</a:t>
            </a:r>
            <a:r>
              <a:rPr lang="en-US" altLang="zh-TW" sz="2000" dirty="0" smtClean="0">
                <a:solidFill>
                  <a:srgbClr val="0000FF"/>
                </a:solidFill>
                <a:latin typeface="SimHei" panose="02010609060101010101" pitchFamily="49" charset="-122"/>
              </a:rPr>
              <a:t>/</a:t>
            </a:r>
            <a:r>
              <a:rPr lang="en-US" altLang="zh-TW" sz="2000" b="1" dirty="0" smtClean="0">
                <a:solidFill>
                  <a:srgbClr val="0000FF"/>
                </a:solidFill>
                <a:latin typeface="SimHei" pitchFamily="49" charset="-122"/>
              </a:rPr>
              <a:t>○○</a:t>
            </a:r>
            <a:r>
              <a:rPr lang="en-US" altLang="zh-TW" sz="2000" dirty="0" smtClean="0">
                <a:solidFill>
                  <a:srgbClr val="0000FF"/>
                </a:solidFill>
                <a:latin typeface="SimHei" panose="02010609060101010101" pitchFamily="49" charset="-122"/>
              </a:rPr>
              <a:t>(</a:t>
            </a:r>
            <a:r>
              <a:rPr lang="zh-TW" altLang="en-US" sz="2000" u="sng" dirty="0" smtClean="0">
                <a:solidFill>
                  <a:srgbClr val="0000FF"/>
                </a:solidFill>
                <a:latin typeface="SimHei" panose="02010609060101010101" pitchFamily="49" charset="-122"/>
              </a:rPr>
              <a:t>放寬至</a:t>
            </a:r>
            <a:r>
              <a:rPr lang="en-US" altLang="zh-TW" sz="2000" u="sng" dirty="0" smtClean="0">
                <a:solidFill>
                  <a:srgbClr val="0000FF"/>
                </a:solidFill>
                <a:latin typeface="SimHei" panose="02010609060101010101" pitchFamily="49" charset="-122"/>
              </a:rPr>
              <a:t>1</a:t>
            </a:r>
            <a:r>
              <a:rPr lang="zh-TW" altLang="en-US" sz="2000" u="sng" dirty="0" smtClean="0">
                <a:solidFill>
                  <a:srgbClr val="0000FF"/>
                </a:solidFill>
                <a:latin typeface="SimHei" panose="02010609060101010101" pitchFamily="49" charset="-122"/>
              </a:rPr>
              <a:t>年</a:t>
            </a:r>
            <a:r>
              <a:rPr lang="en-US" altLang="zh-TW" sz="2000" dirty="0" smtClean="0">
                <a:solidFill>
                  <a:srgbClr val="0000FF"/>
                </a:solidFill>
                <a:latin typeface="SimHei" panose="02010609060101010101" pitchFamily="49" charset="-122"/>
              </a:rPr>
              <a:t>)</a:t>
            </a:r>
          </a:p>
          <a:p>
            <a:pPr marL="361950" indent="-300038" algn="just">
              <a:lnSpc>
                <a:spcPct val="125000"/>
              </a:lnSpc>
              <a:spcBef>
                <a:spcPts val="600"/>
              </a:spcBef>
              <a:buClr>
                <a:schemeClr val="accent1"/>
              </a:buClr>
              <a:buSzPct val="65000"/>
              <a:defRPr/>
            </a:pPr>
            <a:r>
              <a:rPr lang="en-US" altLang="zh-TW" sz="2000" b="1" dirty="0">
                <a:solidFill>
                  <a:srgbClr val="A50021"/>
                </a:solidFill>
                <a:latin typeface="SimHei" pitchFamily="49" charset="-122"/>
              </a:rPr>
              <a:t>3.</a:t>
            </a:r>
            <a:r>
              <a:rPr lang="zh-TW" altLang="en-US" sz="2000" b="1" dirty="0">
                <a:solidFill>
                  <a:srgbClr val="A50021"/>
                </a:solidFill>
                <a:latin typeface="SimHei" pitchFamily="49" charset="-122"/>
              </a:rPr>
              <a:t>地價區段劃分</a:t>
            </a:r>
            <a:r>
              <a:rPr lang="zh-TW" altLang="en-US" sz="2000" dirty="0" smtClean="0">
                <a:solidFill>
                  <a:srgbClr val="A50021"/>
                </a:solidFill>
                <a:latin typeface="SimHei" pitchFamily="49" charset="-122"/>
              </a:rPr>
              <a:t>：</a:t>
            </a:r>
            <a:r>
              <a:rPr lang="zh-TW" altLang="en-US" sz="2000" dirty="0">
                <a:solidFill>
                  <a:srgbClr val="0000FF"/>
                </a:solidFill>
                <a:latin typeface="SimHei" pitchFamily="49" charset="-122"/>
              </a:rPr>
              <a:t>依據土地徵收補償市價查估辦法第</a:t>
            </a:r>
            <a:r>
              <a:rPr lang="en-US" altLang="zh-TW" sz="2000" dirty="0">
                <a:solidFill>
                  <a:srgbClr val="0000FF"/>
                </a:solidFill>
                <a:latin typeface="SimHei" pitchFamily="49" charset="-122"/>
              </a:rPr>
              <a:t>10</a:t>
            </a:r>
            <a:r>
              <a:rPr lang="zh-TW" altLang="en-US" sz="2000" dirty="0">
                <a:solidFill>
                  <a:srgbClr val="0000FF"/>
                </a:solidFill>
                <a:latin typeface="SimHei" pitchFamily="49" charset="-122"/>
              </a:rPr>
              <a:t>條規定，考量地價相近、地段相連、情況相同或相近之土地劃屬同一地價區段，徵收範圍共劃分為</a:t>
            </a:r>
            <a:r>
              <a:rPr lang="en-US" altLang="zh-TW" sz="2000" dirty="0">
                <a:solidFill>
                  <a:srgbClr val="0000FF"/>
                </a:solidFill>
                <a:latin typeface="SimHei" pitchFamily="49" charset="-122"/>
              </a:rPr>
              <a:t>1</a:t>
            </a:r>
            <a:r>
              <a:rPr lang="zh-TW" altLang="en-US" sz="2000" dirty="0">
                <a:solidFill>
                  <a:srgbClr val="0000FF"/>
                </a:solidFill>
                <a:latin typeface="SimHei" pitchFamily="49" charset="-122"/>
              </a:rPr>
              <a:t>個地價區段</a:t>
            </a:r>
            <a:r>
              <a:rPr lang="zh-TW" altLang="en-US" sz="20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000" u="sng" dirty="0" smtClean="0">
              <a:solidFill>
                <a:srgbClr val="0000FF"/>
              </a:solidFill>
              <a:latin typeface="SimHei" pitchFamily="49" charset="-122"/>
            </a:endParaRPr>
          </a:p>
          <a:p>
            <a:pPr eaLnBrk="1" hangingPunct="1">
              <a:lnSpc>
                <a:spcPct val="95000"/>
              </a:lnSpc>
              <a:spcBef>
                <a:spcPts val="18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en-US" altLang="zh-TW" sz="2400" u="sng" dirty="0" smtClean="0">
              <a:solidFill>
                <a:srgbClr val="C00000"/>
              </a:solidFill>
              <a:latin typeface="SimHei" panose="02010609060101010101" pitchFamily="49" charset="-122"/>
            </a:endParaRPr>
          </a:p>
        </p:txBody>
      </p:sp>
      <p:sp>
        <p:nvSpPr>
          <p:cNvPr id="9" name="矩形圖說文字 8"/>
          <p:cNvSpPr/>
          <p:nvPr/>
        </p:nvSpPr>
        <p:spPr>
          <a:xfrm>
            <a:off x="9300002" y="2465622"/>
            <a:ext cx="1944216" cy="1872208"/>
          </a:xfrm>
          <a:prstGeom prst="wedgeRectCallout">
            <a:avLst>
              <a:gd name="adj1" fmla="val -89631"/>
              <a:gd name="adj2" fmla="val 40616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dirty="0" smtClean="0"/>
              <a:t>多餘列自行刪除，列不足時自行新增列或表格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850207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FE26C2A3-1AC3-40ED-B84B-8F313058290D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395288" y="260350"/>
            <a:ext cx="8075612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3000" b="1" smtClean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貳、預定徵收地區市價查估作業情形</a:t>
            </a:r>
            <a:endParaRPr lang="en-US" altLang="zh-TW" sz="3000" b="1" dirty="0" smtClean="0">
              <a:solidFill>
                <a:srgbClr val="000066"/>
              </a:solidFill>
              <a:latin typeface="SimHei" pitchFamily="49" charset="-122"/>
              <a:ea typeface="SimHei" pitchFamily="49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467698"/>
              </p:ext>
            </p:extLst>
          </p:nvPr>
        </p:nvGraphicFramePr>
        <p:xfrm>
          <a:off x="589434" y="1311379"/>
          <a:ext cx="1750318" cy="464095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50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3171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SimHei" pitchFamily="49" charset="-122"/>
                          <a:ea typeface="SimHei" pitchFamily="49" charset="-122"/>
                        </a:rPr>
                        <a:t>P101-00</a:t>
                      </a:r>
                      <a:endParaRPr lang="zh-TW" altLang="en-US" sz="20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2841">
                <a:tc>
                  <a:txBody>
                    <a:bodyPr/>
                    <a:lstStyle/>
                    <a:p>
                      <a:r>
                        <a:rPr lang="zh-TW" altLang="en-US" sz="2000" dirty="0" smtClean="0">
                          <a:latin typeface="SimHei" pitchFamily="49" charset="-122"/>
                          <a:ea typeface="SimHei" pitchFamily="49" charset="-122"/>
                        </a:rPr>
                        <a:t>劃分理由</a:t>
                      </a:r>
                      <a:r>
                        <a:rPr lang="en-US" altLang="zh-TW" sz="2000" dirty="0" smtClean="0">
                          <a:latin typeface="SimHei" pitchFamily="49" charset="-122"/>
                          <a:ea typeface="SimHei" pitchFamily="49" charset="-122"/>
                        </a:rPr>
                        <a:t>EXP</a:t>
                      </a:r>
                      <a:r>
                        <a:rPr lang="zh-TW" altLang="en-US" sz="2000" dirty="0" smtClean="0">
                          <a:latin typeface="SimHei" pitchFamily="49" charset="-122"/>
                          <a:ea typeface="SimHei" pitchFamily="49" charset="-122"/>
                        </a:rPr>
                        <a:t>：臨南</a:t>
                      </a:r>
                      <a:r>
                        <a:rPr lang="en-US" altLang="zh-TW" sz="2000" dirty="0" smtClean="0">
                          <a:latin typeface="SimHei" pitchFamily="49" charset="-122"/>
                          <a:ea typeface="SimHei" pitchFamily="49" charset="-122"/>
                        </a:rPr>
                        <a:t>170</a:t>
                      </a:r>
                      <a:r>
                        <a:rPr lang="zh-TW" altLang="en-US" sz="2000" dirty="0" smtClean="0">
                          <a:latin typeface="SimHei" pitchFamily="49" charset="-122"/>
                          <a:ea typeface="SimHei" pitchFamily="49" charset="-122"/>
                        </a:rPr>
                        <a:t>市道之特定農業區土地</a:t>
                      </a:r>
                      <a:endParaRPr lang="zh-TW" altLang="en-US" sz="20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4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kern="1200" dirty="0" smtClean="0">
                          <a:solidFill>
                            <a:schemeClr val="lt1"/>
                          </a:solidFill>
                          <a:latin typeface="SimHei" pitchFamily="49" charset="-122"/>
                          <a:ea typeface="SimHei" pitchFamily="49" charset="-122"/>
                          <a:cs typeface="+mn-cs"/>
                        </a:rPr>
                        <a:t>P102-00</a:t>
                      </a:r>
                      <a:endParaRPr lang="zh-TW" altLang="en-US" sz="2000" b="1" kern="1200" dirty="0">
                        <a:solidFill>
                          <a:schemeClr val="lt1"/>
                        </a:solidFill>
                        <a:latin typeface="SimHei" pitchFamily="49" charset="-122"/>
                        <a:ea typeface="SimHei" pitchFamily="49" charset="-122"/>
                        <a:cs typeface="+mn-cs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8518">
                <a:tc>
                  <a:txBody>
                    <a:bodyPr/>
                    <a:lstStyle/>
                    <a:p>
                      <a:r>
                        <a:rPr lang="zh-TW" altLang="en-US" sz="2000" dirty="0" smtClean="0">
                          <a:latin typeface="SimHei" pitchFamily="49" charset="-122"/>
                          <a:ea typeface="SimHei" pitchFamily="49" charset="-122"/>
                        </a:rPr>
                        <a:t>劃分理由</a:t>
                      </a:r>
                      <a:r>
                        <a:rPr lang="en-US" altLang="zh-TW" sz="2000" dirty="0" smtClean="0">
                          <a:latin typeface="SimHei" pitchFamily="49" charset="-122"/>
                          <a:ea typeface="SimHei" pitchFamily="49" charset="-122"/>
                        </a:rPr>
                        <a:t>EXP</a:t>
                      </a:r>
                      <a:r>
                        <a:rPr lang="zh-TW" altLang="en-US" sz="2000" dirty="0" smtClean="0">
                          <a:latin typeface="SimHei" pitchFamily="49" charset="-122"/>
                          <a:ea typeface="SimHei" pitchFamily="49" charset="-122"/>
                        </a:rPr>
                        <a:t>：未臨南</a:t>
                      </a:r>
                      <a:r>
                        <a:rPr lang="en-US" altLang="zh-TW" sz="2000" dirty="0" smtClean="0">
                          <a:latin typeface="SimHei" pitchFamily="49" charset="-122"/>
                          <a:ea typeface="SimHei" pitchFamily="49" charset="-122"/>
                        </a:rPr>
                        <a:t>170</a:t>
                      </a:r>
                      <a:r>
                        <a:rPr lang="zh-TW" altLang="en-US" sz="2000" dirty="0" smtClean="0">
                          <a:latin typeface="SimHei" pitchFamily="49" charset="-122"/>
                          <a:ea typeface="SimHei" pitchFamily="49" charset="-122"/>
                        </a:rPr>
                        <a:t>市道之特定農業區裡地</a:t>
                      </a:r>
                      <a:endParaRPr lang="zh-TW" altLang="en-US" sz="20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395288" y="765176"/>
            <a:ext cx="2484437" cy="431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503238" indent="-441325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3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TW" sz="2000" b="1" dirty="0" smtClean="0">
                <a:solidFill>
                  <a:srgbClr val="A50021"/>
                </a:solidFill>
                <a:latin typeface="SimHei" panose="02010609060101010101" pitchFamily="49" charset="-122"/>
              </a:rPr>
              <a:t>3.</a:t>
            </a:r>
            <a:r>
              <a:rPr lang="zh-TW" altLang="en-US" sz="2000" b="1" dirty="0" smtClean="0">
                <a:solidFill>
                  <a:srgbClr val="A50021"/>
                </a:solidFill>
                <a:latin typeface="SimHei" panose="02010609060101010101" pitchFamily="49" charset="-122"/>
              </a:rPr>
              <a:t>區段劃分：</a:t>
            </a:r>
            <a:endParaRPr lang="en-US" altLang="zh-TW" sz="2000" u="sng" dirty="0" smtClean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en-US" altLang="zh-TW" sz="2000" u="sng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2943584" y="1124744"/>
            <a:ext cx="5792788" cy="4827588"/>
            <a:chOff x="419100" y="1038225"/>
            <a:chExt cx="5792788" cy="4827588"/>
          </a:xfrm>
        </p:grpSpPr>
        <p:pic>
          <p:nvPicPr>
            <p:cNvPr id="19" name="圖片 21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100" y="1038225"/>
              <a:ext cx="5792788" cy="4827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圖片 13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32350" y="4692650"/>
              <a:ext cx="544513" cy="268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圖片 32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4013" y="1328738"/>
              <a:ext cx="544512" cy="26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手繪多邊形 21"/>
            <p:cNvSpPr/>
            <p:nvPr/>
          </p:nvSpPr>
          <p:spPr>
            <a:xfrm>
              <a:off x="2557463" y="2549525"/>
              <a:ext cx="2074862" cy="1784350"/>
            </a:xfrm>
            <a:custGeom>
              <a:avLst/>
              <a:gdLst>
                <a:gd name="connsiteX0" fmla="*/ 0 w 1393032"/>
                <a:gd name="connsiteY0" fmla="*/ 261937 h 1202531"/>
                <a:gd name="connsiteX1" fmla="*/ 1100138 w 1393032"/>
                <a:gd name="connsiteY1" fmla="*/ 1200150 h 1202531"/>
                <a:gd name="connsiteX2" fmla="*/ 1133475 w 1393032"/>
                <a:gd name="connsiteY2" fmla="*/ 1178719 h 1202531"/>
                <a:gd name="connsiteX3" fmla="*/ 1178719 w 1393032"/>
                <a:gd name="connsiteY3" fmla="*/ 1202531 h 1202531"/>
                <a:gd name="connsiteX4" fmla="*/ 1393032 w 1393032"/>
                <a:gd name="connsiteY4" fmla="*/ 935831 h 1202531"/>
                <a:gd name="connsiteX5" fmla="*/ 1335882 w 1393032"/>
                <a:gd name="connsiteY5" fmla="*/ 912019 h 1202531"/>
                <a:gd name="connsiteX6" fmla="*/ 1328738 w 1393032"/>
                <a:gd name="connsiteY6" fmla="*/ 885825 h 1202531"/>
                <a:gd name="connsiteX7" fmla="*/ 207169 w 1393032"/>
                <a:gd name="connsiteY7" fmla="*/ 0 h 1202531"/>
                <a:gd name="connsiteX8" fmla="*/ 0 w 1393032"/>
                <a:gd name="connsiteY8" fmla="*/ 261937 h 1202531"/>
                <a:gd name="connsiteX0" fmla="*/ 0 w 1393032"/>
                <a:gd name="connsiteY0" fmla="*/ 261937 h 1202531"/>
                <a:gd name="connsiteX1" fmla="*/ 1100138 w 1393032"/>
                <a:gd name="connsiteY1" fmla="*/ 1200150 h 1202531"/>
                <a:gd name="connsiteX2" fmla="*/ 1133475 w 1393032"/>
                <a:gd name="connsiteY2" fmla="*/ 1178719 h 1202531"/>
                <a:gd name="connsiteX3" fmla="*/ 1178719 w 1393032"/>
                <a:gd name="connsiteY3" fmla="*/ 1202531 h 1202531"/>
                <a:gd name="connsiteX4" fmla="*/ 1393032 w 1393032"/>
                <a:gd name="connsiteY4" fmla="*/ 935831 h 1202531"/>
                <a:gd name="connsiteX5" fmla="*/ 1335882 w 1393032"/>
                <a:gd name="connsiteY5" fmla="*/ 912019 h 1202531"/>
                <a:gd name="connsiteX6" fmla="*/ 1328738 w 1393032"/>
                <a:gd name="connsiteY6" fmla="*/ 885825 h 1202531"/>
                <a:gd name="connsiteX7" fmla="*/ 796423 w 1393032"/>
                <a:gd name="connsiteY7" fmla="*/ 464126 h 1202531"/>
                <a:gd name="connsiteX8" fmla="*/ 207169 w 1393032"/>
                <a:gd name="connsiteY8" fmla="*/ 0 h 1202531"/>
                <a:gd name="connsiteX9" fmla="*/ 0 w 1393032"/>
                <a:gd name="connsiteY9" fmla="*/ 261937 h 1202531"/>
                <a:gd name="connsiteX0" fmla="*/ 0 w 1393032"/>
                <a:gd name="connsiteY0" fmla="*/ 261937 h 1202531"/>
                <a:gd name="connsiteX1" fmla="*/ 1100138 w 1393032"/>
                <a:gd name="connsiteY1" fmla="*/ 1200150 h 1202531"/>
                <a:gd name="connsiteX2" fmla="*/ 1133475 w 1393032"/>
                <a:gd name="connsiteY2" fmla="*/ 1178719 h 1202531"/>
                <a:gd name="connsiteX3" fmla="*/ 1178719 w 1393032"/>
                <a:gd name="connsiteY3" fmla="*/ 1202531 h 1202531"/>
                <a:gd name="connsiteX4" fmla="*/ 1393032 w 1393032"/>
                <a:gd name="connsiteY4" fmla="*/ 935831 h 1202531"/>
                <a:gd name="connsiteX5" fmla="*/ 1335882 w 1393032"/>
                <a:gd name="connsiteY5" fmla="*/ 912019 h 1202531"/>
                <a:gd name="connsiteX6" fmla="*/ 1328738 w 1393032"/>
                <a:gd name="connsiteY6" fmla="*/ 885825 h 1202531"/>
                <a:gd name="connsiteX7" fmla="*/ 802817 w 1393032"/>
                <a:gd name="connsiteY7" fmla="*/ 441747 h 1202531"/>
                <a:gd name="connsiteX8" fmla="*/ 207169 w 1393032"/>
                <a:gd name="connsiteY8" fmla="*/ 0 h 1202531"/>
                <a:gd name="connsiteX9" fmla="*/ 0 w 1393032"/>
                <a:gd name="connsiteY9" fmla="*/ 261937 h 1202531"/>
                <a:gd name="connsiteX0" fmla="*/ 0 w 1393032"/>
                <a:gd name="connsiteY0" fmla="*/ 261937 h 1202531"/>
                <a:gd name="connsiteX1" fmla="*/ 1100138 w 1393032"/>
                <a:gd name="connsiteY1" fmla="*/ 1200150 h 1202531"/>
                <a:gd name="connsiteX2" fmla="*/ 1133475 w 1393032"/>
                <a:gd name="connsiteY2" fmla="*/ 1178719 h 1202531"/>
                <a:gd name="connsiteX3" fmla="*/ 1178719 w 1393032"/>
                <a:gd name="connsiteY3" fmla="*/ 1202531 h 1202531"/>
                <a:gd name="connsiteX4" fmla="*/ 1393032 w 1393032"/>
                <a:gd name="connsiteY4" fmla="*/ 935831 h 1202531"/>
                <a:gd name="connsiteX5" fmla="*/ 1335882 w 1393032"/>
                <a:gd name="connsiteY5" fmla="*/ 912019 h 1202531"/>
                <a:gd name="connsiteX6" fmla="*/ 1328738 w 1393032"/>
                <a:gd name="connsiteY6" fmla="*/ 885825 h 1202531"/>
                <a:gd name="connsiteX7" fmla="*/ 802817 w 1393032"/>
                <a:gd name="connsiteY7" fmla="*/ 441747 h 1202531"/>
                <a:gd name="connsiteX8" fmla="*/ 759658 w 1393032"/>
                <a:gd name="connsiteY8" fmla="*/ 414573 h 1202531"/>
                <a:gd name="connsiteX9" fmla="*/ 207169 w 1393032"/>
                <a:gd name="connsiteY9" fmla="*/ 0 h 1202531"/>
                <a:gd name="connsiteX10" fmla="*/ 0 w 1393032"/>
                <a:gd name="connsiteY10" fmla="*/ 261937 h 1202531"/>
                <a:gd name="connsiteX0" fmla="*/ 0 w 1393032"/>
                <a:gd name="connsiteY0" fmla="*/ 261937 h 1202531"/>
                <a:gd name="connsiteX1" fmla="*/ 1100138 w 1393032"/>
                <a:gd name="connsiteY1" fmla="*/ 1200150 h 1202531"/>
                <a:gd name="connsiteX2" fmla="*/ 1133475 w 1393032"/>
                <a:gd name="connsiteY2" fmla="*/ 1178719 h 1202531"/>
                <a:gd name="connsiteX3" fmla="*/ 1178719 w 1393032"/>
                <a:gd name="connsiteY3" fmla="*/ 1202531 h 1202531"/>
                <a:gd name="connsiteX4" fmla="*/ 1393032 w 1393032"/>
                <a:gd name="connsiteY4" fmla="*/ 935831 h 1202531"/>
                <a:gd name="connsiteX5" fmla="*/ 1335882 w 1393032"/>
                <a:gd name="connsiteY5" fmla="*/ 912019 h 1202531"/>
                <a:gd name="connsiteX6" fmla="*/ 1328738 w 1393032"/>
                <a:gd name="connsiteY6" fmla="*/ 885825 h 1202531"/>
                <a:gd name="connsiteX7" fmla="*/ 802817 w 1393032"/>
                <a:gd name="connsiteY7" fmla="*/ 441747 h 1202531"/>
                <a:gd name="connsiteX8" fmla="*/ 770848 w 1393032"/>
                <a:gd name="connsiteY8" fmla="*/ 480110 h 1202531"/>
                <a:gd name="connsiteX9" fmla="*/ 207169 w 1393032"/>
                <a:gd name="connsiteY9" fmla="*/ 0 h 1202531"/>
                <a:gd name="connsiteX10" fmla="*/ 0 w 1393032"/>
                <a:gd name="connsiteY10" fmla="*/ 261937 h 1202531"/>
                <a:gd name="connsiteX0" fmla="*/ 0 w 1393032"/>
                <a:gd name="connsiteY0" fmla="*/ 261937 h 1202531"/>
                <a:gd name="connsiteX1" fmla="*/ 1100138 w 1393032"/>
                <a:gd name="connsiteY1" fmla="*/ 1200150 h 1202531"/>
                <a:gd name="connsiteX2" fmla="*/ 1133475 w 1393032"/>
                <a:gd name="connsiteY2" fmla="*/ 1178719 h 1202531"/>
                <a:gd name="connsiteX3" fmla="*/ 1178719 w 1393032"/>
                <a:gd name="connsiteY3" fmla="*/ 1202531 h 1202531"/>
                <a:gd name="connsiteX4" fmla="*/ 1393032 w 1393032"/>
                <a:gd name="connsiteY4" fmla="*/ 935831 h 1202531"/>
                <a:gd name="connsiteX5" fmla="*/ 1335882 w 1393032"/>
                <a:gd name="connsiteY5" fmla="*/ 912019 h 1202531"/>
                <a:gd name="connsiteX6" fmla="*/ 1328738 w 1393032"/>
                <a:gd name="connsiteY6" fmla="*/ 885825 h 1202531"/>
                <a:gd name="connsiteX7" fmla="*/ 793227 w 1393032"/>
                <a:gd name="connsiteY7" fmla="*/ 433755 h 1202531"/>
                <a:gd name="connsiteX8" fmla="*/ 770848 w 1393032"/>
                <a:gd name="connsiteY8" fmla="*/ 480110 h 1202531"/>
                <a:gd name="connsiteX9" fmla="*/ 207169 w 1393032"/>
                <a:gd name="connsiteY9" fmla="*/ 0 h 1202531"/>
                <a:gd name="connsiteX10" fmla="*/ 0 w 1393032"/>
                <a:gd name="connsiteY10" fmla="*/ 261937 h 1202531"/>
                <a:gd name="connsiteX0" fmla="*/ 0 w 1393032"/>
                <a:gd name="connsiteY0" fmla="*/ 261937 h 1202531"/>
                <a:gd name="connsiteX1" fmla="*/ 1100138 w 1393032"/>
                <a:gd name="connsiteY1" fmla="*/ 1200150 h 1202531"/>
                <a:gd name="connsiteX2" fmla="*/ 1133475 w 1393032"/>
                <a:gd name="connsiteY2" fmla="*/ 1178719 h 1202531"/>
                <a:gd name="connsiteX3" fmla="*/ 1178719 w 1393032"/>
                <a:gd name="connsiteY3" fmla="*/ 1202531 h 1202531"/>
                <a:gd name="connsiteX4" fmla="*/ 1393032 w 1393032"/>
                <a:gd name="connsiteY4" fmla="*/ 935831 h 1202531"/>
                <a:gd name="connsiteX5" fmla="*/ 1335882 w 1393032"/>
                <a:gd name="connsiteY5" fmla="*/ 912019 h 1202531"/>
                <a:gd name="connsiteX6" fmla="*/ 1328738 w 1393032"/>
                <a:gd name="connsiteY6" fmla="*/ 885825 h 1202531"/>
                <a:gd name="connsiteX7" fmla="*/ 793227 w 1393032"/>
                <a:gd name="connsiteY7" fmla="*/ 433755 h 1202531"/>
                <a:gd name="connsiteX8" fmla="*/ 761258 w 1393032"/>
                <a:gd name="connsiteY8" fmla="*/ 468921 h 1202531"/>
                <a:gd name="connsiteX9" fmla="*/ 207169 w 1393032"/>
                <a:gd name="connsiteY9" fmla="*/ 0 h 1202531"/>
                <a:gd name="connsiteX10" fmla="*/ 0 w 1393032"/>
                <a:gd name="connsiteY10" fmla="*/ 261937 h 1202531"/>
                <a:gd name="connsiteX0" fmla="*/ 0 w 1393032"/>
                <a:gd name="connsiteY0" fmla="*/ 257141 h 1197735"/>
                <a:gd name="connsiteX1" fmla="*/ 1100138 w 1393032"/>
                <a:gd name="connsiteY1" fmla="*/ 1195354 h 1197735"/>
                <a:gd name="connsiteX2" fmla="*/ 1133475 w 1393032"/>
                <a:gd name="connsiteY2" fmla="*/ 1173923 h 1197735"/>
                <a:gd name="connsiteX3" fmla="*/ 1178719 w 1393032"/>
                <a:gd name="connsiteY3" fmla="*/ 1197735 h 1197735"/>
                <a:gd name="connsiteX4" fmla="*/ 1393032 w 1393032"/>
                <a:gd name="connsiteY4" fmla="*/ 931035 h 1197735"/>
                <a:gd name="connsiteX5" fmla="*/ 1335882 w 1393032"/>
                <a:gd name="connsiteY5" fmla="*/ 907223 h 1197735"/>
                <a:gd name="connsiteX6" fmla="*/ 1328738 w 1393032"/>
                <a:gd name="connsiteY6" fmla="*/ 881029 h 1197735"/>
                <a:gd name="connsiteX7" fmla="*/ 793227 w 1393032"/>
                <a:gd name="connsiteY7" fmla="*/ 428959 h 1197735"/>
                <a:gd name="connsiteX8" fmla="*/ 761258 w 1393032"/>
                <a:gd name="connsiteY8" fmla="*/ 464125 h 1197735"/>
                <a:gd name="connsiteX9" fmla="*/ 207169 w 1393032"/>
                <a:gd name="connsiteY9" fmla="*/ 0 h 1197735"/>
                <a:gd name="connsiteX10" fmla="*/ 0 w 1393032"/>
                <a:gd name="connsiteY10" fmla="*/ 257141 h 1197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93032" h="1197735">
                  <a:moveTo>
                    <a:pt x="0" y="257141"/>
                  </a:moveTo>
                  <a:lnTo>
                    <a:pt x="1100138" y="1195354"/>
                  </a:lnTo>
                  <a:lnTo>
                    <a:pt x="1133475" y="1173923"/>
                  </a:lnTo>
                  <a:lnTo>
                    <a:pt x="1178719" y="1197735"/>
                  </a:lnTo>
                  <a:lnTo>
                    <a:pt x="1393032" y="931035"/>
                  </a:lnTo>
                  <a:lnTo>
                    <a:pt x="1335882" y="907223"/>
                  </a:lnTo>
                  <a:lnTo>
                    <a:pt x="1328738" y="881029"/>
                  </a:lnTo>
                  <a:lnTo>
                    <a:pt x="793227" y="428959"/>
                  </a:lnTo>
                  <a:lnTo>
                    <a:pt x="761258" y="464125"/>
                  </a:lnTo>
                  <a:lnTo>
                    <a:pt x="207169" y="0"/>
                  </a:lnTo>
                  <a:lnTo>
                    <a:pt x="0" y="257141"/>
                  </a:ln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sp>
        <p:nvSpPr>
          <p:cNvPr id="23" name="矩形圖說文字 22"/>
          <p:cNvSpPr/>
          <p:nvPr/>
        </p:nvSpPr>
        <p:spPr>
          <a:xfrm>
            <a:off x="2714324" y="2394838"/>
            <a:ext cx="1641652" cy="2114281"/>
          </a:xfrm>
          <a:prstGeom prst="wedgeRectCallout">
            <a:avLst>
              <a:gd name="adj1" fmla="val -68449"/>
              <a:gd name="adj2" fmla="val -560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dirty="0" smtClean="0"/>
              <a:t>自行調整位置， 依序說明各區段劃分理由，每頁最多</a:t>
            </a:r>
            <a:r>
              <a:rPr lang="en-US" altLang="zh-TW" dirty="0" smtClean="0"/>
              <a:t>2</a:t>
            </a:r>
            <a:r>
              <a:rPr lang="zh-TW" altLang="en-US" dirty="0" smtClean="0"/>
              <a:t>個</a:t>
            </a:r>
            <a:r>
              <a:rPr lang="zh-TW" altLang="en-US" dirty="0" smtClean="0"/>
              <a:t>區段</a:t>
            </a:r>
            <a:endParaRPr lang="zh-TW" altLang="en-US" dirty="0"/>
          </a:p>
        </p:txBody>
      </p:sp>
      <p:sp>
        <p:nvSpPr>
          <p:cNvPr id="24" name="矩形圖說文字 23"/>
          <p:cNvSpPr/>
          <p:nvPr/>
        </p:nvSpPr>
        <p:spPr>
          <a:xfrm>
            <a:off x="6929239" y="1481876"/>
            <a:ext cx="1944216" cy="2667203"/>
          </a:xfrm>
          <a:prstGeom prst="wedgeRectCallout">
            <a:avLst>
              <a:gd name="adj1" fmla="val -83586"/>
              <a:gd name="adj2" fmla="val 69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dirty="0">
                <a:latin typeface="+mn-ea"/>
              </a:rPr>
              <a:t>區段圖可共用同</a:t>
            </a:r>
            <a:r>
              <a:rPr lang="en-US" altLang="zh-TW" dirty="0">
                <a:latin typeface="+mn-ea"/>
              </a:rPr>
              <a:t>1</a:t>
            </a:r>
            <a:r>
              <a:rPr lang="zh-TW" altLang="en-US" dirty="0">
                <a:latin typeface="+mn-ea"/>
              </a:rPr>
              <a:t>張或分張，但本頁僅顯示要介紹說明區段之區段號，以免過於複雜不好</a:t>
            </a:r>
            <a:r>
              <a:rPr lang="zh-TW" altLang="en-US" dirty="0" smtClean="0">
                <a:latin typeface="+mn-ea"/>
              </a:rPr>
              <a:t>判斷</a:t>
            </a:r>
            <a:endParaRPr lang="zh-TW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269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FE26C2A3-1AC3-40ED-B84B-8F313058290D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539552" y="881069"/>
            <a:ext cx="2484437" cy="431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503238" indent="-441325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3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TW" sz="2000" b="1" dirty="0" smtClean="0">
                <a:solidFill>
                  <a:srgbClr val="A50021"/>
                </a:solidFill>
                <a:latin typeface="SimHei" panose="02010609060101010101" pitchFamily="49" charset="-122"/>
              </a:rPr>
              <a:t>3.</a:t>
            </a:r>
            <a:r>
              <a:rPr lang="zh-TW" altLang="en-US" sz="2000" b="1" dirty="0" smtClean="0">
                <a:solidFill>
                  <a:srgbClr val="A50021"/>
                </a:solidFill>
                <a:latin typeface="SimHei" panose="02010609060101010101" pitchFamily="49" charset="-122"/>
              </a:rPr>
              <a:t>區段劃分：</a:t>
            </a:r>
            <a:endParaRPr lang="en-US" altLang="zh-TW" sz="2000" u="sng" dirty="0" smtClean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en-US" altLang="zh-TW" sz="2000" u="sng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395288" y="260350"/>
            <a:ext cx="8075612" cy="620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3000" b="1" dirty="0" smtClean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貳、預定徵收地區市價查估作業情形</a:t>
            </a:r>
            <a:endParaRPr lang="en-US" altLang="zh-TW" sz="3000" b="1" dirty="0" smtClean="0">
              <a:solidFill>
                <a:srgbClr val="000066"/>
              </a:solidFill>
              <a:latin typeface="SimHei" pitchFamily="49" charset="-122"/>
              <a:ea typeface="SimHei" pitchFamily="49" charset="-122"/>
            </a:endParaRPr>
          </a:p>
        </p:txBody>
      </p:sp>
      <p:grpSp>
        <p:nvGrpSpPr>
          <p:cNvPr id="20" name="群組 19"/>
          <p:cNvGrpSpPr/>
          <p:nvPr/>
        </p:nvGrpSpPr>
        <p:grpSpPr>
          <a:xfrm>
            <a:off x="808214" y="1306127"/>
            <a:ext cx="7764772" cy="4827588"/>
            <a:chOff x="419100" y="1038225"/>
            <a:chExt cx="5792788" cy="4827588"/>
          </a:xfrm>
        </p:grpSpPr>
        <p:pic>
          <p:nvPicPr>
            <p:cNvPr id="21" name="圖片 21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100" y="1038225"/>
              <a:ext cx="5792788" cy="4827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圖片 1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32350" y="4692650"/>
              <a:ext cx="544513" cy="268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圖片 3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4013" y="1328738"/>
              <a:ext cx="544512" cy="26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手繪多邊形 23"/>
            <p:cNvSpPr/>
            <p:nvPr/>
          </p:nvSpPr>
          <p:spPr>
            <a:xfrm>
              <a:off x="2557463" y="2549525"/>
              <a:ext cx="2074862" cy="1784350"/>
            </a:xfrm>
            <a:custGeom>
              <a:avLst/>
              <a:gdLst>
                <a:gd name="connsiteX0" fmla="*/ 0 w 1393032"/>
                <a:gd name="connsiteY0" fmla="*/ 261937 h 1202531"/>
                <a:gd name="connsiteX1" fmla="*/ 1100138 w 1393032"/>
                <a:gd name="connsiteY1" fmla="*/ 1200150 h 1202531"/>
                <a:gd name="connsiteX2" fmla="*/ 1133475 w 1393032"/>
                <a:gd name="connsiteY2" fmla="*/ 1178719 h 1202531"/>
                <a:gd name="connsiteX3" fmla="*/ 1178719 w 1393032"/>
                <a:gd name="connsiteY3" fmla="*/ 1202531 h 1202531"/>
                <a:gd name="connsiteX4" fmla="*/ 1393032 w 1393032"/>
                <a:gd name="connsiteY4" fmla="*/ 935831 h 1202531"/>
                <a:gd name="connsiteX5" fmla="*/ 1335882 w 1393032"/>
                <a:gd name="connsiteY5" fmla="*/ 912019 h 1202531"/>
                <a:gd name="connsiteX6" fmla="*/ 1328738 w 1393032"/>
                <a:gd name="connsiteY6" fmla="*/ 885825 h 1202531"/>
                <a:gd name="connsiteX7" fmla="*/ 207169 w 1393032"/>
                <a:gd name="connsiteY7" fmla="*/ 0 h 1202531"/>
                <a:gd name="connsiteX8" fmla="*/ 0 w 1393032"/>
                <a:gd name="connsiteY8" fmla="*/ 261937 h 1202531"/>
                <a:gd name="connsiteX0" fmla="*/ 0 w 1393032"/>
                <a:gd name="connsiteY0" fmla="*/ 261937 h 1202531"/>
                <a:gd name="connsiteX1" fmla="*/ 1100138 w 1393032"/>
                <a:gd name="connsiteY1" fmla="*/ 1200150 h 1202531"/>
                <a:gd name="connsiteX2" fmla="*/ 1133475 w 1393032"/>
                <a:gd name="connsiteY2" fmla="*/ 1178719 h 1202531"/>
                <a:gd name="connsiteX3" fmla="*/ 1178719 w 1393032"/>
                <a:gd name="connsiteY3" fmla="*/ 1202531 h 1202531"/>
                <a:gd name="connsiteX4" fmla="*/ 1393032 w 1393032"/>
                <a:gd name="connsiteY4" fmla="*/ 935831 h 1202531"/>
                <a:gd name="connsiteX5" fmla="*/ 1335882 w 1393032"/>
                <a:gd name="connsiteY5" fmla="*/ 912019 h 1202531"/>
                <a:gd name="connsiteX6" fmla="*/ 1328738 w 1393032"/>
                <a:gd name="connsiteY6" fmla="*/ 885825 h 1202531"/>
                <a:gd name="connsiteX7" fmla="*/ 796423 w 1393032"/>
                <a:gd name="connsiteY7" fmla="*/ 464126 h 1202531"/>
                <a:gd name="connsiteX8" fmla="*/ 207169 w 1393032"/>
                <a:gd name="connsiteY8" fmla="*/ 0 h 1202531"/>
                <a:gd name="connsiteX9" fmla="*/ 0 w 1393032"/>
                <a:gd name="connsiteY9" fmla="*/ 261937 h 1202531"/>
                <a:gd name="connsiteX0" fmla="*/ 0 w 1393032"/>
                <a:gd name="connsiteY0" fmla="*/ 261937 h 1202531"/>
                <a:gd name="connsiteX1" fmla="*/ 1100138 w 1393032"/>
                <a:gd name="connsiteY1" fmla="*/ 1200150 h 1202531"/>
                <a:gd name="connsiteX2" fmla="*/ 1133475 w 1393032"/>
                <a:gd name="connsiteY2" fmla="*/ 1178719 h 1202531"/>
                <a:gd name="connsiteX3" fmla="*/ 1178719 w 1393032"/>
                <a:gd name="connsiteY3" fmla="*/ 1202531 h 1202531"/>
                <a:gd name="connsiteX4" fmla="*/ 1393032 w 1393032"/>
                <a:gd name="connsiteY4" fmla="*/ 935831 h 1202531"/>
                <a:gd name="connsiteX5" fmla="*/ 1335882 w 1393032"/>
                <a:gd name="connsiteY5" fmla="*/ 912019 h 1202531"/>
                <a:gd name="connsiteX6" fmla="*/ 1328738 w 1393032"/>
                <a:gd name="connsiteY6" fmla="*/ 885825 h 1202531"/>
                <a:gd name="connsiteX7" fmla="*/ 802817 w 1393032"/>
                <a:gd name="connsiteY7" fmla="*/ 441747 h 1202531"/>
                <a:gd name="connsiteX8" fmla="*/ 207169 w 1393032"/>
                <a:gd name="connsiteY8" fmla="*/ 0 h 1202531"/>
                <a:gd name="connsiteX9" fmla="*/ 0 w 1393032"/>
                <a:gd name="connsiteY9" fmla="*/ 261937 h 1202531"/>
                <a:gd name="connsiteX0" fmla="*/ 0 w 1393032"/>
                <a:gd name="connsiteY0" fmla="*/ 261937 h 1202531"/>
                <a:gd name="connsiteX1" fmla="*/ 1100138 w 1393032"/>
                <a:gd name="connsiteY1" fmla="*/ 1200150 h 1202531"/>
                <a:gd name="connsiteX2" fmla="*/ 1133475 w 1393032"/>
                <a:gd name="connsiteY2" fmla="*/ 1178719 h 1202531"/>
                <a:gd name="connsiteX3" fmla="*/ 1178719 w 1393032"/>
                <a:gd name="connsiteY3" fmla="*/ 1202531 h 1202531"/>
                <a:gd name="connsiteX4" fmla="*/ 1393032 w 1393032"/>
                <a:gd name="connsiteY4" fmla="*/ 935831 h 1202531"/>
                <a:gd name="connsiteX5" fmla="*/ 1335882 w 1393032"/>
                <a:gd name="connsiteY5" fmla="*/ 912019 h 1202531"/>
                <a:gd name="connsiteX6" fmla="*/ 1328738 w 1393032"/>
                <a:gd name="connsiteY6" fmla="*/ 885825 h 1202531"/>
                <a:gd name="connsiteX7" fmla="*/ 802817 w 1393032"/>
                <a:gd name="connsiteY7" fmla="*/ 441747 h 1202531"/>
                <a:gd name="connsiteX8" fmla="*/ 759658 w 1393032"/>
                <a:gd name="connsiteY8" fmla="*/ 414573 h 1202531"/>
                <a:gd name="connsiteX9" fmla="*/ 207169 w 1393032"/>
                <a:gd name="connsiteY9" fmla="*/ 0 h 1202531"/>
                <a:gd name="connsiteX10" fmla="*/ 0 w 1393032"/>
                <a:gd name="connsiteY10" fmla="*/ 261937 h 1202531"/>
                <a:gd name="connsiteX0" fmla="*/ 0 w 1393032"/>
                <a:gd name="connsiteY0" fmla="*/ 261937 h 1202531"/>
                <a:gd name="connsiteX1" fmla="*/ 1100138 w 1393032"/>
                <a:gd name="connsiteY1" fmla="*/ 1200150 h 1202531"/>
                <a:gd name="connsiteX2" fmla="*/ 1133475 w 1393032"/>
                <a:gd name="connsiteY2" fmla="*/ 1178719 h 1202531"/>
                <a:gd name="connsiteX3" fmla="*/ 1178719 w 1393032"/>
                <a:gd name="connsiteY3" fmla="*/ 1202531 h 1202531"/>
                <a:gd name="connsiteX4" fmla="*/ 1393032 w 1393032"/>
                <a:gd name="connsiteY4" fmla="*/ 935831 h 1202531"/>
                <a:gd name="connsiteX5" fmla="*/ 1335882 w 1393032"/>
                <a:gd name="connsiteY5" fmla="*/ 912019 h 1202531"/>
                <a:gd name="connsiteX6" fmla="*/ 1328738 w 1393032"/>
                <a:gd name="connsiteY6" fmla="*/ 885825 h 1202531"/>
                <a:gd name="connsiteX7" fmla="*/ 802817 w 1393032"/>
                <a:gd name="connsiteY7" fmla="*/ 441747 h 1202531"/>
                <a:gd name="connsiteX8" fmla="*/ 770848 w 1393032"/>
                <a:gd name="connsiteY8" fmla="*/ 480110 h 1202531"/>
                <a:gd name="connsiteX9" fmla="*/ 207169 w 1393032"/>
                <a:gd name="connsiteY9" fmla="*/ 0 h 1202531"/>
                <a:gd name="connsiteX10" fmla="*/ 0 w 1393032"/>
                <a:gd name="connsiteY10" fmla="*/ 261937 h 1202531"/>
                <a:gd name="connsiteX0" fmla="*/ 0 w 1393032"/>
                <a:gd name="connsiteY0" fmla="*/ 261937 h 1202531"/>
                <a:gd name="connsiteX1" fmla="*/ 1100138 w 1393032"/>
                <a:gd name="connsiteY1" fmla="*/ 1200150 h 1202531"/>
                <a:gd name="connsiteX2" fmla="*/ 1133475 w 1393032"/>
                <a:gd name="connsiteY2" fmla="*/ 1178719 h 1202531"/>
                <a:gd name="connsiteX3" fmla="*/ 1178719 w 1393032"/>
                <a:gd name="connsiteY3" fmla="*/ 1202531 h 1202531"/>
                <a:gd name="connsiteX4" fmla="*/ 1393032 w 1393032"/>
                <a:gd name="connsiteY4" fmla="*/ 935831 h 1202531"/>
                <a:gd name="connsiteX5" fmla="*/ 1335882 w 1393032"/>
                <a:gd name="connsiteY5" fmla="*/ 912019 h 1202531"/>
                <a:gd name="connsiteX6" fmla="*/ 1328738 w 1393032"/>
                <a:gd name="connsiteY6" fmla="*/ 885825 h 1202531"/>
                <a:gd name="connsiteX7" fmla="*/ 793227 w 1393032"/>
                <a:gd name="connsiteY7" fmla="*/ 433755 h 1202531"/>
                <a:gd name="connsiteX8" fmla="*/ 770848 w 1393032"/>
                <a:gd name="connsiteY8" fmla="*/ 480110 h 1202531"/>
                <a:gd name="connsiteX9" fmla="*/ 207169 w 1393032"/>
                <a:gd name="connsiteY9" fmla="*/ 0 h 1202531"/>
                <a:gd name="connsiteX10" fmla="*/ 0 w 1393032"/>
                <a:gd name="connsiteY10" fmla="*/ 261937 h 1202531"/>
                <a:gd name="connsiteX0" fmla="*/ 0 w 1393032"/>
                <a:gd name="connsiteY0" fmla="*/ 261937 h 1202531"/>
                <a:gd name="connsiteX1" fmla="*/ 1100138 w 1393032"/>
                <a:gd name="connsiteY1" fmla="*/ 1200150 h 1202531"/>
                <a:gd name="connsiteX2" fmla="*/ 1133475 w 1393032"/>
                <a:gd name="connsiteY2" fmla="*/ 1178719 h 1202531"/>
                <a:gd name="connsiteX3" fmla="*/ 1178719 w 1393032"/>
                <a:gd name="connsiteY3" fmla="*/ 1202531 h 1202531"/>
                <a:gd name="connsiteX4" fmla="*/ 1393032 w 1393032"/>
                <a:gd name="connsiteY4" fmla="*/ 935831 h 1202531"/>
                <a:gd name="connsiteX5" fmla="*/ 1335882 w 1393032"/>
                <a:gd name="connsiteY5" fmla="*/ 912019 h 1202531"/>
                <a:gd name="connsiteX6" fmla="*/ 1328738 w 1393032"/>
                <a:gd name="connsiteY6" fmla="*/ 885825 h 1202531"/>
                <a:gd name="connsiteX7" fmla="*/ 793227 w 1393032"/>
                <a:gd name="connsiteY7" fmla="*/ 433755 h 1202531"/>
                <a:gd name="connsiteX8" fmla="*/ 761258 w 1393032"/>
                <a:gd name="connsiteY8" fmla="*/ 468921 h 1202531"/>
                <a:gd name="connsiteX9" fmla="*/ 207169 w 1393032"/>
                <a:gd name="connsiteY9" fmla="*/ 0 h 1202531"/>
                <a:gd name="connsiteX10" fmla="*/ 0 w 1393032"/>
                <a:gd name="connsiteY10" fmla="*/ 261937 h 1202531"/>
                <a:gd name="connsiteX0" fmla="*/ 0 w 1393032"/>
                <a:gd name="connsiteY0" fmla="*/ 257141 h 1197735"/>
                <a:gd name="connsiteX1" fmla="*/ 1100138 w 1393032"/>
                <a:gd name="connsiteY1" fmla="*/ 1195354 h 1197735"/>
                <a:gd name="connsiteX2" fmla="*/ 1133475 w 1393032"/>
                <a:gd name="connsiteY2" fmla="*/ 1173923 h 1197735"/>
                <a:gd name="connsiteX3" fmla="*/ 1178719 w 1393032"/>
                <a:gd name="connsiteY3" fmla="*/ 1197735 h 1197735"/>
                <a:gd name="connsiteX4" fmla="*/ 1393032 w 1393032"/>
                <a:gd name="connsiteY4" fmla="*/ 931035 h 1197735"/>
                <a:gd name="connsiteX5" fmla="*/ 1335882 w 1393032"/>
                <a:gd name="connsiteY5" fmla="*/ 907223 h 1197735"/>
                <a:gd name="connsiteX6" fmla="*/ 1328738 w 1393032"/>
                <a:gd name="connsiteY6" fmla="*/ 881029 h 1197735"/>
                <a:gd name="connsiteX7" fmla="*/ 793227 w 1393032"/>
                <a:gd name="connsiteY7" fmla="*/ 428959 h 1197735"/>
                <a:gd name="connsiteX8" fmla="*/ 761258 w 1393032"/>
                <a:gd name="connsiteY8" fmla="*/ 464125 h 1197735"/>
                <a:gd name="connsiteX9" fmla="*/ 207169 w 1393032"/>
                <a:gd name="connsiteY9" fmla="*/ 0 h 1197735"/>
                <a:gd name="connsiteX10" fmla="*/ 0 w 1393032"/>
                <a:gd name="connsiteY10" fmla="*/ 257141 h 1197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93032" h="1197735">
                  <a:moveTo>
                    <a:pt x="0" y="257141"/>
                  </a:moveTo>
                  <a:lnTo>
                    <a:pt x="1100138" y="1195354"/>
                  </a:lnTo>
                  <a:lnTo>
                    <a:pt x="1133475" y="1173923"/>
                  </a:lnTo>
                  <a:lnTo>
                    <a:pt x="1178719" y="1197735"/>
                  </a:lnTo>
                  <a:lnTo>
                    <a:pt x="1393032" y="931035"/>
                  </a:lnTo>
                  <a:lnTo>
                    <a:pt x="1335882" y="907223"/>
                  </a:lnTo>
                  <a:lnTo>
                    <a:pt x="1328738" y="881029"/>
                  </a:lnTo>
                  <a:lnTo>
                    <a:pt x="793227" y="428959"/>
                  </a:lnTo>
                  <a:lnTo>
                    <a:pt x="761258" y="464125"/>
                  </a:lnTo>
                  <a:lnTo>
                    <a:pt x="207169" y="0"/>
                  </a:lnTo>
                  <a:lnTo>
                    <a:pt x="0" y="257141"/>
                  </a:ln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sp>
        <p:nvSpPr>
          <p:cNvPr id="25" name="矩形 24"/>
          <p:cNvSpPr/>
          <p:nvPr/>
        </p:nvSpPr>
        <p:spPr>
          <a:xfrm>
            <a:off x="4690600" y="3336516"/>
            <a:ext cx="1075799" cy="257369"/>
          </a:xfrm>
          <a:prstGeom prst="rect">
            <a:avLst/>
          </a:prstGeom>
          <a:noFill/>
        </p:spPr>
        <p:txBody>
          <a:bodyPr lIns="36000" tIns="36000" rIns="36000" bIns="3600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altLang="zh-TW" sz="12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ea typeface="新細明體" pitchFamily="18" charset="-120"/>
              </a:rPr>
              <a:t>P101-00</a:t>
            </a:r>
            <a:endParaRPr lang="en-US" altLang="zh-TW" sz="1200" b="1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ea typeface="新細明體" pitchFamily="18" charset="-120"/>
            </a:endParaRPr>
          </a:p>
        </p:txBody>
      </p:sp>
      <p:sp>
        <p:nvSpPr>
          <p:cNvPr id="19" name="矩形圖說文字 18"/>
          <p:cNvSpPr/>
          <p:nvPr/>
        </p:nvSpPr>
        <p:spPr>
          <a:xfrm>
            <a:off x="-2052736" y="1596640"/>
            <a:ext cx="1944216" cy="3632200"/>
          </a:xfrm>
          <a:prstGeom prst="wedgeRectCallout">
            <a:avLst>
              <a:gd name="adj1" fmla="val 106044"/>
              <a:gd name="adj2" fmla="val -67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dirty="0" smtClean="0"/>
              <a:t>如區段過小、細碎或複雜難以簡報完整表達，可以連結方式開啟其</a:t>
            </a:r>
            <a:r>
              <a:rPr lang="en-US" altLang="zh-TW" dirty="0" smtClean="0"/>
              <a:t>PDF</a:t>
            </a:r>
            <a:r>
              <a:rPr lang="zh-TW" altLang="en-US" dirty="0" smtClean="0"/>
              <a:t>區段圖方式，以備詳細說明</a:t>
            </a:r>
            <a:endParaRPr lang="zh-TW" altLang="en-US" dirty="0"/>
          </a:p>
        </p:txBody>
      </p:sp>
      <p:sp>
        <p:nvSpPr>
          <p:cNvPr id="18" name="矩形圖說文字 17"/>
          <p:cNvSpPr/>
          <p:nvPr/>
        </p:nvSpPr>
        <p:spPr>
          <a:xfrm>
            <a:off x="9540552" y="908721"/>
            <a:ext cx="1944216" cy="5256584"/>
          </a:xfrm>
          <a:prstGeom prst="wedgeRectCallout">
            <a:avLst>
              <a:gd name="adj1" fmla="val -191460"/>
              <a:gd name="adj2" fmla="val -1362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dirty="0" smtClean="0"/>
              <a:t>如區段較複雜，請於各區段介紹頁後，增加一頁全部區段圖，以供了解各區段相對位置，如區段簡單，已可於前幾頁表達清楚，則本頁可免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0773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編號版面配置區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fld id="{FCC5C694-4BED-4403-8599-072D6A34E6E3}" type="slidenum">
              <a:rPr kumimoji="0" lang="en-US" altLang="zh-TW" sz="1200">
                <a:latin typeface="Garamond" pitchFamily="18" charset="0"/>
                <a:ea typeface="新細明體" charset="-120"/>
              </a:rPr>
              <a:pPr/>
              <a:t>8</a:t>
            </a:fld>
            <a:endParaRPr kumimoji="0" lang="en-US" altLang="zh-TW" sz="1200">
              <a:latin typeface="Garamond" pitchFamily="18" charset="0"/>
              <a:ea typeface="新細明體" charset="-12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5287" y="226058"/>
            <a:ext cx="8075613" cy="719138"/>
          </a:xfrm>
        </p:spPr>
        <p:txBody>
          <a:bodyPr/>
          <a:lstStyle/>
          <a:p>
            <a:pPr eaLnBrk="1" hangingPunct="1"/>
            <a:r>
              <a:rPr lang="zh-TW" altLang="en-US" sz="3000" b="1" dirty="0" smtClean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貳、預定徵收地區市價查估作業情形</a:t>
            </a:r>
            <a:endParaRPr lang="en-US" altLang="zh-TW" sz="3000" b="1" dirty="0" smtClean="0">
              <a:solidFill>
                <a:srgbClr val="000066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8437" name="Rectangle 3"/>
          <p:cNvSpPr txBox="1">
            <a:spLocks noChangeArrowheads="1"/>
          </p:cNvSpPr>
          <p:nvPr/>
        </p:nvSpPr>
        <p:spPr bwMode="auto">
          <a:xfrm>
            <a:off x="395288" y="765175"/>
            <a:ext cx="8075612" cy="431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503238" indent="-441325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3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TW" sz="2000" b="1" dirty="0" smtClean="0">
                <a:solidFill>
                  <a:srgbClr val="A50021"/>
                </a:solidFill>
                <a:latin typeface="SimHei" panose="02010609060101010101" pitchFamily="49" charset="-122"/>
              </a:rPr>
              <a:t>4.</a:t>
            </a:r>
            <a:r>
              <a:rPr lang="zh-TW" altLang="en-US" sz="2000" b="1" dirty="0" smtClean="0">
                <a:solidFill>
                  <a:srgbClr val="A50021"/>
                </a:solidFill>
                <a:latin typeface="SimHei" panose="02010609060101010101" pitchFamily="49" charset="-122"/>
              </a:rPr>
              <a:t>比較標的選取：</a:t>
            </a:r>
            <a:r>
              <a:rPr lang="zh-TW" altLang="en-US" sz="2000" dirty="0">
                <a:latin typeface="SimHei" panose="02010609060101010101" pitchFamily="49" charset="-122"/>
              </a:rPr>
              <a:t>本案</a:t>
            </a:r>
            <a:r>
              <a:rPr lang="zh-TW" altLang="en-US" sz="2000" dirty="0" smtClean="0">
                <a:latin typeface="SimHei" panose="02010609060101010101" pitchFamily="49" charset="-122"/>
              </a:rPr>
              <a:t>選取買賣實例</a:t>
            </a:r>
            <a:r>
              <a:rPr lang="en-US" altLang="zh-TW" sz="2000" dirty="0" smtClean="0">
                <a:latin typeface="SimHei" panose="02010609060101010101" pitchFamily="49" charset="-122"/>
              </a:rPr>
              <a:t>00</a:t>
            </a:r>
            <a:r>
              <a:rPr lang="zh-TW" altLang="en-US" sz="2000" dirty="0" smtClean="0">
                <a:latin typeface="SimHei" panose="02010609060101010101" pitchFamily="49" charset="-122"/>
              </a:rPr>
              <a:t>件。</a:t>
            </a:r>
            <a:endParaRPr lang="en-US" altLang="zh-TW" sz="2000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en-US" altLang="zh-TW" sz="2000" u="sng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9" name="Group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901608"/>
              </p:ext>
            </p:extLst>
          </p:nvPr>
        </p:nvGraphicFramePr>
        <p:xfrm>
          <a:off x="683568" y="1412777"/>
          <a:ext cx="8136904" cy="1760581"/>
        </p:xfrm>
        <a:graphic>
          <a:graphicData uri="http://schemas.openxmlformats.org/drawingml/2006/table">
            <a:tbl>
              <a:tblPr/>
              <a:tblGrid>
                <a:gridCol w="713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9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8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168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7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ts val="6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ts val="5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實例 編號</a:t>
                      </a: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7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ts val="6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ts val="5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土地標示</a:t>
                      </a: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7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ts val="6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ts val="5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交易價格   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(</a:t>
                      </a: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元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/㎡)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7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ts val="6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ts val="5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分區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/</a:t>
                      </a: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用地</a:t>
                      </a: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地價區段號</a:t>
                      </a: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備註</a:t>
                      </a: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8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1</a:t>
                      </a: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 新化區洋子段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708</a:t>
                      </a: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地號</a:t>
                      </a: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○○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特定農業區</a:t>
                      </a:r>
                      <a:endParaRPr kumimoji="0" lang="en-US" altLang="zh-TW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農牧用地</a:t>
                      </a: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P901-00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63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2</a:t>
                      </a: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新化區洋子段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866</a:t>
                      </a: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地號</a:t>
                      </a: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○○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特定農業區</a:t>
                      </a:r>
                      <a:endParaRPr kumimoji="0" lang="en-US" altLang="zh-TW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農牧用地</a:t>
                      </a: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P902-00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矩形圖說文字 6"/>
          <p:cNvSpPr/>
          <p:nvPr/>
        </p:nvSpPr>
        <p:spPr>
          <a:xfrm>
            <a:off x="9172496" y="1412777"/>
            <a:ext cx="1944216" cy="1872208"/>
          </a:xfrm>
          <a:prstGeom prst="wedgeRectCallout">
            <a:avLst>
              <a:gd name="adj1" fmla="val -74186"/>
              <a:gd name="adj2" fmla="val 2227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dirty="0" smtClean="0"/>
              <a:t>多餘列自行刪除，列不足時自行新增列或表格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382324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投影片編號版面配置區 1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fld id="{408A944F-3DBC-4FCB-9D06-6029425E987E}" type="slidenum">
              <a:rPr kumimoji="0" lang="en-US" altLang="zh-TW" sz="1200">
                <a:latin typeface="Garamond" pitchFamily="18" charset="0"/>
                <a:ea typeface="新細明體" charset="-120"/>
              </a:rPr>
              <a:pPr/>
              <a:t>9</a:t>
            </a:fld>
            <a:endParaRPr kumimoji="0" lang="en-US" altLang="zh-TW" sz="1200">
              <a:latin typeface="Garamond" pitchFamily="18" charset="0"/>
              <a:ea typeface="新細明體" charset="-120"/>
            </a:endParaRPr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395288" y="260350"/>
            <a:ext cx="8075612" cy="620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3000" b="1" dirty="0" smtClean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貳、預定徵收地區市價查估作業情形</a:t>
            </a:r>
            <a:r>
              <a:rPr lang="en-US" altLang="zh-TW" sz="3000" b="1" dirty="0" smtClean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(</a:t>
            </a:r>
            <a:r>
              <a:rPr lang="zh-TW" altLang="en-US" sz="3000" b="1" dirty="0" smtClean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實例</a:t>
            </a:r>
            <a:r>
              <a:rPr lang="zh-TW" altLang="en-US" sz="3000" b="1" dirty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分布</a:t>
            </a:r>
            <a:r>
              <a:rPr lang="en-US" altLang="zh-TW" sz="3000" b="1" dirty="0" smtClean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)</a:t>
            </a:r>
          </a:p>
        </p:txBody>
      </p:sp>
      <p:pic>
        <p:nvPicPr>
          <p:cNvPr id="29" name="圖片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9625" y="1077913"/>
            <a:ext cx="7596188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圓角矩形圖說文字 30"/>
          <p:cNvSpPr/>
          <p:nvPr/>
        </p:nvSpPr>
        <p:spPr>
          <a:xfrm>
            <a:off x="6008688" y="4175125"/>
            <a:ext cx="504825" cy="161925"/>
          </a:xfrm>
          <a:prstGeom prst="wedgeRoundRectCallout">
            <a:avLst>
              <a:gd name="adj1" fmla="val -62647"/>
              <a:gd name="adj2" fmla="val 119995"/>
              <a:gd name="adj3" fmla="val 16667"/>
            </a:avLst>
          </a:prstGeom>
          <a:solidFill>
            <a:schemeClr val="bg1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zh-TW" altLang="en-US" sz="900" dirty="0">
                <a:solidFill>
                  <a:schemeClr val="tx1"/>
                </a:solidFill>
              </a:rPr>
              <a:t>工程範圍</a:t>
            </a:r>
          </a:p>
        </p:txBody>
      </p:sp>
      <p:sp>
        <p:nvSpPr>
          <p:cNvPr id="32" name="矩形 31"/>
          <p:cNvSpPr/>
          <p:nvPr/>
        </p:nvSpPr>
        <p:spPr bwMode="auto">
          <a:xfrm>
            <a:off x="330200" y="814388"/>
            <a:ext cx="1752600" cy="110331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ts val="1000"/>
              </a:lnSpc>
              <a:defRPr/>
            </a:pP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新化區洋子段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961~990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地號</a:t>
            </a:r>
            <a:endParaRPr lang="en-US" altLang="zh-TW" sz="8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(965)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交易日期：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106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8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土地面積：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850.00m</a:t>
            </a:r>
            <a:r>
              <a:rPr lang="en-US" altLang="zh-TW" sz="800" baseline="30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單價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7,000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/m</a:t>
            </a:r>
            <a:r>
              <a:rPr lang="en-US" altLang="zh-TW" sz="800" baseline="30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特定農業區農牧用地</a:t>
            </a:r>
            <a:endParaRPr lang="en-US" altLang="zh-TW" sz="8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en-US" altLang="zh-TW" sz="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已選用同地段距勘估標的較近之案例，暫不採用</a:t>
            </a:r>
            <a:r>
              <a:rPr lang="en-US" altLang="zh-TW" sz="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33" name="直線接點 32"/>
          <p:cNvCxnSpPr/>
          <p:nvPr/>
        </p:nvCxnSpPr>
        <p:spPr>
          <a:xfrm flipH="1" flipV="1">
            <a:off x="2089150" y="1847850"/>
            <a:ext cx="2470150" cy="649288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 bwMode="auto">
          <a:xfrm>
            <a:off x="2243138" y="793750"/>
            <a:ext cx="1752600" cy="10715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ts val="1000"/>
              </a:lnSpc>
              <a:defRPr/>
            </a:pP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新化區洋子段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961~990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地號</a:t>
            </a:r>
            <a:endParaRPr lang="en-US" altLang="zh-TW" sz="8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(962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963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964)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交易日期：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106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8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土地面積：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6,389.00m</a:t>
            </a:r>
            <a:r>
              <a:rPr lang="en-US" altLang="zh-TW" sz="800" baseline="30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單價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7,000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/m</a:t>
            </a:r>
            <a:r>
              <a:rPr lang="en-US" altLang="zh-TW" sz="800" baseline="30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特定農業區農牧用地</a:t>
            </a:r>
            <a:endParaRPr lang="en-US" altLang="zh-TW" sz="8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en-US" altLang="zh-TW" sz="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已選用同地段距勘估標的較近之案例，暫不採用</a:t>
            </a:r>
            <a:r>
              <a:rPr lang="en-US" altLang="zh-TW" sz="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35" name="直線接點 34"/>
          <p:cNvCxnSpPr/>
          <p:nvPr/>
        </p:nvCxnSpPr>
        <p:spPr>
          <a:xfrm flipH="1" flipV="1">
            <a:off x="3546475" y="1868488"/>
            <a:ext cx="1009650" cy="561975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手繪多邊形 35"/>
          <p:cNvSpPr/>
          <p:nvPr/>
        </p:nvSpPr>
        <p:spPr>
          <a:xfrm>
            <a:off x="5883275" y="4383088"/>
            <a:ext cx="171450" cy="155575"/>
          </a:xfrm>
          <a:custGeom>
            <a:avLst/>
            <a:gdLst>
              <a:gd name="connsiteX0" fmla="*/ 168275 w 168275"/>
              <a:gd name="connsiteY0" fmla="*/ 139700 h 139700"/>
              <a:gd name="connsiteX1" fmla="*/ 0 w 168275"/>
              <a:gd name="connsiteY1" fmla="*/ 0 h 139700"/>
              <a:gd name="connsiteX0" fmla="*/ 171450 w 171450"/>
              <a:gd name="connsiteY0" fmla="*/ 155575 h 155575"/>
              <a:gd name="connsiteX1" fmla="*/ 0 w 171450"/>
              <a:gd name="connsiteY1" fmla="*/ 0 h 155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1450" h="155575">
                <a:moveTo>
                  <a:pt x="171450" y="15557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7" name="矩形 36"/>
          <p:cNvSpPr/>
          <p:nvPr/>
        </p:nvSpPr>
        <p:spPr bwMode="auto">
          <a:xfrm>
            <a:off x="5838825" y="1969491"/>
            <a:ext cx="1752600" cy="936625"/>
          </a:xfrm>
          <a:prstGeom prst="rect">
            <a:avLst/>
          </a:prstGeom>
          <a:solidFill>
            <a:srgbClr val="CCECFF"/>
          </a:solidFill>
          <a:ln>
            <a:solidFill>
              <a:srgbClr val="00B0F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TW" altLang="en-US" sz="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買賣</a:t>
            </a:r>
            <a:r>
              <a:rPr lang="zh-TW" altLang="en-US" sz="8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實例</a:t>
            </a:r>
            <a:r>
              <a:rPr lang="en-US" altLang="zh-TW" sz="8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en-US" altLang="zh-TW" sz="8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新化區洋子段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691~720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地號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(708)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日期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106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面積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3,118.00m</a:t>
            </a:r>
            <a:r>
              <a:rPr lang="en-US" altLang="zh-TW" sz="800" baseline="300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en-US" altLang="zh-TW" sz="800" baseline="300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單價：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7,900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/m</a:t>
            </a:r>
            <a:r>
              <a:rPr lang="en-US" altLang="zh-TW" sz="800" baseline="30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定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農業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區農牧用地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8" name="直線接點 37"/>
          <p:cNvCxnSpPr>
            <a:endCxn id="37" idx="2"/>
          </p:cNvCxnSpPr>
          <p:nvPr/>
        </p:nvCxnSpPr>
        <p:spPr>
          <a:xfrm flipV="1">
            <a:off x="6183313" y="2906116"/>
            <a:ext cx="531812" cy="432397"/>
          </a:xfrm>
          <a:prstGeom prst="line">
            <a:avLst/>
          </a:prstGeom>
          <a:ln w="6350">
            <a:solidFill>
              <a:srgbClr val="00B0F0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 bwMode="auto">
          <a:xfrm>
            <a:off x="4108450" y="969963"/>
            <a:ext cx="1758950" cy="874712"/>
          </a:xfrm>
          <a:prstGeom prst="rect">
            <a:avLst/>
          </a:prstGeom>
          <a:solidFill>
            <a:srgbClr val="CCECFF"/>
          </a:solidFill>
          <a:ln>
            <a:solidFill>
              <a:srgbClr val="00B0F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ts val="1000"/>
              </a:lnSpc>
              <a:defRPr/>
            </a:pPr>
            <a:r>
              <a:rPr lang="zh-TW" altLang="en-US" sz="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買賣案例</a:t>
            </a:r>
            <a:r>
              <a:rPr lang="en-US" altLang="zh-TW" sz="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新化區洋子段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841~870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地號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(866)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交易日期：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106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21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endParaRPr lang="en-US" altLang="zh-TW" sz="8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土地面積：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1,761.00m</a:t>
            </a:r>
            <a:r>
              <a:rPr lang="en-US" altLang="zh-TW" sz="800" baseline="30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土地交易單價：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8,802</a:t>
            </a: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/m</a:t>
            </a:r>
            <a:r>
              <a:rPr lang="en-US" altLang="zh-TW" sz="800" baseline="30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特定農業區農牧用地</a:t>
            </a:r>
            <a:endParaRPr lang="en-US" altLang="zh-TW" sz="8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1" name="直線接點 40"/>
          <p:cNvCxnSpPr/>
          <p:nvPr/>
        </p:nvCxnSpPr>
        <p:spPr>
          <a:xfrm flipH="1" flipV="1">
            <a:off x="4932363" y="1844675"/>
            <a:ext cx="134937" cy="931863"/>
          </a:xfrm>
          <a:prstGeom prst="line">
            <a:avLst/>
          </a:prstGeom>
          <a:ln w="6350">
            <a:solidFill>
              <a:srgbClr val="00B0F0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 bwMode="auto">
          <a:xfrm>
            <a:off x="320675" y="1984375"/>
            <a:ext cx="1758950" cy="9763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新化區洋子段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1081~1110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地號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(1093)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交易日期：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106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土地面積：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1,000.00m</a:t>
            </a:r>
            <a:r>
              <a:rPr lang="en-US" altLang="zh-TW" sz="800" baseline="300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土地交易單價：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4,800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/m</a:t>
            </a:r>
            <a:r>
              <a:rPr lang="en-US" altLang="zh-TW" sz="800" baseline="30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特定農業區農牧用地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交易價格低於公告現值，不採用</a:t>
            </a:r>
            <a:r>
              <a:rPr lang="en-US" altLang="zh-TW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8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5" name="直線接點 44"/>
          <p:cNvCxnSpPr/>
          <p:nvPr/>
        </p:nvCxnSpPr>
        <p:spPr>
          <a:xfrm flipH="1" flipV="1">
            <a:off x="2089150" y="2632075"/>
            <a:ext cx="2365375" cy="76835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 bwMode="auto">
          <a:xfrm>
            <a:off x="7138988" y="2924175"/>
            <a:ext cx="1758950" cy="10604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新化區竹子腳段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991~1020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地號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(1008)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交易日期：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106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土地面積：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2,760.00m</a:t>
            </a:r>
            <a:r>
              <a:rPr lang="en-US" altLang="zh-TW" sz="800" baseline="300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土地交易單價：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5,100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/m</a:t>
            </a:r>
            <a:r>
              <a:rPr lang="en-US" altLang="zh-TW" sz="800" baseline="300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特定農業區農牧用地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en-US" altLang="zh-TW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交易價格低於公告現值，不採用</a:t>
            </a:r>
            <a:r>
              <a:rPr lang="en-US" altLang="zh-TW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8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7" name="直線接點 46"/>
          <p:cNvCxnSpPr/>
          <p:nvPr/>
        </p:nvCxnSpPr>
        <p:spPr>
          <a:xfrm flipV="1">
            <a:off x="6381750" y="3730625"/>
            <a:ext cx="757238" cy="188913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019800" y="4991100"/>
            <a:ext cx="358775" cy="669925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 bwMode="auto">
          <a:xfrm>
            <a:off x="7145338" y="5108575"/>
            <a:ext cx="1746250" cy="8826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新化區竹子腳段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841~870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地號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交易日期：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106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土地面積：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33.76m</a:t>
            </a:r>
            <a:r>
              <a:rPr lang="en-US" altLang="zh-TW" sz="800" baseline="300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土地交易單價：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4,601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/m</a:t>
            </a:r>
            <a:r>
              <a:rPr lang="en-US" altLang="zh-TW" sz="800" baseline="300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特定農業區農牧用地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en-US" altLang="zh-TW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持分交易，不採用</a:t>
            </a:r>
            <a:r>
              <a:rPr lang="en-US" altLang="zh-TW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8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6" name="直線接點 55"/>
          <p:cNvCxnSpPr/>
          <p:nvPr/>
        </p:nvCxnSpPr>
        <p:spPr>
          <a:xfrm>
            <a:off x="6381750" y="5203825"/>
            <a:ext cx="754063" cy="2667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 flipH="1">
            <a:off x="4307682" y="5419725"/>
            <a:ext cx="1535906" cy="43815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 bwMode="auto">
          <a:xfrm>
            <a:off x="2519712" y="5325358"/>
            <a:ext cx="1758950" cy="10763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新化區竹子腳段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991~1020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地號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(1000)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交易日期：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106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土地面積：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1,301.00m</a:t>
            </a:r>
            <a:r>
              <a:rPr lang="en-US" altLang="zh-TW" sz="800" baseline="300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土地交易單價：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4,420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/m</a:t>
            </a:r>
            <a:r>
              <a:rPr lang="en-US" altLang="zh-TW" sz="800" baseline="300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特定農業區農牧用地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en-US" altLang="zh-TW" sz="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臨路條件與周邊環境、區位與勘估標的替代性低，不採用</a:t>
            </a:r>
            <a:r>
              <a:rPr lang="en-US" altLang="zh-TW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8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1" name="直線接點 60"/>
          <p:cNvCxnSpPr/>
          <p:nvPr/>
        </p:nvCxnSpPr>
        <p:spPr>
          <a:xfrm flipH="1" flipV="1">
            <a:off x="2089150" y="4710113"/>
            <a:ext cx="3613150" cy="696912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 bwMode="auto">
          <a:xfrm>
            <a:off x="484188" y="4437063"/>
            <a:ext cx="1595437" cy="1114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新化區竹子腳段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991~1020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地號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(1003)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交易日期：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106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土地面積：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3,116.00m</a:t>
            </a:r>
            <a:r>
              <a:rPr lang="en-US" altLang="zh-TW" sz="800" baseline="300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土地交易單價：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3,700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/m</a:t>
            </a:r>
            <a:r>
              <a:rPr lang="en-US" altLang="zh-TW" sz="800" baseline="300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特定農業區農牧用地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en-US" altLang="zh-TW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親友、員工或其他特殊關係間之交易，不採用</a:t>
            </a:r>
            <a:r>
              <a:rPr lang="en-US" altLang="zh-TW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8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矩形 62"/>
          <p:cNvSpPr/>
          <p:nvPr/>
        </p:nvSpPr>
        <p:spPr bwMode="auto">
          <a:xfrm>
            <a:off x="7140575" y="4038600"/>
            <a:ext cx="1760538" cy="101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新化區竹子腳段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991~1020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地號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(996-1)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交易日期：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107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8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土地面積：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1,179.00m</a:t>
            </a:r>
            <a:r>
              <a:rPr lang="en-US" altLang="zh-TW" sz="800" baseline="300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土地交易單價：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7,040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/m</a:t>
            </a:r>
            <a:r>
              <a:rPr lang="en-US" altLang="zh-TW" sz="800" baseline="300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特定農業區農牧用地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en-US" altLang="zh-TW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含增建或未登記建物，不採用</a:t>
            </a:r>
            <a:r>
              <a:rPr lang="en-US" altLang="zh-TW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8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4" name="直線接點 63"/>
          <p:cNvCxnSpPr/>
          <p:nvPr/>
        </p:nvCxnSpPr>
        <p:spPr>
          <a:xfrm flipV="1">
            <a:off x="6559550" y="4811713"/>
            <a:ext cx="574675" cy="227012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/>
          <p:nvPr/>
        </p:nvCxnSpPr>
        <p:spPr>
          <a:xfrm flipH="1" flipV="1">
            <a:off x="2082800" y="3733800"/>
            <a:ext cx="3090863" cy="1331913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 bwMode="auto">
          <a:xfrm>
            <a:off x="482600" y="3122613"/>
            <a:ext cx="1595438" cy="1114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新化區崙子頂段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331~360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地號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(358)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交易日期：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106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土地面積：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1,154.00m</a:t>
            </a:r>
            <a:r>
              <a:rPr lang="en-US" altLang="zh-TW" sz="800" baseline="300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土地交易單價：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5,962</a:t>
            </a: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/m</a:t>
            </a:r>
            <a:r>
              <a:rPr lang="en-US" altLang="zh-TW" sz="800" baseline="300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  <a:p>
            <a:pPr>
              <a:lnSpc>
                <a:spcPts val="1000"/>
              </a:lnSpc>
              <a:defRPr/>
            </a:pPr>
            <a:r>
              <a:rPr lang="zh-TW" altLang="en-US" sz="8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特定農業區農牧用地</a:t>
            </a:r>
            <a:endParaRPr lang="en-US" altLang="zh-TW" sz="8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000"/>
              </a:lnSpc>
              <a:defRPr/>
            </a:pPr>
            <a:r>
              <a:rPr lang="en-US" altLang="zh-TW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8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已選用同地段距勘估標的較近之案例，暫不</a:t>
            </a:r>
            <a:r>
              <a:rPr lang="zh-TW" altLang="en-US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採用</a:t>
            </a:r>
            <a:r>
              <a:rPr lang="en-US" altLang="zh-TW" sz="8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8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矩形圖說文字 68"/>
          <p:cNvSpPr/>
          <p:nvPr/>
        </p:nvSpPr>
        <p:spPr>
          <a:xfrm>
            <a:off x="6763575" y="803427"/>
            <a:ext cx="1976376" cy="2866230"/>
          </a:xfrm>
          <a:prstGeom prst="wedgeRectCallout">
            <a:avLst>
              <a:gd name="adj1" fmla="val -42987"/>
              <a:gd name="adj2" fmla="val -1991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1800" dirty="0" smtClean="0"/>
              <a:t>1.</a:t>
            </a:r>
            <a:r>
              <a:rPr lang="zh-TW" altLang="en-US" sz="1800" dirty="0" smtClean="0"/>
              <a:t>說明徵收範圍附近實例分布情形，不採用之案例簡述理由，如</a:t>
            </a:r>
            <a:r>
              <a:rPr lang="en-US" altLang="zh-TW" sz="1800" dirty="0" smtClean="0"/>
              <a:t>1</a:t>
            </a:r>
            <a:r>
              <a:rPr lang="zh-TW" altLang="en-US" sz="1800" dirty="0" smtClean="0"/>
              <a:t>頁不足表示，可自行增加頁數</a:t>
            </a:r>
            <a:endParaRPr lang="en-US" altLang="zh-TW" sz="1800" dirty="0" smtClean="0"/>
          </a:p>
          <a:p>
            <a:r>
              <a:rPr lang="en-US" altLang="zh-TW" sz="1800" dirty="0" smtClean="0"/>
              <a:t>2.</a:t>
            </a:r>
            <a:r>
              <a:rPr lang="zh-TW" altLang="en-US" sz="1800" dirty="0" smtClean="0"/>
              <a:t>報告時請務必說明採用案例為何為最合適之案例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36387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7A2B8584-FAD0-45FC-851A-6D63C402077F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395288" y="260350"/>
            <a:ext cx="8075612" cy="620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3000" b="1" dirty="0" smtClean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貳、預定徵收地區市價查估作業情形</a:t>
            </a:r>
            <a:endParaRPr lang="en-US" altLang="zh-TW" sz="3000" b="1" dirty="0" smtClean="0">
              <a:solidFill>
                <a:srgbClr val="000066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395288" y="765175"/>
            <a:ext cx="8075612" cy="431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503238" indent="-441325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3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TW" sz="2000" b="1" dirty="0" smtClean="0">
                <a:solidFill>
                  <a:srgbClr val="A50021"/>
                </a:solidFill>
                <a:latin typeface="SimHei" panose="02010609060101010101" pitchFamily="49" charset="-122"/>
              </a:rPr>
              <a:t>4.</a:t>
            </a:r>
            <a:r>
              <a:rPr lang="zh-TW" altLang="en-US" sz="2000" b="1" dirty="0" smtClean="0">
                <a:solidFill>
                  <a:srgbClr val="A50021"/>
                </a:solidFill>
                <a:latin typeface="SimHei" panose="02010609060101010101" pitchFamily="49" charset="-122"/>
              </a:rPr>
              <a:t>比較標的選取：</a:t>
            </a:r>
            <a:r>
              <a:rPr lang="zh-TW" altLang="en-US" sz="2000" dirty="0" smtClean="0">
                <a:latin typeface="SimHei" panose="02010609060101010101" pitchFamily="49" charset="-122"/>
              </a:rPr>
              <a:t>買賣實例與徵收區段相對位置圖。</a:t>
            </a:r>
            <a:endParaRPr lang="en-US" altLang="zh-TW" sz="2000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en-US" altLang="zh-TW" sz="2000" u="sng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4" name="群組 5"/>
          <p:cNvGrpSpPr>
            <a:grpSpLocks/>
          </p:cNvGrpSpPr>
          <p:nvPr/>
        </p:nvGrpSpPr>
        <p:grpSpPr bwMode="auto">
          <a:xfrm>
            <a:off x="534987" y="1397932"/>
            <a:ext cx="8193881" cy="4983817"/>
            <a:chOff x="535279" y="818731"/>
            <a:chExt cx="8037221" cy="5322663"/>
          </a:xfrm>
        </p:grpSpPr>
        <p:pic>
          <p:nvPicPr>
            <p:cNvPr id="19" name="圖片 18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35279" y="818731"/>
              <a:ext cx="8037221" cy="5322663"/>
            </a:xfrm>
            <a:prstGeom prst="rect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21" name="Picture 8"/>
            <p:cNvPicPr>
              <a:picLocks noChangeAspect="1" noChangeArrowheads="1"/>
            </p:cNvPicPr>
            <p:nvPr/>
          </p:nvPicPr>
          <p:blipFill>
            <a:blip r:embed="rId4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701" y="866357"/>
              <a:ext cx="495559" cy="486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圓角矩形圖說文字 21"/>
            <p:cNvSpPr/>
            <p:nvPr/>
          </p:nvSpPr>
          <p:spPr>
            <a:xfrm>
              <a:off x="3125985" y="5282592"/>
              <a:ext cx="1352501" cy="295263"/>
            </a:xfrm>
            <a:prstGeom prst="wedgeRoundRectCallout">
              <a:avLst>
                <a:gd name="adj1" fmla="val 68945"/>
                <a:gd name="adj2" fmla="val -59791"/>
                <a:gd name="adj3" fmla="val 16667"/>
              </a:avLst>
            </a:prstGeom>
            <a:solidFill>
              <a:srgbClr val="FFCC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defRPr/>
              </a:pPr>
              <a:r>
                <a:rPr lang="zh-TW" altLang="en-US" sz="1200" b="1" dirty="0">
                  <a:solidFill>
                    <a:srgbClr val="0000FF"/>
                  </a:solidFill>
                  <a:latin typeface="微軟正黑體" pitchFamily="34" charset="-120"/>
                  <a:ea typeface="微軟正黑體" pitchFamily="34" charset="-120"/>
                </a:rPr>
                <a:t>區段：</a:t>
              </a:r>
              <a:r>
                <a:rPr lang="en-US" altLang="zh-TW" sz="1200" b="1" dirty="0" smtClean="0">
                  <a:solidFill>
                    <a:srgbClr val="0000FF"/>
                  </a:solidFill>
                  <a:latin typeface="微軟正黑體" pitchFamily="34" charset="-120"/>
                  <a:ea typeface="微軟正黑體" pitchFamily="34" charset="-120"/>
                </a:rPr>
                <a:t>P101-00</a:t>
              </a:r>
              <a:endParaRPr lang="en-US" altLang="zh-TW" sz="12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23" name="圓角矩形圖說文字 22"/>
            <p:cNvSpPr/>
            <p:nvPr/>
          </p:nvSpPr>
          <p:spPr>
            <a:xfrm>
              <a:off x="5364279" y="3249091"/>
              <a:ext cx="1350913" cy="461942"/>
            </a:xfrm>
            <a:prstGeom prst="wedgeRoundRectCallout">
              <a:avLst>
                <a:gd name="adj1" fmla="val -41606"/>
                <a:gd name="adj2" fmla="val -104915"/>
                <a:gd name="adj3" fmla="val 16667"/>
              </a:avLst>
            </a:prstGeom>
            <a:solidFill>
              <a:srgbClr val="FCE1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defRPr/>
              </a:pPr>
              <a:r>
                <a:rPr lang="zh-TW" altLang="en-US" sz="1200" b="1" dirty="0">
                  <a:solidFill>
                    <a:schemeClr val="tx1"/>
                  </a:solidFill>
                  <a:latin typeface="微軟正黑體" pitchFamily="34" charset="-120"/>
                  <a:ea typeface="微軟正黑體" pitchFamily="34" charset="-120"/>
                </a:rPr>
                <a:t>買賣</a:t>
              </a:r>
              <a:r>
                <a:rPr lang="zh-TW" altLang="en-US" sz="1200" b="1" dirty="0" smtClean="0">
                  <a:solidFill>
                    <a:schemeClr val="tx1"/>
                  </a:solidFill>
                  <a:latin typeface="微軟正黑體" pitchFamily="34" charset="-120"/>
                  <a:ea typeface="微軟正黑體" pitchFamily="34" charset="-120"/>
                </a:rPr>
                <a:t>實例</a:t>
              </a:r>
              <a:r>
                <a:rPr lang="en-US" altLang="zh-TW" sz="1200" b="1" dirty="0" smtClean="0">
                  <a:solidFill>
                    <a:schemeClr val="tx1"/>
                  </a:solidFill>
                  <a:latin typeface="微軟正黑體" pitchFamily="34" charset="-120"/>
                  <a:ea typeface="微軟正黑體" pitchFamily="34" charset="-120"/>
                </a:rPr>
                <a:t>1</a:t>
              </a:r>
              <a:endParaRPr lang="en-US" altLang="zh-TW" sz="12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endParaRPr>
            </a:p>
            <a:p>
              <a:pPr eaLnBrk="1" hangingPunct="1">
                <a:defRPr/>
              </a:pPr>
              <a:r>
                <a:rPr lang="zh-TW" altLang="en-US" sz="1200" b="1" dirty="0">
                  <a:solidFill>
                    <a:schemeClr val="tx1"/>
                  </a:solidFill>
                  <a:latin typeface="微軟正黑體" pitchFamily="34" charset="-120"/>
                  <a:ea typeface="微軟正黑體" pitchFamily="34" charset="-120"/>
                </a:rPr>
                <a:t>區段：</a:t>
              </a:r>
              <a:r>
                <a:rPr lang="en-US" altLang="zh-TW" sz="1200" b="1" dirty="0" smtClean="0">
                  <a:solidFill>
                    <a:schemeClr val="tx1"/>
                  </a:solidFill>
                  <a:latin typeface="微軟正黑體" pitchFamily="34" charset="-120"/>
                  <a:ea typeface="微軟正黑體" pitchFamily="34" charset="-120"/>
                </a:rPr>
                <a:t>P901-00</a:t>
              </a:r>
              <a:endParaRPr lang="en-US" altLang="zh-TW" sz="12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24" name="圓角矩形圖說文字 23"/>
            <p:cNvSpPr/>
            <p:nvPr/>
          </p:nvSpPr>
          <p:spPr>
            <a:xfrm>
              <a:off x="3260917" y="1556888"/>
              <a:ext cx="1350914" cy="463530"/>
            </a:xfrm>
            <a:prstGeom prst="wedgeRoundRectCallout">
              <a:avLst>
                <a:gd name="adj1" fmla="val -70755"/>
                <a:gd name="adj2" fmla="val -1317"/>
                <a:gd name="adj3" fmla="val 16667"/>
              </a:avLst>
            </a:prstGeom>
            <a:solidFill>
              <a:srgbClr val="FCE19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2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defRPr/>
              </a:pPr>
              <a:r>
                <a:rPr lang="zh-TW" altLang="en-US" sz="1200" b="1" dirty="0">
                  <a:solidFill>
                    <a:schemeClr val="tx1"/>
                  </a:solidFill>
                  <a:latin typeface="微軟正黑體" pitchFamily="34" charset="-120"/>
                  <a:ea typeface="微軟正黑體" pitchFamily="34" charset="-120"/>
                </a:rPr>
                <a:t>買賣</a:t>
              </a:r>
              <a:r>
                <a:rPr lang="zh-TW" altLang="en-US" sz="1200" b="1" dirty="0" smtClean="0">
                  <a:solidFill>
                    <a:schemeClr val="tx1"/>
                  </a:solidFill>
                  <a:latin typeface="微軟正黑體" pitchFamily="34" charset="-120"/>
                  <a:ea typeface="微軟正黑體" pitchFamily="34" charset="-120"/>
                </a:rPr>
                <a:t>實例</a:t>
              </a:r>
              <a:r>
                <a:rPr lang="en-US" altLang="zh-TW" sz="1200" b="1" dirty="0">
                  <a:solidFill>
                    <a:schemeClr val="tx1"/>
                  </a:solidFill>
                  <a:latin typeface="微軟正黑體" pitchFamily="34" charset="-120"/>
                  <a:ea typeface="微軟正黑體" pitchFamily="34" charset="-120"/>
                </a:rPr>
                <a:t>2</a:t>
              </a:r>
            </a:p>
            <a:p>
              <a:pPr eaLnBrk="1" hangingPunct="1">
                <a:defRPr/>
              </a:pPr>
              <a:r>
                <a:rPr lang="zh-TW" altLang="en-US" sz="1200" b="1" dirty="0">
                  <a:solidFill>
                    <a:schemeClr val="tx1"/>
                  </a:solidFill>
                  <a:latin typeface="微軟正黑體" pitchFamily="34" charset="-120"/>
                  <a:ea typeface="微軟正黑體" pitchFamily="34" charset="-120"/>
                </a:rPr>
                <a:t>區段：</a:t>
              </a:r>
              <a:r>
                <a:rPr lang="en-US" altLang="zh-TW" sz="1200" b="1" dirty="0" smtClean="0">
                  <a:solidFill>
                    <a:schemeClr val="tx1"/>
                  </a:solidFill>
                  <a:latin typeface="微軟正黑體" pitchFamily="34" charset="-120"/>
                  <a:ea typeface="微軟正黑體" pitchFamily="34" charset="-120"/>
                </a:rPr>
                <a:t>P902-00</a:t>
              </a:r>
              <a:endParaRPr lang="en-US" altLang="zh-TW" sz="12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00637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圖片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387" y="1330424"/>
            <a:ext cx="5905500" cy="497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投影片編號版面配置區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FE26C2A3-1AC3-40ED-B84B-8F313058290D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395288" y="765175"/>
            <a:ext cx="8075612" cy="431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503238" indent="-441325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3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TW" sz="2000" b="1" dirty="0" smtClean="0">
                <a:solidFill>
                  <a:srgbClr val="A50021"/>
                </a:solidFill>
                <a:latin typeface="SimHei" panose="02010609060101010101" pitchFamily="49" charset="-122"/>
              </a:rPr>
              <a:t>4.</a:t>
            </a:r>
            <a:r>
              <a:rPr lang="zh-TW" altLang="en-US" sz="2000" b="1" dirty="0" smtClean="0">
                <a:solidFill>
                  <a:srgbClr val="A50021"/>
                </a:solidFill>
                <a:latin typeface="SimHei" panose="02010609060101010101" pitchFamily="49" charset="-122"/>
              </a:rPr>
              <a:t>比較標的選取：</a:t>
            </a:r>
            <a:endParaRPr lang="en-US" altLang="zh-TW" sz="2000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en-US" altLang="zh-TW" sz="2000" u="sng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Rectangle 2"/>
          <p:cNvSpPr txBox="1">
            <a:spLocks noChangeArrowheads="1"/>
          </p:cNvSpPr>
          <p:nvPr/>
        </p:nvSpPr>
        <p:spPr bwMode="auto">
          <a:xfrm>
            <a:off x="395288" y="260350"/>
            <a:ext cx="8075612" cy="620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3000" b="1" dirty="0" smtClean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貳、預定徵收地區市價查估作業情形</a:t>
            </a:r>
            <a:endParaRPr lang="en-US" altLang="zh-TW" sz="3000" b="1" dirty="0" smtClean="0">
              <a:solidFill>
                <a:srgbClr val="000066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28" name="文字方塊 21"/>
          <p:cNvSpPr txBox="1">
            <a:spLocks noChangeArrowheads="1"/>
          </p:cNvSpPr>
          <p:nvPr/>
        </p:nvSpPr>
        <p:spPr bwMode="auto">
          <a:xfrm>
            <a:off x="6317887" y="4221261"/>
            <a:ext cx="2509837" cy="1200329"/>
          </a:xfrm>
          <a:prstGeom prst="rect">
            <a:avLst/>
          </a:prstGeom>
          <a:solidFill>
            <a:srgbClr val="AFEA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買賣實例</a:t>
            </a:r>
            <a:r>
              <a:rPr lang="en-US" altLang="zh-TW" sz="1200" b="1" dirty="0" smtClean="0">
                <a:latin typeface="微軟正黑體" pitchFamily="34" charset="-120"/>
                <a:ea typeface="微軟正黑體" pitchFamily="34" charset="-120"/>
              </a:rPr>
              <a:t>1_P901-00</a:t>
            </a:r>
            <a:endParaRPr lang="en-US" altLang="zh-TW" sz="12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新化區洋子</a:t>
            </a:r>
            <a:r>
              <a:rPr lang="zh-TW" altLang="en-US" sz="1200" b="1" dirty="0" smtClean="0">
                <a:latin typeface="微軟正黑體" pitchFamily="34" charset="-120"/>
                <a:ea typeface="微軟正黑體" pitchFamily="34" charset="-120"/>
              </a:rPr>
              <a:t>段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○○</a:t>
            </a:r>
            <a:r>
              <a:rPr lang="zh-TW" altLang="en-US" sz="1200" b="1" dirty="0" smtClean="0">
                <a:latin typeface="微軟正黑體" pitchFamily="34" charset="-120"/>
                <a:ea typeface="微軟正黑體" pitchFamily="34" charset="-120"/>
              </a:rPr>
              <a:t>地</a:t>
            </a:r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號</a:t>
            </a:r>
            <a:endParaRPr lang="en-US" altLang="zh-TW" sz="12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特定農業區農牧用地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)</a:t>
            </a:r>
          </a:p>
          <a:p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土地面積</a:t>
            </a:r>
            <a:r>
              <a:rPr lang="zh-TW" altLang="en-US" sz="1200" b="1" dirty="0" smtClean="0"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TW" sz="1200" b="1" dirty="0" smtClean="0">
                <a:latin typeface="微軟正黑體" pitchFamily="34" charset="-120"/>
                <a:ea typeface="微軟正黑體" pitchFamily="34" charset="-120"/>
              </a:rPr>
              <a:t>○○m</a:t>
            </a:r>
            <a:r>
              <a:rPr lang="en-US" altLang="zh-TW" sz="1200" b="1" baseline="30000" dirty="0" smtClean="0">
                <a:latin typeface="微軟正黑體" pitchFamily="34" charset="-120"/>
                <a:ea typeface="微軟正黑體" pitchFamily="34" charset="-120"/>
              </a:rPr>
              <a:t>2</a:t>
            </a:r>
            <a:endParaRPr lang="en-US" altLang="zh-TW" sz="12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交易日期</a:t>
            </a:r>
            <a:r>
              <a:rPr lang="zh-TW" altLang="en-US" sz="1200" b="1" dirty="0" smtClean="0"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○○</a:t>
            </a:r>
            <a:r>
              <a:rPr lang="zh-TW" altLang="en-US" sz="1200" b="1" dirty="0" smtClean="0">
                <a:latin typeface="微軟正黑體" pitchFamily="34" charset="-120"/>
                <a:ea typeface="微軟正黑體" pitchFamily="34" charset="-120"/>
              </a:rPr>
              <a:t>年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○○</a:t>
            </a:r>
            <a:r>
              <a:rPr lang="zh-TW" altLang="en-US" sz="1200" b="1" dirty="0" smtClean="0">
                <a:latin typeface="微軟正黑體" pitchFamily="34" charset="-120"/>
                <a:ea typeface="微軟正黑體" pitchFamily="34" charset="-120"/>
              </a:rPr>
              <a:t>月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○○</a:t>
            </a:r>
            <a:r>
              <a:rPr lang="zh-TW" altLang="en-US" sz="1200" b="1" dirty="0" smtClean="0">
                <a:latin typeface="微軟正黑體" pitchFamily="34" charset="-120"/>
                <a:ea typeface="微軟正黑體" pitchFamily="34" charset="-120"/>
              </a:rPr>
              <a:t>日</a:t>
            </a:r>
            <a:endParaRPr lang="en-US" altLang="zh-TW" sz="12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土地正常單價</a:t>
            </a:r>
            <a:r>
              <a:rPr lang="zh-TW" altLang="en-US" sz="1200" b="1" dirty="0" smtClean="0"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○○</a:t>
            </a:r>
            <a:r>
              <a:rPr lang="zh-TW" altLang="en-US" sz="1200" b="1" dirty="0" smtClean="0">
                <a:latin typeface="微軟正黑體" pitchFamily="34" charset="-120"/>
                <a:ea typeface="微軟正黑體" pitchFamily="34" charset="-120"/>
              </a:rPr>
              <a:t>元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/m</a:t>
            </a:r>
            <a:r>
              <a:rPr lang="en-US" altLang="zh-TW" sz="1200" b="1" baseline="30000" dirty="0">
                <a:latin typeface="微軟正黑體" pitchFamily="34" charset="-120"/>
                <a:ea typeface="微軟正黑體" pitchFamily="34" charset="-120"/>
              </a:rPr>
              <a:t>2</a:t>
            </a:r>
          </a:p>
        </p:txBody>
      </p:sp>
      <p:sp>
        <p:nvSpPr>
          <p:cNvPr id="31" name="文字方塊 20"/>
          <p:cNvSpPr txBox="1">
            <a:spLocks noChangeArrowheads="1"/>
          </p:cNvSpPr>
          <p:nvPr/>
        </p:nvSpPr>
        <p:spPr bwMode="auto">
          <a:xfrm>
            <a:off x="7923213" y="3494088"/>
            <a:ext cx="1008062" cy="215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algn="ctr"/>
            <a:r>
              <a:rPr lang="zh-TW" altLang="en-US" sz="800">
                <a:latin typeface="微軟正黑體" pitchFamily="34" charset="-120"/>
                <a:ea typeface="微軟正黑體" pitchFamily="34" charset="-120"/>
              </a:rPr>
              <a:t>買賣實例</a:t>
            </a:r>
            <a:r>
              <a:rPr lang="en-US" altLang="zh-TW" sz="800"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TW" altLang="en-US" sz="800">
                <a:latin typeface="微軟正黑體" pitchFamily="34" charset="-120"/>
                <a:ea typeface="微軟正黑體" pitchFamily="34" charset="-120"/>
              </a:rPr>
              <a:t>現況照</a:t>
            </a:r>
            <a:endParaRPr lang="en-US" altLang="zh-TW" sz="800" baseline="3000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3" name="文字方塊 21"/>
          <p:cNvSpPr txBox="1">
            <a:spLocks noChangeArrowheads="1"/>
          </p:cNvSpPr>
          <p:nvPr/>
        </p:nvSpPr>
        <p:spPr bwMode="auto">
          <a:xfrm rot="18551466">
            <a:off x="4372768" y="4209257"/>
            <a:ext cx="13128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algn="ctr"/>
            <a:r>
              <a:rPr lang="zh-TW" altLang="en-US" sz="1100">
                <a:solidFill>
                  <a:srgbClr val="FFFF00"/>
                </a:solidFill>
              </a:rPr>
              <a:t>嘉南大圳南幹線</a:t>
            </a:r>
          </a:p>
        </p:txBody>
      </p:sp>
      <p:sp>
        <p:nvSpPr>
          <p:cNvPr id="34" name="手繪多邊形 33"/>
          <p:cNvSpPr/>
          <p:nvPr/>
        </p:nvSpPr>
        <p:spPr>
          <a:xfrm>
            <a:off x="2946554" y="2790052"/>
            <a:ext cx="566737" cy="604837"/>
          </a:xfrm>
          <a:custGeom>
            <a:avLst/>
            <a:gdLst>
              <a:gd name="connsiteX0" fmla="*/ 419100 w 566737"/>
              <a:gd name="connsiteY0" fmla="*/ 0 h 604837"/>
              <a:gd name="connsiteX1" fmla="*/ 0 w 566737"/>
              <a:gd name="connsiteY1" fmla="*/ 485775 h 604837"/>
              <a:gd name="connsiteX2" fmla="*/ 157162 w 566737"/>
              <a:gd name="connsiteY2" fmla="*/ 604837 h 604837"/>
              <a:gd name="connsiteX3" fmla="*/ 566737 w 566737"/>
              <a:gd name="connsiteY3" fmla="*/ 128587 h 604837"/>
              <a:gd name="connsiteX4" fmla="*/ 419100 w 566737"/>
              <a:gd name="connsiteY4" fmla="*/ 0 h 604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6737" h="604837">
                <a:moveTo>
                  <a:pt x="419100" y="0"/>
                </a:moveTo>
                <a:lnTo>
                  <a:pt x="0" y="485775"/>
                </a:lnTo>
                <a:lnTo>
                  <a:pt x="157162" y="604837"/>
                </a:lnTo>
                <a:lnTo>
                  <a:pt x="566737" y="128587"/>
                </a:lnTo>
                <a:lnTo>
                  <a:pt x="419100" y="0"/>
                </a:lnTo>
                <a:close/>
              </a:path>
            </a:pathLst>
          </a:custGeom>
          <a:solidFill>
            <a:srgbClr val="CCEC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5" name="矩形 34"/>
          <p:cNvSpPr/>
          <p:nvPr/>
        </p:nvSpPr>
        <p:spPr>
          <a:xfrm>
            <a:off x="3911378" y="3181710"/>
            <a:ext cx="715768" cy="257369"/>
          </a:xfrm>
          <a:prstGeom prst="rect">
            <a:avLst/>
          </a:prstGeom>
          <a:noFill/>
        </p:spPr>
        <p:txBody>
          <a:bodyPr lIns="36000" tIns="36000" rIns="36000" bIns="3600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altLang="zh-TW" sz="1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ea typeface="新細明體" pitchFamily="18" charset="-120"/>
              </a:rPr>
              <a:t>P101-00</a:t>
            </a:r>
          </a:p>
        </p:txBody>
      </p:sp>
      <p:sp>
        <p:nvSpPr>
          <p:cNvPr id="36" name="文字方塊 35"/>
          <p:cNvSpPr txBox="1"/>
          <p:nvPr/>
        </p:nvSpPr>
        <p:spPr>
          <a:xfrm rot="2417929">
            <a:off x="2241550" y="2732088"/>
            <a:ext cx="1314450" cy="254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TW" altLang="en-US" sz="1050" dirty="0">
                <a:solidFill>
                  <a:srgbClr val="FFFF00"/>
                </a:solidFill>
              </a:rPr>
              <a:t>大智路</a:t>
            </a:r>
            <a:r>
              <a:rPr lang="en-US" altLang="zh-TW" sz="1050" dirty="0">
                <a:solidFill>
                  <a:srgbClr val="FFFF00"/>
                </a:solidFill>
              </a:rPr>
              <a:t>239</a:t>
            </a:r>
            <a:r>
              <a:rPr lang="zh-TW" altLang="en-US" sz="1050" dirty="0">
                <a:solidFill>
                  <a:srgbClr val="FFFF00"/>
                </a:solidFill>
              </a:rPr>
              <a:t>巷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4656138" y="1174750"/>
            <a:ext cx="1141412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TW" altLang="en-US" sz="1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正新國小</a:t>
            </a:r>
          </a:p>
        </p:txBody>
      </p:sp>
      <p:sp>
        <p:nvSpPr>
          <p:cNvPr id="38" name="手繪多邊形 37"/>
          <p:cNvSpPr/>
          <p:nvPr/>
        </p:nvSpPr>
        <p:spPr>
          <a:xfrm>
            <a:off x="1907953" y="1589881"/>
            <a:ext cx="4006850" cy="4044950"/>
          </a:xfrm>
          <a:custGeom>
            <a:avLst/>
            <a:gdLst>
              <a:gd name="connsiteX0" fmla="*/ 0 w 4006850"/>
              <a:gd name="connsiteY0" fmla="*/ 1238250 h 4044950"/>
              <a:gd name="connsiteX1" fmla="*/ 50800 w 4006850"/>
              <a:gd name="connsiteY1" fmla="*/ 1873250 h 4044950"/>
              <a:gd name="connsiteX2" fmla="*/ 2432050 w 4006850"/>
              <a:gd name="connsiteY2" fmla="*/ 3848100 h 4044950"/>
              <a:gd name="connsiteX3" fmla="*/ 2374900 w 4006850"/>
              <a:gd name="connsiteY3" fmla="*/ 4025900 h 4044950"/>
              <a:gd name="connsiteX4" fmla="*/ 2444750 w 4006850"/>
              <a:gd name="connsiteY4" fmla="*/ 4044950 h 4044950"/>
              <a:gd name="connsiteX5" fmla="*/ 3505200 w 4006850"/>
              <a:gd name="connsiteY5" fmla="*/ 2749550 h 4044950"/>
              <a:gd name="connsiteX6" fmla="*/ 3467100 w 4006850"/>
              <a:gd name="connsiteY6" fmla="*/ 2711450 h 4044950"/>
              <a:gd name="connsiteX7" fmla="*/ 4006850 w 4006850"/>
              <a:gd name="connsiteY7" fmla="*/ 2349500 h 4044950"/>
              <a:gd name="connsiteX8" fmla="*/ 3886200 w 4006850"/>
              <a:gd name="connsiteY8" fmla="*/ 2216150 h 4044950"/>
              <a:gd name="connsiteX9" fmla="*/ 3848100 w 4006850"/>
              <a:gd name="connsiteY9" fmla="*/ 2260600 h 4044950"/>
              <a:gd name="connsiteX10" fmla="*/ 1200150 w 4006850"/>
              <a:gd name="connsiteY10" fmla="*/ 0 h 4044950"/>
              <a:gd name="connsiteX11" fmla="*/ 1016000 w 4006850"/>
              <a:gd name="connsiteY11" fmla="*/ 203200 h 4044950"/>
              <a:gd name="connsiteX12" fmla="*/ 1098550 w 4006850"/>
              <a:gd name="connsiteY12" fmla="*/ 393700 h 4044950"/>
              <a:gd name="connsiteX13" fmla="*/ 901700 w 4006850"/>
              <a:gd name="connsiteY13" fmla="*/ 501650 h 4044950"/>
              <a:gd name="connsiteX14" fmla="*/ 825500 w 4006850"/>
              <a:gd name="connsiteY14" fmla="*/ 361950 h 4044950"/>
              <a:gd name="connsiteX15" fmla="*/ 0 w 4006850"/>
              <a:gd name="connsiteY15" fmla="*/ 1238250 h 404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06850" h="4044950">
                <a:moveTo>
                  <a:pt x="0" y="1238250"/>
                </a:moveTo>
                <a:lnTo>
                  <a:pt x="50800" y="1873250"/>
                </a:lnTo>
                <a:lnTo>
                  <a:pt x="2432050" y="3848100"/>
                </a:lnTo>
                <a:lnTo>
                  <a:pt x="2374900" y="4025900"/>
                </a:lnTo>
                <a:lnTo>
                  <a:pt x="2444750" y="4044950"/>
                </a:lnTo>
                <a:lnTo>
                  <a:pt x="3505200" y="2749550"/>
                </a:lnTo>
                <a:lnTo>
                  <a:pt x="3467100" y="2711450"/>
                </a:lnTo>
                <a:lnTo>
                  <a:pt x="4006850" y="2349500"/>
                </a:lnTo>
                <a:lnTo>
                  <a:pt x="3886200" y="2216150"/>
                </a:lnTo>
                <a:lnTo>
                  <a:pt x="3848100" y="2260600"/>
                </a:lnTo>
                <a:lnTo>
                  <a:pt x="1200150" y="0"/>
                </a:lnTo>
                <a:lnTo>
                  <a:pt x="1016000" y="203200"/>
                </a:lnTo>
                <a:lnTo>
                  <a:pt x="1098550" y="393700"/>
                </a:lnTo>
                <a:lnTo>
                  <a:pt x="901700" y="501650"/>
                </a:lnTo>
                <a:lnTo>
                  <a:pt x="825500" y="361950"/>
                </a:lnTo>
                <a:lnTo>
                  <a:pt x="0" y="1238250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9" name="文字方塊 38"/>
          <p:cNvSpPr txBox="1"/>
          <p:nvPr/>
        </p:nvSpPr>
        <p:spPr>
          <a:xfrm rot="2417929">
            <a:off x="4132263" y="2274888"/>
            <a:ext cx="1314450" cy="254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TW" altLang="en-US" sz="1050" dirty="0">
                <a:solidFill>
                  <a:srgbClr val="FFFF00"/>
                </a:solidFill>
              </a:rPr>
              <a:t>大智路</a:t>
            </a:r>
            <a:r>
              <a:rPr lang="en-US" altLang="zh-TW" sz="1050" dirty="0">
                <a:solidFill>
                  <a:srgbClr val="FFFF00"/>
                </a:solidFill>
              </a:rPr>
              <a:t>145</a:t>
            </a:r>
            <a:r>
              <a:rPr lang="zh-TW" altLang="en-US" sz="1050" dirty="0">
                <a:solidFill>
                  <a:srgbClr val="FFFF00"/>
                </a:solidFill>
              </a:rPr>
              <a:t>巷</a:t>
            </a:r>
          </a:p>
        </p:txBody>
      </p:sp>
      <p:cxnSp>
        <p:nvCxnSpPr>
          <p:cNvPr id="40" name="肘形接點 39"/>
          <p:cNvCxnSpPr/>
          <p:nvPr/>
        </p:nvCxnSpPr>
        <p:spPr>
          <a:xfrm flipV="1">
            <a:off x="3497263" y="1974850"/>
            <a:ext cx="3451225" cy="811213"/>
          </a:xfrm>
          <a:prstGeom prst="bentConnector3">
            <a:avLst>
              <a:gd name="adj1" fmla="val -561"/>
            </a:avLst>
          </a:prstGeom>
          <a:ln w="15875">
            <a:solidFill>
              <a:srgbClr val="0000FF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群組 10"/>
          <p:cNvGrpSpPr>
            <a:grpSpLocks/>
          </p:cNvGrpSpPr>
          <p:nvPr/>
        </p:nvGrpSpPr>
        <p:grpSpPr bwMode="auto">
          <a:xfrm>
            <a:off x="6094049" y="1589881"/>
            <a:ext cx="2879725" cy="2406650"/>
            <a:chOff x="6197249" y="1149298"/>
            <a:chExt cx="2880000" cy="2406857"/>
          </a:xfrm>
        </p:grpSpPr>
        <p:pic>
          <p:nvPicPr>
            <p:cNvPr id="42" name="圖片 1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7249" y="1149298"/>
              <a:ext cx="2880000" cy="2406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向下箭號 42"/>
            <p:cNvSpPr/>
            <p:nvPr/>
          </p:nvSpPr>
          <p:spPr>
            <a:xfrm rot="21120515">
              <a:off x="7387988" y="2020911"/>
              <a:ext cx="287365" cy="288950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4" name="手繪多邊形 43"/>
            <p:cNvSpPr/>
            <p:nvPr/>
          </p:nvSpPr>
          <p:spPr>
            <a:xfrm>
              <a:off x="6321086" y="2203489"/>
              <a:ext cx="2654553" cy="311177"/>
            </a:xfrm>
            <a:custGeom>
              <a:avLst/>
              <a:gdLst>
                <a:gd name="connsiteX0" fmla="*/ 1936750 w 2654300"/>
                <a:gd name="connsiteY0" fmla="*/ 0 h 311150"/>
                <a:gd name="connsiteX1" fmla="*/ 0 w 2654300"/>
                <a:gd name="connsiteY1" fmla="*/ 114300 h 311150"/>
                <a:gd name="connsiteX2" fmla="*/ 1123950 w 2654300"/>
                <a:gd name="connsiteY2" fmla="*/ 311150 h 311150"/>
                <a:gd name="connsiteX3" fmla="*/ 2654300 w 2654300"/>
                <a:gd name="connsiteY3" fmla="*/ 19050 h 311150"/>
                <a:gd name="connsiteX4" fmla="*/ 1936750 w 2654300"/>
                <a:gd name="connsiteY4" fmla="*/ 0 h 311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4300" h="311150">
                  <a:moveTo>
                    <a:pt x="1936750" y="0"/>
                  </a:moveTo>
                  <a:lnTo>
                    <a:pt x="0" y="114300"/>
                  </a:lnTo>
                  <a:lnTo>
                    <a:pt x="1123950" y="311150"/>
                  </a:lnTo>
                  <a:lnTo>
                    <a:pt x="2654300" y="19050"/>
                  </a:lnTo>
                  <a:lnTo>
                    <a:pt x="1936750" y="0"/>
                  </a:ln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sp>
        <p:nvSpPr>
          <p:cNvPr id="45" name="文字方塊 27"/>
          <p:cNvSpPr txBox="1">
            <a:spLocks noChangeArrowheads="1"/>
          </p:cNvSpPr>
          <p:nvPr/>
        </p:nvSpPr>
        <p:spPr bwMode="auto">
          <a:xfrm rot="2417929">
            <a:off x="1727200" y="1557338"/>
            <a:ext cx="3032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algn="ctr"/>
            <a:r>
              <a:rPr lang="zh-TW" altLang="en-US" sz="1200" b="1">
                <a:solidFill>
                  <a:srgbClr val="FFFF00"/>
                </a:solidFill>
              </a:rPr>
              <a:t>大智路</a:t>
            </a:r>
          </a:p>
        </p:txBody>
      </p:sp>
    </p:spTree>
    <p:extLst>
      <p:ext uri="{BB962C8B-B14F-4D97-AF65-F5344CB8AC3E}">
        <p14:creationId xmlns:p14="http://schemas.microsoft.com/office/powerpoint/2010/main" val="32994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FE26C2A3-1AC3-40ED-B84B-8F313058290D}" type="slidenum">
              <a:rPr lang="en-US" altLang="zh-TW" smtClean="0"/>
              <a:pPr>
                <a:defRPr/>
              </a:pPr>
              <a:t>12</a:t>
            </a:fld>
            <a:endParaRPr lang="en-US" altLang="zh-TW"/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 bwMode="auto">
          <a:xfrm>
            <a:off x="395288" y="765175"/>
            <a:ext cx="8075612" cy="431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503238" indent="-441325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3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TW" sz="2000" b="1" dirty="0" smtClean="0">
                <a:solidFill>
                  <a:srgbClr val="A50021"/>
                </a:solidFill>
                <a:latin typeface="SimHei" panose="02010609060101010101" pitchFamily="49" charset="-122"/>
              </a:rPr>
              <a:t>4.</a:t>
            </a:r>
            <a:r>
              <a:rPr lang="zh-TW" altLang="en-US" sz="2000" b="1" dirty="0" smtClean="0">
                <a:solidFill>
                  <a:srgbClr val="A50021"/>
                </a:solidFill>
                <a:latin typeface="SimHei" panose="02010609060101010101" pitchFamily="49" charset="-122"/>
              </a:rPr>
              <a:t>比較標的選取：</a:t>
            </a:r>
            <a:endParaRPr lang="en-US" altLang="zh-TW" sz="2000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en-US" altLang="zh-TW" sz="2000" u="sng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Rectangle 2"/>
          <p:cNvSpPr txBox="1">
            <a:spLocks noChangeArrowheads="1"/>
          </p:cNvSpPr>
          <p:nvPr/>
        </p:nvSpPr>
        <p:spPr bwMode="auto">
          <a:xfrm>
            <a:off x="395288" y="260350"/>
            <a:ext cx="8075612" cy="620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3000" b="1" dirty="0" smtClean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貳、預定徵收地區市價查估作業情形</a:t>
            </a:r>
            <a:endParaRPr lang="en-US" altLang="zh-TW" sz="3000" b="1" dirty="0" smtClean="0">
              <a:solidFill>
                <a:srgbClr val="000066"/>
              </a:solidFill>
              <a:latin typeface="SimHei" pitchFamily="49" charset="-122"/>
              <a:ea typeface="SimHei" pitchFamily="49" charset="-122"/>
            </a:endParaRPr>
          </a:p>
        </p:txBody>
      </p:sp>
      <p:pic>
        <p:nvPicPr>
          <p:cNvPr id="36" name="圖片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3131" y="1385740"/>
            <a:ext cx="6415088" cy="481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文字方塊 21"/>
          <p:cNvSpPr txBox="1">
            <a:spLocks noChangeArrowheads="1"/>
          </p:cNvSpPr>
          <p:nvPr/>
        </p:nvSpPr>
        <p:spPr bwMode="auto">
          <a:xfrm>
            <a:off x="6604323" y="4674036"/>
            <a:ext cx="2411759" cy="1200329"/>
          </a:xfrm>
          <a:prstGeom prst="rect">
            <a:avLst/>
          </a:prstGeom>
          <a:solidFill>
            <a:srgbClr val="AFEA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買賣實例</a:t>
            </a:r>
            <a:r>
              <a:rPr lang="en-US" altLang="zh-TW" sz="1200" b="1" dirty="0" smtClean="0">
                <a:latin typeface="微軟正黑體" pitchFamily="34" charset="-120"/>
                <a:ea typeface="微軟正黑體" pitchFamily="34" charset="-120"/>
              </a:rPr>
              <a:t>2_P902-00</a:t>
            </a:r>
            <a:endParaRPr lang="en-US" altLang="zh-TW" sz="12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新化區洋子</a:t>
            </a:r>
            <a:r>
              <a:rPr lang="zh-TW" altLang="en-US" sz="1200" b="1" dirty="0" smtClean="0">
                <a:latin typeface="微軟正黑體" pitchFamily="34" charset="-120"/>
                <a:ea typeface="微軟正黑體" pitchFamily="34" charset="-120"/>
              </a:rPr>
              <a:t>段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○○</a:t>
            </a:r>
            <a:r>
              <a:rPr lang="zh-TW" altLang="en-US" sz="1200" b="1" dirty="0" smtClean="0">
                <a:latin typeface="微軟正黑體" pitchFamily="34" charset="-120"/>
                <a:ea typeface="微軟正黑體" pitchFamily="34" charset="-120"/>
              </a:rPr>
              <a:t>地</a:t>
            </a:r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號</a:t>
            </a:r>
            <a:endParaRPr lang="en-US" altLang="zh-TW" sz="12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特定農業區農牧用地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)</a:t>
            </a:r>
          </a:p>
          <a:p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土地面積：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○○m</a:t>
            </a:r>
            <a:r>
              <a:rPr lang="en-US" altLang="zh-TW" sz="1200" b="1" baseline="30000" dirty="0">
                <a:latin typeface="微軟正黑體" pitchFamily="34" charset="-120"/>
                <a:ea typeface="微軟正黑體" pitchFamily="34" charset="-120"/>
              </a:rPr>
              <a:t>2</a:t>
            </a:r>
            <a:endParaRPr lang="en-US" altLang="zh-TW" sz="12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交易日期：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○○</a:t>
            </a:r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年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○○</a:t>
            </a:r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月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○○</a:t>
            </a:r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日</a:t>
            </a:r>
            <a:endParaRPr lang="en-US" altLang="zh-TW" sz="12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土地正常單價：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○○</a:t>
            </a:r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元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/m</a:t>
            </a:r>
            <a:r>
              <a:rPr lang="en-US" altLang="zh-TW" sz="1200" b="1" baseline="30000" dirty="0">
                <a:latin typeface="微軟正黑體" pitchFamily="34" charset="-120"/>
                <a:ea typeface="微軟正黑體" pitchFamily="34" charset="-120"/>
              </a:rPr>
              <a:t>2</a:t>
            </a:r>
          </a:p>
        </p:txBody>
      </p:sp>
      <p:sp>
        <p:nvSpPr>
          <p:cNvPr id="38" name="文字方塊 20"/>
          <p:cNvSpPr txBox="1">
            <a:spLocks noChangeArrowheads="1"/>
          </p:cNvSpPr>
          <p:nvPr/>
        </p:nvSpPr>
        <p:spPr bwMode="auto">
          <a:xfrm>
            <a:off x="7969619" y="4408487"/>
            <a:ext cx="1008062" cy="215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algn="ctr"/>
            <a:r>
              <a:rPr lang="zh-TW" altLang="en-US" sz="800">
                <a:latin typeface="微軟正黑體" pitchFamily="34" charset="-120"/>
                <a:ea typeface="微軟正黑體" pitchFamily="34" charset="-120"/>
              </a:rPr>
              <a:t>買賣實例</a:t>
            </a:r>
            <a:r>
              <a:rPr lang="en-US" altLang="zh-TW" sz="800">
                <a:latin typeface="微軟正黑體" pitchFamily="34" charset="-120"/>
                <a:ea typeface="微軟正黑體" pitchFamily="34" charset="-120"/>
              </a:rPr>
              <a:t>2</a:t>
            </a:r>
            <a:r>
              <a:rPr lang="zh-TW" altLang="en-US" sz="800">
                <a:latin typeface="微軟正黑體" pitchFamily="34" charset="-120"/>
                <a:ea typeface="微軟正黑體" pitchFamily="34" charset="-120"/>
              </a:rPr>
              <a:t>現況照</a:t>
            </a:r>
            <a:endParaRPr lang="en-US" altLang="zh-TW" sz="800" baseline="3000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879725" y="3214590"/>
            <a:ext cx="715768" cy="257369"/>
          </a:xfrm>
          <a:prstGeom prst="rect">
            <a:avLst/>
          </a:prstGeom>
          <a:noFill/>
        </p:spPr>
        <p:txBody>
          <a:bodyPr lIns="36000" tIns="36000" rIns="36000" bIns="3600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altLang="zh-TW" sz="1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ea typeface="新細明體" pitchFamily="18" charset="-120"/>
              </a:rPr>
              <a:t>P102-00</a:t>
            </a:r>
          </a:p>
        </p:txBody>
      </p:sp>
      <p:sp>
        <p:nvSpPr>
          <p:cNvPr id="40" name="手繪多邊形 39"/>
          <p:cNvSpPr/>
          <p:nvPr/>
        </p:nvSpPr>
        <p:spPr>
          <a:xfrm>
            <a:off x="2319706" y="2401740"/>
            <a:ext cx="596900" cy="260350"/>
          </a:xfrm>
          <a:custGeom>
            <a:avLst/>
            <a:gdLst>
              <a:gd name="connsiteX0" fmla="*/ 0 w 596900"/>
              <a:gd name="connsiteY0" fmla="*/ 149225 h 260350"/>
              <a:gd name="connsiteX1" fmla="*/ 565150 w 596900"/>
              <a:gd name="connsiteY1" fmla="*/ 0 h 260350"/>
              <a:gd name="connsiteX2" fmla="*/ 596900 w 596900"/>
              <a:gd name="connsiteY2" fmla="*/ 107950 h 260350"/>
              <a:gd name="connsiteX3" fmla="*/ 34925 w 596900"/>
              <a:gd name="connsiteY3" fmla="*/ 260350 h 260350"/>
              <a:gd name="connsiteX4" fmla="*/ 0 w 596900"/>
              <a:gd name="connsiteY4" fmla="*/ 149225 h 26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900" h="260350">
                <a:moveTo>
                  <a:pt x="0" y="149225"/>
                </a:moveTo>
                <a:lnTo>
                  <a:pt x="565150" y="0"/>
                </a:lnTo>
                <a:lnTo>
                  <a:pt x="596900" y="107950"/>
                </a:lnTo>
                <a:lnTo>
                  <a:pt x="34925" y="260350"/>
                </a:lnTo>
                <a:lnTo>
                  <a:pt x="0" y="149225"/>
                </a:lnTo>
                <a:close/>
              </a:path>
            </a:pathLst>
          </a:custGeom>
          <a:solidFill>
            <a:srgbClr val="CCEC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1" name="手繪多邊形 40"/>
          <p:cNvSpPr/>
          <p:nvPr/>
        </p:nvSpPr>
        <p:spPr>
          <a:xfrm>
            <a:off x="1536700" y="2062162"/>
            <a:ext cx="3238500" cy="3371850"/>
          </a:xfrm>
          <a:custGeom>
            <a:avLst/>
            <a:gdLst>
              <a:gd name="connsiteX0" fmla="*/ 0 w 3238500"/>
              <a:gd name="connsiteY0" fmla="*/ 361950 h 3371850"/>
              <a:gd name="connsiteX1" fmla="*/ 787400 w 3238500"/>
              <a:gd name="connsiteY1" fmla="*/ 3371850 h 3371850"/>
              <a:gd name="connsiteX2" fmla="*/ 1149350 w 3238500"/>
              <a:gd name="connsiteY2" fmla="*/ 3302000 h 3371850"/>
              <a:gd name="connsiteX3" fmla="*/ 1225550 w 3238500"/>
              <a:gd name="connsiteY3" fmla="*/ 3251200 h 3371850"/>
              <a:gd name="connsiteX4" fmla="*/ 1333500 w 3238500"/>
              <a:gd name="connsiteY4" fmla="*/ 3263900 h 3371850"/>
              <a:gd name="connsiteX5" fmla="*/ 1574800 w 3238500"/>
              <a:gd name="connsiteY5" fmla="*/ 3194050 h 3371850"/>
              <a:gd name="connsiteX6" fmla="*/ 1651000 w 3238500"/>
              <a:gd name="connsiteY6" fmla="*/ 3143250 h 3371850"/>
              <a:gd name="connsiteX7" fmla="*/ 1549400 w 3238500"/>
              <a:gd name="connsiteY7" fmla="*/ 2686050 h 3371850"/>
              <a:gd name="connsiteX8" fmla="*/ 1682750 w 3238500"/>
              <a:gd name="connsiteY8" fmla="*/ 2667000 h 3371850"/>
              <a:gd name="connsiteX9" fmla="*/ 1714500 w 3238500"/>
              <a:gd name="connsiteY9" fmla="*/ 2647950 h 3371850"/>
              <a:gd name="connsiteX10" fmla="*/ 2038350 w 3238500"/>
              <a:gd name="connsiteY10" fmla="*/ 2609850 h 3371850"/>
              <a:gd name="connsiteX11" fmla="*/ 2139950 w 3238500"/>
              <a:gd name="connsiteY11" fmla="*/ 2622550 h 3371850"/>
              <a:gd name="connsiteX12" fmla="*/ 2216150 w 3238500"/>
              <a:gd name="connsiteY12" fmla="*/ 2844800 h 3371850"/>
              <a:gd name="connsiteX13" fmla="*/ 2578100 w 3238500"/>
              <a:gd name="connsiteY13" fmla="*/ 2622550 h 3371850"/>
              <a:gd name="connsiteX14" fmla="*/ 2660650 w 3238500"/>
              <a:gd name="connsiteY14" fmla="*/ 2565400 h 3371850"/>
              <a:gd name="connsiteX15" fmla="*/ 2698750 w 3238500"/>
              <a:gd name="connsiteY15" fmla="*/ 2489200 h 3371850"/>
              <a:gd name="connsiteX16" fmla="*/ 3009900 w 3238500"/>
              <a:gd name="connsiteY16" fmla="*/ 2044700 h 3371850"/>
              <a:gd name="connsiteX17" fmla="*/ 3187700 w 3238500"/>
              <a:gd name="connsiteY17" fmla="*/ 1828800 h 3371850"/>
              <a:gd name="connsiteX18" fmla="*/ 3194050 w 3238500"/>
              <a:gd name="connsiteY18" fmla="*/ 1073150 h 3371850"/>
              <a:gd name="connsiteX19" fmla="*/ 3200400 w 3238500"/>
              <a:gd name="connsiteY19" fmla="*/ 698500 h 3371850"/>
              <a:gd name="connsiteX20" fmla="*/ 3238500 w 3238500"/>
              <a:gd name="connsiteY20" fmla="*/ 635000 h 3371850"/>
              <a:gd name="connsiteX21" fmla="*/ 3105150 w 3238500"/>
              <a:gd name="connsiteY21" fmla="*/ 127000 h 3371850"/>
              <a:gd name="connsiteX22" fmla="*/ 2603500 w 3238500"/>
              <a:gd name="connsiteY22" fmla="*/ 260350 h 3371850"/>
              <a:gd name="connsiteX23" fmla="*/ 2540000 w 3238500"/>
              <a:gd name="connsiteY23" fmla="*/ 0 h 3371850"/>
              <a:gd name="connsiteX24" fmla="*/ 0 w 3238500"/>
              <a:gd name="connsiteY24" fmla="*/ 361950 h 3371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238500" h="3371850">
                <a:moveTo>
                  <a:pt x="0" y="361950"/>
                </a:moveTo>
                <a:lnTo>
                  <a:pt x="787400" y="3371850"/>
                </a:lnTo>
                <a:lnTo>
                  <a:pt x="1149350" y="3302000"/>
                </a:lnTo>
                <a:lnTo>
                  <a:pt x="1225550" y="3251200"/>
                </a:lnTo>
                <a:lnTo>
                  <a:pt x="1333500" y="3263900"/>
                </a:lnTo>
                <a:lnTo>
                  <a:pt x="1574800" y="3194050"/>
                </a:lnTo>
                <a:lnTo>
                  <a:pt x="1651000" y="3143250"/>
                </a:lnTo>
                <a:lnTo>
                  <a:pt x="1549400" y="2686050"/>
                </a:lnTo>
                <a:lnTo>
                  <a:pt x="1682750" y="2667000"/>
                </a:lnTo>
                <a:lnTo>
                  <a:pt x="1714500" y="2647950"/>
                </a:lnTo>
                <a:lnTo>
                  <a:pt x="2038350" y="2609850"/>
                </a:lnTo>
                <a:lnTo>
                  <a:pt x="2139950" y="2622550"/>
                </a:lnTo>
                <a:lnTo>
                  <a:pt x="2216150" y="2844800"/>
                </a:lnTo>
                <a:lnTo>
                  <a:pt x="2578100" y="2622550"/>
                </a:lnTo>
                <a:lnTo>
                  <a:pt x="2660650" y="2565400"/>
                </a:lnTo>
                <a:lnTo>
                  <a:pt x="2698750" y="2489200"/>
                </a:lnTo>
                <a:lnTo>
                  <a:pt x="3009900" y="2044700"/>
                </a:lnTo>
                <a:lnTo>
                  <a:pt x="3187700" y="1828800"/>
                </a:lnTo>
                <a:cubicBezTo>
                  <a:pt x="3189817" y="1576917"/>
                  <a:pt x="3191933" y="1325033"/>
                  <a:pt x="3194050" y="1073150"/>
                </a:cubicBezTo>
                <a:lnTo>
                  <a:pt x="3200400" y="698500"/>
                </a:lnTo>
                <a:lnTo>
                  <a:pt x="3238500" y="635000"/>
                </a:lnTo>
                <a:lnTo>
                  <a:pt x="3105150" y="127000"/>
                </a:lnTo>
                <a:lnTo>
                  <a:pt x="2603500" y="260350"/>
                </a:lnTo>
                <a:lnTo>
                  <a:pt x="2540000" y="0"/>
                </a:lnTo>
                <a:lnTo>
                  <a:pt x="0" y="361950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42" name="肘形接點 41"/>
          <p:cNvCxnSpPr/>
          <p:nvPr/>
        </p:nvCxnSpPr>
        <p:spPr>
          <a:xfrm>
            <a:off x="2725738" y="2500459"/>
            <a:ext cx="4360862" cy="695325"/>
          </a:xfrm>
          <a:prstGeom prst="bentConnector3">
            <a:avLst>
              <a:gd name="adj1" fmla="val -79"/>
            </a:avLst>
          </a:prstGeom>
          <a:ln w="15875">
            <a:solidFill>
              <a:srgbClr val="0000FF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圖片 1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53519" y="2439987"/>
            <a:ext cx="2879725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向下箭號 44"/>
          <p:cNvSpPr/>
          <p:nvPr/>
        </p:nvSpPr>
        <p:spPr>
          <a:xfrm rot="847461">
            <a:off x="7048075" y="3284439"/>
            <a:ext cx="287338" cy="2889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6" name="手繪多邊形 45"/>
          <p:cNvSpPr/>
          <p:nvPr/>
        </p:nvSpPr>
        <p:spPr>
          <a:xfrm>
            <a:off x="6200350" y="3465414"/>
            <a:ext cx="1924050" cy="488950"/>
          </a:xfrm>
          <a:custGeom>
            <a:avLst/>
            <a:gdLst>
              <a:gd name="connsiteX0" fmla="*/ 0 w 1924050"/>
              <a:gd name="connsiteY0" fmla="*/ 12700 h 488950"/>
              <a:gd name="connsiteX1" fmla="*/ 1219200 w 1924050"/>
              <a:gd name="connsiteY1" fmla="*/ 488950 h 488950"/>
              <a:gd name="connsiteX2" fmla="*/ 1924050 w 1924050"/>
              <a:gd name="connsiteY2" fmla="*/ 114300 h 488950"/>
              <a:gd name="connsiteX3" fmla="*/ 419100 w 1924050"/>
              <a:gd name="connsiteY3" fmla="*/ 0 h 488950"/>
              <a:gd name="connsiteX4" fmla="*/ 0 w 1924050"/>
              <a:gd name="connsiteY4" fmla="*/ 12700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4050" h="488950">
                <a:moveTo>
                  <a:pt x="0" y="12700"/>
                </a:moveTo>
                <a:lnTo>
                  <a:pt x="1219200" y="488950"/>
                </a:lnTo>
                <a:lnTo>
                  <a:pt x="1924050" y="114300"/>
                </a:lnTo>
                <a:lnTo>
                  <a:pt x="419100" y="0"/>
                </a:lnTo>
                <a:lnTo>
                  <a:pt x="0" y="12700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47" name="圖片 17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28913" y="1366838"/>
            <a:ext cx="176212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文字方塊 27"/>
          <p:cNvSpPr txBox="1">
            <a:spLocks noChangeArrowheads="1"/>
          </p:cNvSpPr>
          <p:nvPr/>
        </p:nvSpPr>
        <p:spPr bwMode="auto">
          <a:xfrm rot="2417929">
            <a:off x="4421188" y="4522788"/>
            <a:ext cx="3968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algn="ctr"/>
            <a:r>
              <a:rPr lang="zh-TW" altLang="en-US" sz="1200" b="1">
                <a:solidFill>
                  <a:srgbClr val="FFFF00"/>
                </a:solidFill>
              </a:rPr>
              <a:t>大智路</a:t>
            </a:r>
          </a:p>
        </p:txBody>
      </p:sp>
      <p:sp>
        <p:nvSpPr>
          <p:cNvPr id="49" name="文字方塊 48"/>
          <p:cNvSpPr txBox="1"/>
          <p:nvPr/>
        </p:nvSpPr>
        <p:spPr>
          <a:xfrm>
            <a:off x="5056188" y="1924050"/>
            <a:ext cx="1141412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TW" altLang="en-US" sz="1200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洋子聚落</a:t>
            </a:r>
          </a:p>
        </p:txBody>
      </p:sp>
      <p:sp>
        <p:nvSpPr>
          <p:cNvPr id="50" name="文字方塊 29"/>
          <p:cNvSpPr txBox="1">
            <a:spLocks noChangeArrowheads="1"/>
          </p:cNvSpPr>
          <p:nvPr/>
        </p:nvSpPr>
        <p:spPr bwMode="auto">
          <a:xfrm rot="21403130">
            <a:off x="982663" y="3787775"/>
            <a:ext cx="3968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algn="ctr"/>
            <a:r>
              <a:rPr lang="zh-TW" altLang="en-US" sz="1200" b="1"/>
              <a:t>高速鐵路</a:t>
            </a:r>
          </a:p>
        </p:txBody>
      </p:sp>
    </p:spTree>
    <p:extLst>
      <p:ext uri="{BB962C8B-B14F-4D97-AF65-F5344CB8AC3E}">
        <p14:creationId xmlns:p14="http://schemas.microsoft.com/office/powerpoint/2010/main" val="81285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投影片編號版面配置區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fld id="{7F4A7F7D-FDA2-4CBD-B8DB-4147C5270629}" type="slidenum">
              <a:rPr kumimoji="0" lang="en-US" altLang="zh-TW" sz="1200">
                <a:latin typeface="Garamond" pitchFamily="18" charset="0"/>
                <a:ea typeface="新細明體" charset="-120"/>
              </a:rPr>
              <a:pPr/>
              <a:t>13</a:t>
            </a:fld>
            <a:endParaRPr kumimoji="0" lang="en-US" altLang="zh-TW" sz="1200">
              <a:latin typeface="Garamond" pitchFamily="18" charset="0"/>
              <a:ea typeface="新細明體" charset="-12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5288" y="226442"/>
            <a:ext cx="8075613" cy="576263"/>
          </a:xfrm>
        </p:spPr>
        <p:txBody>
          <a:bodyPr/>
          <a:lstStyle/>
          <a:p>
            <a:pPr eaLnBrk="1" hangingPunct="1"/>
            <a:r>
              <a:rPr lang="zh-TW" altLang="en-US" sz="3000" b="1" dirty="0" smtClean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貳、預定徵收地區市價查估作業情形</a:t>
            </a:r>
            <a:endParaRPr lang="en-US" altLang="zh-TW" sz="3000" b="1" dirty="0" smtClean="0">
              <a:solidFill>
                <a:srgbClr val="000066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20484" name="Rectangle 3"/>
          <p:cNvSpPr txBox="1">
            <a:spLocks noChangeArrowheads="1"/>
          </p:cNvSpPr>
          <p:nvPr/>
        </p:nvSpPr>
        <p:spPr bwMode="auto">
          <a:xfrm>
            <a:off x="395288" y="746125"/>
            <a:ext cx="432072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03238" indent="-441325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6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zh-TW" sz="2000" b="1" dirty="0" smtClean="0">
                <a:solidFill>
                  <a:srgbClr val="A50021"/>
                </a:solidFill>
                <a:latin typeface="SimHei" pitchFamily="49" charset="-122"/>
              </a:rPr>
              <a:t>5.</a:t>
            </a:r>
            <a:r>
              <a:rPr lang="zh-TW" altLang="en-US" sz="2000" b="1" dirty="0">
                <a:solidFill>
                  <a:srgbClr val="A50021"/>
                </a:solidFill>
                <a:latin typeface="SimHei" pitchFamily="49" charset="-122"/>
              </a:rPr>
              <a:t>比準地選取及查估比準地地價：</a:t>
            </a:r>
            <a:endParaRPr lang="en-US" altLang="zh-TW" sz="2000" u="sng" dirty="0">
              <a:solidFill>
                <a:srgbClr val="C00000"/>
              </a:solidFill>
              <a:latin typeface="SimHei" pitchFamily="49" charset="-122"/>
            </a:endParaRPr>
          </a:p>
          <a:p>
            <a:pPr eaLnBrk="1" hangingPunct="1">
              <a:lnSpc>
                <a:spcPct val="95000"/>
              </a:lnSpc>
              <a:spcBef>
                <a:spcPts val="18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zh-TW" sz="2400" u="sng" dirty="0">
              <a:solidFill>
                <a:srgbClr val="C00000"/>
              </a:solidFill>
              <a:latin typeface="SimHei" pitchFamily="49" charset="-122"/>
            </a:endParaRPr>
          </a:p>
        </p:txBody>
      </p:sp>
      <p:graphicFrame>
        <p:nvGraphicFramePr>
          <p:cNvPr id="7" name="Group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455796"/>
              </p:ext>
            </p:extLst>
          </p:nvPr>
        </p:nvGraphicFramePr>
        <p:xfrm>
          <a:off x="539552" y="1316882"/>
          <a:ext cx="8460939" cy="4218019"/>
        </p:xfrm>
        <a:graphic>
          <a:graphicData uri="http://schemas.openxmlformats.org/drawingml/2006/table">
            <a:tbl>
              <a:tblPr/>
              <a:tblGrid>
                <a:gridCol w="756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80128906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011136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7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ts val="6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ts val="5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比準地 區段號</a:t>
                      </a: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7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ts val="6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ts val="5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比準地</a:t>
                      </a: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7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ts val="6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ts val="5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估算價格</a:t>
                      </a:r>
                      <a:endParaRPr kumimoji="0" lang="en-US" altLang="zh-TW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(</a:t>
                      </a: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元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/㎡)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7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ts val="6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ts val="5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分區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/</a:t>
                      </a: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用地</a:t>
                      </a: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實例編號</a:t>
                      </a: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實例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區段號</a:t>
                      </a: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單價</a:t>
                      </a:r>
                      <a:endParaRPr kumimoji="0" lang="en-US" altLang="zh-TW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(</a:t>
                      </a: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元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/㎡)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期日調整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(%)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區域因素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(%)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個別因素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(%)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權重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(%)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321"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P101-00</a:t>
                      </a: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 新化區竹子腳段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○○</a:t>
                      </a: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地號</a:t>
                      </a: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○○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特定農業區</a:t>
                      </a:r>
                      <a:endParaRPr kumimoji="0" lang="en-US" altLang="zh-TW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農牧用地</a:t>
                      </a: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1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P902-01</a:t>
                      </a: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○○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○○</a:t>
                      </a:r>
                      <a:endParaRPr kumimoji="0" lang="zh-TW" altLang="en-US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○○</a:t>
                      </a:r>
                      <a:endParaRPr kumimoji="0" lang="zh-TW" altLang="en-US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○○</a:t>
                      </a:r>
                      <a:endParaRPr kumimoji="0" lang="zh-TW" altLang="en-US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○○</a:t>
                      </a:r>
                      <a:endParaRPr kumimoji="0" lang="zh-TW" altLang="en-US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3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zh-TW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TW" altLang="en-US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2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P902-02</a:t>
                      </a: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○○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○○</a:t>
                      </a:r>
                      <a:endParaRPr kumimoji="0" lang="zh-TW" altLang="en-US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○○</a:t>
                      </a:r>
                      <a:endParaRPr kumimoji="0" lang="zh-TW" altLang="en-US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○○</a:t>
                      </a:r>
                      <a:endParaRPr kumimoji="0" lang="zh-TW" altLang="en-US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○○</a:t>
                      </a:r>
                      <a:endParaRPr kumimoji="0" lang="zh-TW" altLang="en-US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zh-TW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TW" altLang="en-US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86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TW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TW" altLang="en-US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8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zh-TW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TW" altLang="en-US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8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zh-TW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TW" altLang="en-US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86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zh-TW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TW" altLang="en-US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8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zh-TW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TW" altLang="en-US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8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zh-TW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TW" altLang="en-US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矩形圖說文字 7"/>
          <p:cNvSpPr/>
          <p:nvPr/>
        </p:nvSpPr>
        <p:spPr>
          <a:xfrm>
            <a:off x="9972600" y="1628800"/>
            <a:ext cx="1944216" cy="1872208"/>
          </a:xfrm>
          <a:prstGeom prst="wedgeRectCallout">
            <a:avLst>
              <a:gd name="adj1" fmla="val -169585"/>
              <a:gd name="adj2" fmla="val 5575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dirty="0" smtClean="0"/>
              <a:t>多餘列自行刪除，列不足時自行新增列或表格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48489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FE26C2A3-1AC3-40ED-B84B-8F313058290D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  <p:sp>
        <p:nvSpPr>
          <p:cNvPr id="26" name="Rectangle 2"/>
          <p:cNvSpPr txBox="1">
            <a:spLocks noChangeArrowheads="1"/>
          </p:cNvSpPr>
          <p:nvPr/>
        </p:nvSpPr>
        <p:spPr bwMode="auto">
          <a:xfrm>
            <a:off x="395288" y="260350"/>
            <a:ext cx="8075612" cy="5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3000" b="1" smtClean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貳、預定徵收地區市價查估作業情形</a:t>
            </a:r>
            <a:endParaRPr lang="en-US" altLang="zh-TW" sz="3000" b="1" dirty="0" smtClean="0">
              <a:solidFill>
                <a:srgbClr val="000066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395288" y="746125"/>
            <a:ext cx="432072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03238" indent="-441325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6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zh-TW" sz="2000" b="1" dirty="0" smtClean="0">
                <a:solidFill>
                  <a:srgbClr val="A50021"/>
                </a:solidFill>
                <a:latin typeface="SimHei" pitchFamily="49" charset="-122"/>
              </a:rPr>
              <a:t>5.</a:t>
            </a:r>
            <a:r>
              <a:rPr lang="zh-TW" altLang="en-US" sz="2000" b="1" dirty="0">
                <a:solidFill>
                  <a:srgbClr val="A50021"/>
                </a:solidFill>
                <a:latin typeface="SimHei" pitchFamily="49" charset="-122"/>
              </a:rPr>
              <a:t>比準地選取及查估比準地地價：</a:t>
            </a:r>
            <a:endParaRPr lang="en-US" altLang="zh-TW" sz="2000" u="sng" dirty="0">
              <a:solidFill>
                <a:srgbClr val="C00000"/>
              </a:solidFill>
              <a:latin typeface="SimHei" pitchFamily="49" charset="-122"/>
            </a:endParaRPr>
          </a:p>
          <a:p>
            <a:pPr eaLnBrk="1" hangingPunct="1">
              <a:lnSpc>
                <a:spcPct val="95000"/>
              </a:lnSpc>
              <a:spcBef>
                <a:spcPts val="18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zh-TW" sz="2400" u="sng" dirty="0">
              <a:solidFill>
                <a:srgbClr val="C00000"/>
              </a:solidFill>
              <a:latin typeface="SimHei" pitchFamily="49" charset="-122"/>
            </a:endParaRPr>
          </a:p>
        </p:txBody>
      </p:sp>
      <p:pic>
        <p:nvPicPr>
          <p:cNvPr id="23" name="圖片 2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0191" y="1265953"/>
            <a:ext cx="5792788" cy="482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25"/>
          <p:cNvSpPr txBox="1">
            <a:spLocks noChangeArrowheads="1"/>
          </p:cNvSpPr>
          <p:nvPr/>
        </p:nvSpPr>
        <p:spPr bwMode="auto">
          <a:xfrm rot="2417929">
            <a:off x="2193904" y="2737566"/>
            <a:ext cx="3032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algn="ctr"/>
            <a:r>
              <a:rPr lang="zh-TW" altLang="en-US" sz="1200" b="1">
                <a:solidFill>
                  <a:srgbClr val="FFFF00"/>
                </a:solidFill>
              </a:rPr>
              <a:t>大智路</a:t>
            </a:r>
          </a:p>
        </p:txBody>
      </p:sp>
      <p:sp>
        <p:nvSpPr>
          <p:cNvPr id="29" name="文字方塊 26"/>
          <p:cNvSpPr txBox="1">
            <a:spLocks noChangeArrowheads="1"/>
          </p:cNvSpPr>
          <p:nvPr/>
        </p:nvSpPr>
        <p:spPr bwMode="auto">
          <a:xfrm rot="2417929">
            <a:off x="5297466" y="2547066"/>
            <a:ext cx="40957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algn="ctr"/>
            <a:r>
              <a:rPr lang="zh-TW" altLang="en-US" sz="1200" b="1">
                <a:solidFill>
                  <a:srgbClr val="FFFF00"/>
                </a:solidFill>
              </a:rPr>
              <a:t>嘉南大圳南幹線</a:t>
            </a:r>
          </a:p>
        </p:txBody>
      </p:sp>
      <p:sp>
        <p:nvSpPr>
          <p:cNvPr id="30" name="手繪多邊形 29"/>
          <p:cNvSpPr/>
          <p:nvPr/>
        </p:nvSpPr>
        <p:spPr>
          <a:xfrm>
            <a:off x="4005241" y="4144091"/>
            <a:ext cx="328613" cy="334962"/>
          </a:xfrm>
          <a:custGeom>
            <a:avLst/>
            <a:gdLst>
              <a:gd name="connsiteX0" fmla="*/ 85725 w 250031"/>
              <a:gd name="connsiteY0" fmla="*/ 0 h 254794"/>
              <a:gd name="connsiteX1" fmla="*/ 0 w 250031"/>
              <a:gd name="connsiteY1" fmla="*/ 109537 h 254794"/>
              <a:gd name="connsiteX2" fmla="*/ 157162 w 250031"/>
              <a:gd name="connsiteY2" fmla="*/ 254794 h 254794"/>
              <a:gd name="connsiteX3" fmla="*/ 250031 w 250031"/>
              <a:gd name="connsiteY3" fmla="*/ 147637 h 254794"/>
              <a:gd name="connsiteX4" fmla="*/ 85725 w 250031"/>
              <a:gd name="connsiteY4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31" h="254794">
                <a:moveTo>
                  <a:pt x="85725" y="0"/>
                </a:moveTo>
                <a:lnTo>
                  <a:pt x="0" y="109537"/>
                </a:lnTo>
                <a:lnTo>
                  <a:pt x="157162" y="254794"/>
                </a:lnTo>
                <a:lnTo>
                  <a:pt x="250031" y="147637"/>
                </a:lnTo>
                <a:lnTo>
                  <a:pt x="85725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31" name="圖片 1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43441" y="4920378"/>
            <a:ext cx="544513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圖片 3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35104" y="1556466"/>
            <a:ext cx="5445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手繪多邊形 32"/>
          <p:cNvSpPr/>
          <p:nvPr/>
        </p:nvSpPr>
        <p:spPr>
          <a:xfrm>
            <a:off x="2568554" y="2777253"/>
            <a:ext cx="2074862" cy="1784350"/>
          </a:xfrm>
          <a:custGeom>
            <a:avLst/>
            <a:gdLst>
              <a:gd name="connsiteX0" fmla="*/ 0 w 1393032"/>
              <a:gd name="connsiteY0" fmla="*/ 261937 h 1202531"/>
              <a:gd name="connsiteX1" fmla="*/ 1100138 w 1393032"/>
              <a:gd name="connsiteY1" fmla="*/ 1200150 h 1202531"/>
              <a:gd name="connsiteX2" fmla="*/ 1133475 w 1393032"/>
              <a:gd name="connsiteY2" fmla="*/ 1178719 h 1202531"/>
              <a:gd name="connsiteX3" fmla="*/ 1178719 w 1393032"/>
              <a:gd name="connsiteY3" fmla="*/ 1202531 h 1202531"/>
              <a:gd name="connsiteX4" fmla="*/ 1393032 w 1393032"/>
              <a:gd name="connsiteY4" fmla="*/ 935831 h 1202531"/>
              <a:gd name="connsiteX5" fmla="*/ 1335882 w 1393032"/>
              <a:gd name="connsiteY5" fmla="*/ 912019 h 1202531"/>
              <a:gd name="connsiteX6" fmla="*/ 1328738 w 1393032"/>
              <a:gd name="connsiteY6" fmla="*/ 885825 h 1202531"/>
              <a:gd name="connsiteX7" fmla="*/ 207169 w 1393032"/>
              <a:gd name="connsiteY7" fmla="*/ 0 h 1202531"/>
              <a:gd name="connsiteX8" fmla="*/ 0 w 1393032"/>
              <a:gd name="connsiteY8" fmla="*/ 261937 h 1202531"/>
              <a:gd name="connsiteX0" fmla="*/ 0 w 1393032"/>
              <a:gd name="connsiteY0" fmla="*/ 261937 h 1202531"/>
              <a:gd name="connsiteX1" fmla="*/ 1100138 w 1393032"/>
              <a:gd name="connsiteY1" fmla="*/ 1200150 h 1202531"/>
              <a:gd name="connsiteX2" fmla="*/ 1133475 w 1393032"/>
              <a:gd name="connsiteY2" fmla="*/ 1178719 h 1202531"/>
              <a:gd name="connsiteX3" fmla="*/ 1178719 w 1393032"/>
              <a:gd name="connsiteY3" fmla="*/ 1202531 h 1202531"/>
              <a:gd name="connsiteX4" fmla="*/ 1393032 w 1393032"/>
              <a:gd name="connsiteY4" fmla="*/ 935831 h 1202531"/>
              <a:gd name="connsiteX5" fmla="*/ 1335882 w 1393032"/>
              <a:gd name="connsiteY5" fmla="*/ 912019 h 1202531"/>
              <a:gd name="connsiteX6" fmla="*/ 1328738 w 1393032"/>
              <a:gd name="connsiteY6" fmla="*/ 885825 h 1202531"/>
              <a:gd name="connsiteX7" fmla="*/ 796423 w 1393032"/>
              <a:gd name="connsiteY7" fmla="*/ 464126 h 1202531"/>
              <a:gd name="connsiteX8" fmla="*/ 207169 w 1393032"/>
              <a:gd name="connsiteY8" fmla="*/ 0 h 1202531"/>
              <a:gd name="connsiteX9" fmla="*/ 0 w 1393032"/>
              <a:gd name="connsiteY9" fmla="*/ 261937 h 1202531"/>
              <a:gd name="connsiteX0" fmla="*/ 0 w 1393032"/>
              <a:gd name="connsiteY0" fmla="*/ 261937 h 1202531"/>
              <a:gd name="connsiteX1" fmla="*/ 1100138 w 1393032"/>
              <a:gd name="connsiteY1" fmla="*/ 1200150 h 1202531"/>
              <a:gd name="connsiteX2" fmla="*/ 1133475 w 1393032"/>
              <a:gd name="connsiteY2" fmla="*/ 1178719 h 1202531"/>
              <a:gd name="connsiteX3" fmla="*/ 1178719 w 1393032"/>
              <a:gd name="connsiteY3" fmla="*/ 1202531 h 1202531"/>
              <a:gd name="connsiteX4" fmla="*/ 1393032 w 1393032"/>
              <a:gd name="connsiteY4" fmla="*/ 935831 h 1202531"/>
              <a:gd name="connsiteX5" fmla="*/ 1335882 w 1393032"/>
              <a:gd name="connsiteY5" fmla="*/ 912019 h 1202531"/>
              <a:gd name="connsiteX6" fmla="*/ 1328738 w 1393032"/>
              <a:gd name="connsiteY6" fmla="*/ 885825 h 1202531"/>
              <a:gd name="connsiteX7" fmla="*/ 802817 w 1393032"/>
              <a:gd name="connsiteY7" fmla="*/ 441747 h 1202531"/>
              <a:gd name="connsiteX8" fmla="*/ 207169 w 1393032"/>
              <a:gd name="connsiteY8" fmla="*/ 0 h 1202531"/>
              <a:gd name="connsiteX9" fmla="*/ 0 w 1393032"/>
              <a:gd name="connsiteY9" fmla="*/ 261937 h 1202531"/>
              <a:gd name="connsiteX0" fmla="*/ 0 w 1393032"/>
              <a:gd name="connsiteY0" fmla="*/ 261937 h 1202531"/>
              <a:gd name="connsiteX1" fmla="*/ 1100138 w 1393032"/>
              <a:gd name="connsiteY1" fmla="*/ 1200150 h 1202531"/>
              <a:gd name="connsiteX2" fmla="*/ 1133475 w 1393032"/>
              <a:gd name="connsiteY2" fmla="*/ 1178719 h 1202531"/>
              <a:gd name="connsiteX3" fmla="*/ 1178719 w 1393032"/>
              <a:gd name="connsiteY3" fmla="*/ 1202531 h 1202531"/>
              <a:gd name="connsiteX4" fmla="*/ 1393032 w 1393032"/>
              <a:gd name="connsiteY4" fmla="*/ 935831 h 1202531"/>
              <a:gd name="connsiteX5" fmla="*/ 1335882 w 1393032"/>
              <a:gd name="connsiteY5" fmla="*/ 912019 h 1202531"/>
              <a:gd name="connsiteX6" fmla="*/ 1328738 w 1393032"/>
              <a:gd name="connsiteY6" fmla="*/ 885825 h 1202531"/>
              <a:gd name="connsiteX7" fmla="*/ 802817 w 1393032"/>
              <a:gd name="connsiteY7" fmla="*/ 441747 h 1202531"/>
              <a:gd name="connsiteX8" fmla="*/ 759658 w 1393032"/>
              <a:gd name="connsiteY8" fmla="*/ 414573 h 1202531"/>
              <a:gd name="connsiteX9" fmla="*/ 207169 w 1393032"/>
              <a:gd name="connsiteY9" fmla="*/ 0 h 1202531"/>
              <a:gd name="connsiteX10" fmla="*/ 0 w 1393032"/>
              <a:gd name="connsiteY10" fmla="*/ 261937 h 1202531"/>
              <a:gd name="connsiteX0" fmla="*/ 0 w 1393032"/>
              <a:gd name="connsiteY0" fmla="*/ 261937 h 1202531"/>
              <a:gd name="connsiteX1" fmla="*/ 1100138 w 1393032"/>
              <a:gd name="connsiteY1" fmla="*/ 1200150 h 1202531"/>
              <a:gd name="connsiteX2" fmla="*/ 1133475 w 1393032"/>
              <a:gd name="connsiteY2" fmla="*/ 1178719 h 1202531"/>
              <a:gd name="connsiteX3" fmla="*/ 1178719 w 1393032"/>
              <a:gd name="connsiteY3" fmla="*/ 1202531 h 1202531"/>
              <a:gd name="connsiteX4" fmla="*/ 1393032 w 1393032"/>
              <a:gd name="connsiteY4" fmla="*/ 935831 h 1202531"/>
              <a:gd name="connsiteX5" fmla="*/ 1335882 w 1393032"/>
              <a:gd name="connsiteY5" fmla="*/ 912019 h 1202531"/>
              <a:gd name="connsiteX6" fmla="*/ 1328738 w 1393032"/>
              <a:gd name="connsiteY6" fmla="*/ 885825 h 1202531"/>
              <a:gd name="connsiteX7" fmla="*/ 802817 w 1393032"/>
              <a:gd name="connsiteY7" fmla="*/ 441747 h 1202531"/>
              <a:gd name="connsiteX8" fmla="*/ 770848 w 1393032"/>
              <a:gd name="connsiteY8" fmla="*/ 480110 h 1202531"/>
              <a:gd name="connsiteX9" fmla="*/ 207169 w 1393032"/>
              <a:gd name="connsiteY9" fmla="*/ 0 h 1202531"/>
              <a:gd name="connsiteX10" fmla="*/ 0 w 1393032"/>
              <a:gd name="connsiteY10" fmla="*/ 261937 h 1202531"/>
              <a:gd name="connsiteX0" fmla="*/ 0 w 1393032"/>
              <a:gd name="connsiteY0" fmla="*/ 261937 h 1202531"/>
              <a:gd name="connsiteX1" fmla="*/ 1100138 w 1393032"/>
              <a:gd name="connsiteY1" fmla="*/ 1200150 h 1202531"/>
              <a:gd name="connsiteX2" fmla="*/ 1133475 w 1393032"/>
              <a:gd name="connsiteY2" fmla="*/ 1178719 h 1202531"/>
              <a:gd name="connsiteX3" fmla="*/ 1178719 w 1393032"/>
              <a:gd name="connsiteY3" fmla="*/ 1202531 h 1202531"/>
              <a:gd name="connsiteX4" fmla="*/ 1393032 w 1393032"/>
              <a:gd name="connsiteY4" fmla="*/ 935831 h 1202531"/>
              <a:gd name="connsiteX5" fmla="*/ 1335882 w 1393032"/>
              <a:gd name="connsiteY5" fmla="*/ 912019 h 1202531"/>
              <a:gd name="connsiteX6" fmla="*/ 1328738 w 1393032"/>
              <a:gd name="connsiteY6" fmla="*/ 885825 h 1202531"/>
              <a:gd name="connsiteX7" fmla="*/ 793227 w 1393032"/>
              <a:gd name="connsiteY7" fmla="*/ 433755 h 1202531"/>
              <a:gd name="connsiteX8" fmla="*/ 770848 w 1393032"/>
              <a:gd name="connsiteY8" fmla="*/ 480110 h 1202531"/>
              <a:gd name="connsiteX9" fmla="*/ 207169 w 1393032"/>
              <a:gd name="connsiteY9" fmla="*/ 0 h 1202531"/>
              <a:gd name="connsiteX10" fmla="*/ 0 w 1393032"/>
              <a:gd name="connsiteY10" fmla="*/ 261937 h 1202531"/>
              <a:gd name="connsiteX0" fmla="*/ 0 w 1393032"/>
              <a:gd name="connsiteY0" fmla="*/ 261937 h 1202531"/>
              <a:gd name="connsiteX1" fmla="*/ 1100138 w 1393032"/>
              <a:gd name="connsiteY1" fmla="*/ 1200150 h 1202531"/>
              <a:gd name="connsiteX2" fmla="*/ 1133475 w 1393032"/>
              <a:gd name="connsiteY2" fmla="*/ 1178719 h 1202531"/>
              <a:gd name="connsiteX3" fmla="*/ 1178719 w 1393032"/>
              <a:gd name="connsiteY3" fmla="*/ 1202531 h 1202531"/>
              <a:gd name="connsiteX4" fmla="*/ 1393032 w 1393032"/>
              <a:gd name="connsiteY4" fmla="*/ 935831 h 1202531"/>
              <a:gd name="connsiteX5" fmla="*/ 1335882 w 1393032"/>
              <a:gd name="connsiteY5" fmla="*/ 912019 h 1202531"/>
              <a:gd name="connsiteX6" fmla="*/ 1328738 w 1393032"/>
              <a:gd name="connsiteY6" fmla="*/ 885825 h 1202531"/>
              <a:gd name="connsiteX7" fmla="*/ 793227 w 1393032"/>
              <a:gd name="connsiteY7" fmla="*/ 433755 h 1202531"/>
              <a:gd name="connsiteX8" fmla="*/ 761258 w 1393032"/>
              <a:gd name="connsiteY8" fmla="*/ 468921 h 1202531"/>
              <a:gd name="connsiteX9" fmla="*/ 207169 w 1393032"/>
              <a:gd name="connsiteY9" fmla="*/ 0 h 1202531"/>
              <a:gd name="connsiteX10" fmla="*/ 0 w 1393032"/>
              <a:gd name="connsiteY10" fmla="*/ 261937 h 1202531"/>
              <a:gd name="connsiteX0" fmla="*/ 0 w 1393032"/>
              <a:gd name="connsiteY0" fmla="*/ 257141 h 1197735"/>
              <a:gd name="connsiteX1" fmla="*/ 1100138 w 1393032"/>
              <a:gd name="connsiteY1" fmla="*/ 1195354 h 1197735"/>
              <a:gd name="connsiteX2" fmla="*/ 1133475 w 1393032"/>
              <a:gd name="connsiteY2" fmla="*/ 1173923 h 1197735"/>
              <a:gd name="connsiteX3" fmla="*/ 1178719 w 1393032"/>
              <a:gd name="connsiteY3" fmla="*/ 1197735 h 1197735"/>
              <a:gd name="connsiteX4" fmla="*/ 1393032 w 1393032"/>
              <a:gd name="connsiteY4" fmla="*/ 931035 h 1197735"/>
              <a:gd name="connsiteX5" fmla="*/ 1335882 w 1393032"/>
              <a:gd name="connsiteY5" fmla="*/ 907223 h 1197735"/>
              <a:gd name="connsiteX6" fmla="*/ 1328738 w 1393032"/>
              <a:gd name="connsiteY6" fmla="*/ 881029 h 1197735"/>
              <a:gd name="connsiteX7" fmla="*/ 793227 w 1393032"/>
              <a:gd name="connsiteY7" fmla="*/ 428959 h 1197735"/>
              <a:gd name="connsiteX8" fmla="*/ 761258 w 1393032"/>
              <a:gd name="connsiteY8" fmla="*/ 464125 h 1197735"/>
              <a:gd name="connsiteX9" fmla="*/ 207169 w 1393032"/>
              <a:gd name="connsiteY9" fmla="*/ 0 h 1197735"/>
              <a:gd name="connsiteX10" fmla="*/ 0 w 1393032"/>
              <a:gd name="connsiteY10" fmla="*/ 257141 h 1197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93032" h="1197735">
                <a:moveTo>
                  <a:pt x="0" y="257141"/>
                </a:moveTo>
                <a:lnTo>
                  <a:pt x="1100138" y="1195354"/>
                </a:lnTo>
                <a:lnTo>
                  <a:pt x="1133475" y="1173923"/>
                </a:lnTo>
                <a:lnTo>
                  <a:pt x="1178719" y="1197735"/>
                </a:lnTo>
                <a:lnTo>
                  <a:pt x="1393032" y="931035"/>
                </a:lnTo>
                <a:lnTo>
                  <a:pt x="1335882" y="907223"/>
                </a:lnTo>
                <a:lnTo>
                  <a:pt x="1328738" y="881029"/>
                </a:lnTo>
                <a:lnTo>
                  <a:pt x="793227" y="428959"/>
                </a:lnTo>
                <a:lnTo>
                  <a:pt x="761258" y="464125"/>
                </a:lnTo>
                <a:lnTo>
                  <a:pt x="207169" y="0"/>
                </a:lnTo>
                <a:lnTo>
                  <a:pt x="0" y="257141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2645698" y="3244815"/>
            <a:ext cx="1075799" cy="257369"/>
          </a:xfrm>
          <a:prstGeom prst="rect">
            <a:avLst/>
          </a:prstGeom>
          <a:noFill/>
        </p:spPr>
        <p:txBody>
          <a:bodyPr lIns="36000" tIns="36000" rIns="36000" bIns="3600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altLang="zh-TW" sz="12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ea typeface="新細明體" pitchFamily="18" charset="-120"/>
              </a:rPr>
              <a:t>P101-00</a:t>
            </a:r>
            <a:endParaRPr lang="en-US" altLang="zh-TW" sz="1200" b="1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ea typeface="新細明體" pitchFamily="18" charset="-12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2285979" y="1875553"/>
            <a:ext cx="100965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TW" altLang="en-US" sz="11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竹子腳聚落</a:t>
            </a:r>
            <a:endParaRPr lang="en-US" altLang="zh-TW" sz="11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6" name="文字方塊 18"/>
          <p:cNvSpPr txBox="1">
            <a:spLocks noChangeArrowheads="1"/>
          </p:cNvSpPr>
          <p:nvPr/>
        </p:nvSpPr>
        <p:spPr bwMode="auto">
          <a:xfrm>
            <a:off x="6735741" y="3778966"/>
            <a:ext cx="2265363" cy="1374775"/>
          </a:xfrm>
          <a:prstGeom prst="rect">
            <a:avLst/>
          </a:prstGeom>
          <a:solidFill>
            <a:srgbClr val="7CFC7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eaLnBrk="1" hangingPunct="1">
              <a:lnSpc>
                <a:spcPts val="2000"/>
              </a:lnSpc>
            </a:pPr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比準地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_</a:t>
            </a:r>
            <a:r>
              <a:rPr lang="en-US" altLang="zh-TW" sz="1200" b="1" dirty="0" smtClean="0">
                <a:latin typeface="微軟正黑體" pitchFamily="34" charset="-120"/>
                <a:ea typeface="微軟正黑體" pitchFamily="34" charset="-120"/>
              </a:rPr>
              <a:t>P101-00</a:t>
            </a:r>
            <a:endParaRPr lang="en-US" altLang="zh-TW" sz="1200" b="1" dirty="0"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lnSpc>
                <a:spcPts val="1600"/>
              </a:lnSpc>
            </a:pPr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新化區竹子腳</a:t>
            </a:r>
            <a:r>
              <a:rPr lang="zh-TW" altLang="en-US" sz="1200" b="1" dirty="0" smtClean="0">
                <a:latin typeface="微軟正黑體" pitchFamily="34" charset="-120"/>
                <a:ea typeface="微軟正黑體" pitchFamily="34" charset="-120"/>
              </a:rPr>
              <a:t>段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○○</a:t>
            </a:r>
            <a:r>
              <a:rPr lang="zh-TW" altLang="en-US" sz="1200" b="1" dirty="0" smtClean="0">
                <a:latin typeface="微軟正黑體" pitchFamily="34" charset="-120"/>
                <a:ea typeface="微軟正黑體" pitchFamily="34" charset="-120"/>
              </a:rPr>
              <a:t>地</a:t>
            </a:r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號</a:t>
            </a:r>
            <a:endParaRPr lang="en-US" altLang="zh-TW" sz="1200" b="1" dirty="0"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特定農業區農牧用地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)</a:t>
            </a:r>
          </a:p>
          <a:p>
            <a:pPr eaLnBrk="1" hangingPunct="1">
              <a:lnSpc>
                <a:spcPts val="1600"/>
              </a:lnSpc>
            </a:pPr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土地面積</a:t>
            </a:r>
            <a:r>
              <a:rPr lang="zh-TW" altLang="en-US" sz="1200" b="1" dirty="0" smtClean="0"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○○m</a:t>
            </a:r>
            <a:r>
              <a:rPr lang="en-US" altLang="zh-TW" sz="1200" b="1" baseline="30000" dirty="0" smtClean="0">
                <a:latin typeface="微軟正黑體" pitchFamily="34" charset="-120"/>
                <a:ea typeface="微軟正黑體" pitchFamily="34" charset="-120"/>
              </a:rPr>
              <a:t>2</a:t>
            </a:r>
            <a:r>
              <a:rPr lang="zh-TW" altLang="en-US" sz="1200" b="1" baseline="300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endParaRPr lang="en-US" altLang="zh-TW" sz="1200" b="1" baseline="30000" dirty="0"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lnSpc>
                <a:spcPts val="1600"/>
              </a:lnSpc>
            </a:pP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分割前土地面積</a:t>
            </a:r>
            <a:r>
              <a:rPr lang="zh-TW" altLang="en-US" sz="1200" b="1" dirty="0" smtClean="0"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○○m</a:t>
            </a:r>
            <a:r>
              <a:rPr lang="en-US" altLang="zh-TW" sz="1200" b="1" baseline="30000" dirty="0" smtClean="0">
                <a:latin typeface="微軟正黑體" pitchFamily="34" charset="-120"/>
                <a:ea typeface="微軟正黑體" pitchFamily="34" charset="-120"/>
              </a:rPr>
              <a:t>2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)</a:t>
            </a:r>
          </a:p>
          <a:p>
            <a:pPr eaLnBrk="1" hangingPunct="1">
              <a:lnSpc>
                <a:spcPts val="1600"/>
              </a:lnSpc>
            </a:pPr>
            <a:r>
              <a:rPr lang="zh-TW" altLang="en-US" sz="1200" b="1" dirty="0">
                <a:latin typeface="微軟正黑體" pitchFamily="34" charset="-120"/>
                <a:ea typeface="微軟正黑體" pitchFamily="34" charset="-120"/>
              </a:rPr>
              <a:t>比準地地價</a:t>
            </a:r>
            <a:r>
              <a:rPr lang="zh-TW" altLang="en-US" sz="1200" b="1" dirty="0" smtClean="0"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TW" sz="1200" b="1" dirty="0" smtClean="0">
                <a:latin typeface="微軟正黑體" pitchFamily="34" charset="-120"/>
                <a:ea typeface="微軟正黑體" pitchFamily="34" charset="-120"/>
              </a:rPr>
              <a:t>○○</a:t>
            </a:r>
            <a:r>
              <a:rPr lang="zh-TW" altLang="en-US" sz="1200" b="1" dirty="0" smtClean="0">
                <a:latin typeface="微軟正黑體" pitchFamily="34" charset="-120"/>
                <a:ea typeface="微軟正黑體" pitchFamily="34" charset="-120"/>
              </a:rPr>
              <a:t>元</a:t>
            </a:r>
            <a:r>
              <a:rPr lang="en-US" altLang="zh-TW" sz="1200" b="1" dirty="0">
                <a:latin typeface="微軟正黑體" pitchFamily="34" charset="-120"/>
                <a:ea typeface="微軟正黑體" pitchFamily="34" charset="-120"/>
              </a:rPr>
              <a:t>/m</a:t>
            </a:r>
            <a:r>
              <a:rPr lang="en-US" altLang="zh-TW" sz="1200" b="1" baseline="30000" dirty="0">
                <a:latin typeface="微軟正黑體" pitchFamily="34" charset="-120"/>
                <a:ea typeface="微軟正黑體" pitchFamily="34" charset="-120"/>
              </a:rPr>
              <a:t>2</a:t>
            </a:r>
          </a:p>
        </p:txBody>
      </p:sp>
      <p:sp>
        <p:nvSpPr>
          <p:cNvPr id="37" name="文字方塊 20"/>
          <p:cNvSpPr txBox="1">
            <a:spLocks noChangeArrowheads="1"/>
          </p:cNvSpPr>
          <p:nvPr/>
        </p:nvSpPr>
        <p:spPr bwMode="auto">
          <a:xfrm>
            <a:off x="7775554" y="3464641"/>
            <a:ext cx="1200150" cy="215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algn="ctr" eaLnBrk="1" hangingPunct="1"/>
            <a:r>
              <a:rPr lang="en-US" altLang="zh-TW" sz="800" dirty="0" smtClean="0">
                <a:latin typeface="微軟正黑體" pitchFamily="34" charset="-120"/>
                <a:ea typeface="微軟正黑體" pitchFamily="34" charset="-120"/>
              </a:rPr>
              <a:t>P101-00</a:t>
            </a:r>
            <a:r>
              <a:rPr lang="zh-TW" altLang="en-US" sz="800" dirty="0">
                <a:latin typeface="微軟正黑體" pitchFamily="34" charset="-120"/>
                <a:ea typeface="微軟正黑體" pitchFamily="34" charset="-120"/>
              </a:rPr>
              <a:t>比準地現況照</a:t>
            </a:r>
            <a:endParaRPr lang="en-US" altLang="zh-TW" sz="800" baseline="30000" dirty="0">
              <a:latin typeface="微軟正黑體" pitchFamily="34" charset="-120"/>
              <a:ea typeface="微軟正黑體" pitchFamily="34" charset="-120"/>
            </a:endParaRPr>
          </a:p>
        </p:txBody>
      </p:sp>
      <p:cxnSp>
        <p:nvCxnSpPr>
          <p:cNvPr id="38" name="肘形接點 37"/>
          <p:cNvCxnSpPr/>
          <p:nvPr/>
        </p:nvCxnSpPr>
        <p:spPr>
          <a:xfrm flipV="1">
            <a:off x="4170341" y="2332753"/>
            <a:ext cx="2832100" cy="1979613"/>
          </a:xfrm>
          <a:prstGeom prst="bentConnector3">
            <a:avLst>
              <a:gd name="adj1" fmla="val 177"/>
            </a:avLst>
          </a:prstGeom>
          <a:ln w="15875">
            <a:solidFill>
              <a:srgbClr val="0000FF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群組 11"/>
          <p:cNvGrpSpPr>
            <a:grpSpLocks/>
          </p:cNvGrpSpPr>
          <p:nvPr/>
        </p:nvGrpSpPr>
        <p:grpSpPr bwMode="auto">
          <a:xfrm>
            <a:off x="6103916" y="1485028"/>
            <a:ext cx="2879725" cy="1903413"/>
            <a:chOff x="6092211" y="1258078"/>
            <a:chExt cx="2880000" cy="1902923"/>
          </a:xfrm>
        </p:grpSpPr>
        <p:pic>
          <p:nvPicPr>
            <p:cNvPr id="40" name="圖片 4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2211" y="1258078"/>
              <a:ext cx="2880000" cy="190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向下箭號 40"/>
            <p:cNvSpPr/>
            <p:nvPr/>
          </p:nvSpPr>
          <p:spPr>
            <a:xfrm rot="20947384">
              <a:off x="7052741" y="1461226"/>
              <a:ext cx="288953" cy="288851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2" name="手繪多邊形 41"/>
            <p:cNvSpPr/>
            <p:nvPr/>
          </p:nvSpPr>
          <p:spPr>
            <a:xfrm>
              <a:off x="6211285" y="2142088"/>
              <a:ext cx="2276692" cy="195212"/>
            </a:xfrm>
            <a:custGeom>
              <a:avLst/>
              <a:gdLst>
                <a:gd name="connsiteX0" fmla="*/ 2276475 w 2276475"/>
                <a:gd name="connsiteY0" fmla="*/ 0 h 195263"/>
                <a:gd name="connsiteX1" fmla="*/ 1414462 w 2276475"/>
                <a:gd name="connsiteY1" fmla="*/ 195263 h 195263"/>
                <a:gd name="connsiteX2" fmla="*/ 0 w 2276475"/>
                <a:gd name="connsiteY2" fmla="*/ 33338 h 195263"/>
                <a:gd name="connsiteX3" fmla="*/ 66675 w 2276475"/>
                <a:gd name="connsiteY3" fmla="*/ 14288 h 195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6475" h="195263">
                  <a:moveTo>
                    <a:pt x="2276475" y="0"/>
                  </a:moveTo>
                  <a:lnTo>
                    <a:pt x="1414462" y="195263"/>
                  </a:lnTo>
                  <a:lnTo>
                    <a:pt x="0" y="33338"/>
                  </a:lnTo>
                  <a:lnTo>
                    <a:pt x="66675" y="14288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220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圖片 1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9100" y="1464469"/>
            <a:ext cx="5792788" cy="482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FE26C2A3-1AC3-40ED-B84B-8F313058290D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  <p:sp>
        <p:nvSpPr>
          <p:cNvPr id="26" name="Rectangle 2"/>
          <p:cNvSpPr txBox="1">
            <a:spLocks noChangeArrowheads="1"/>
          </p:cNvSpPr>
          <p:nvPr/>
        </p:nvSpPr>
        <p:spPr bwMode="auto">
          <a:xfrm>
            <a:off x="395288" y="260350"/>
            <a:ext cx="8075612" cy="5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3000" b="1" smtClean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貳、預定徵收地區市價查估作業情形</a:t>
            </a:r>
            <a:endParaRPr lang="en-US" altLang="zh-TW" sz="3000" b="1" dirty="0" smtClean="0">
              <a:solidFill>
                <a:srgbClr val="000066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 bwMode="auto">
          <a:xfrm>
            <a:off x="395288" y="746125"/>
            <a:ext cx="807561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03238" indent="-441325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6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zh-TW" sz="2000" b="1" dirty="0" smtClean="0">
                <a:solidFill>
                  <a:srgbClr val="A50021"/>
                </a:solidFill>
                <a:latin typeface="SimHei" pitchFamily="49" charset="-122"/>
              </a:rPr>
              <a:t>5.</a:t>
            </a:r>
            <a:r>
              <a:rPr lang="zh-TW" altLang="en-US" sz="2000" b="1" dirty="0">
                <a:solidFill>
                  <a:srgbClr val="A50021"/>
                </a:solidFill>
                <a:latin typeface="SimHei" pitchFamily="49" charset="-122"/>
              </a:rPr>
              <a:t>比準地選取及查估比準地地價</a:t>
            </a:r>
            <a:r>
              <a:rPr lang="zh-TW" altLang="en-US" sz="2000" b="1" dirty="0" smtClean="0">
                <a:solidFill>
                  <a:srgbClr val="A50021"/>
                </a:solidFill>
                <a:latin typeface="SimHei" pitchFamily="49" charset="-122"/>
              </a:rPr>
              <a:t>：</a:t>
            </a:r>
            <a:r>
              <a:rPr lang="zh-TW" altLang="en-US" sz="2000" dirty="0" smtClean="0">
                <a:latin typeface="SimHei" pitchFamily="49" charset="-122"/>
              </a:rPr>
              <a:t>各區段地價分布情形</a:t>
            </a:r>
            <a:endParaRPr lang="en-US" altLang="zh-TW" sz="2000" u="sng" dirty="0">
              <a:latin typeface="SimHei" pitchFamily="49" charset="-122"/>
            </a:endParaRPr>
          </a:p>
          <a:p>
            <a:pPr eaLnBrk="1" hangingPunct="1">
              <a:lnSpc>
                <a:spcPct val="95000"/>
              </a:lnSpc>
              <a:spcBef>
                <a:spcPts val="18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zh-TW" sz="2400" u="sng" dirty="0">
              <a:solidFill>
                <a:srgbClr val="C00000"/>
              </a:solidFill>
              <a:latin typeface="SimHei" pitchFamily="49" charset="-122"/>
            </a:endParaRPr>
          </a:p>
        </p:txBody>
      </p:sp>
      <p:sp>
        <p:nvSpPr>
          <p:cNvPr id="40" name="矩形圖說文字 39"/>
          <p:cNvSpPr/>
          <p:nvPr/>
        </p:nvSpPr>
        <p:spPr>
          <a:xfrm>
            <a:off x="7202595" y="1468868"/>
            <a:ext cx="1944216" cy="3312367"/>
          </a:xfrm>
          <a:prstGeom prst="wedgeRectCallout">
            <a:avLst>
              <a:gd name="adj1" fmla="val -191460"/>
              <a:gd name="adj2" fmla="val -1362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dirty="0" smtClean="0"/>
              <a:t>本頁顯示各區段位置及價格分布，如區段僅</a:t>
            </a:r>
            <a:r>
              <a:rPr lang="en-US" altLang="zh-TW" dirty="0" smtClean="0"/>
              <a:t>1</a:t>
            </a:r>
            <a:r>
              <a:rPr lang="zh-TW" altLang="en-US" dirty="0" smtClean="0"/>
              <a:t>個，已可於前幾頁表達清楚，則本頁可免</a:t>
            </a:r>
            <a:endParaRPr lang="zh-TW" altLang="en-US" dirty="0"/>
          </a:p>
        </p:txBody>
      </p:sp>
      <p:sp>
        <p:nvSpPr>
          <p:cNvPr id="41" name="文字方塊 13"/>
          <p:cNvSpPr txBox="1">
            <a:spLocks noChangeArrowheads="1"/>
          </p:cNvSpPr>
          <p:nvPr/>
        </p:nvSpPr>
        <p:spPr bwMode="auto">
          <a:xfrm rot="2417929">
            <a:off x="3452813" y="2936082"/>
            <a:ext cx="3032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algn="ctr"/>
            <a:r>
              <a:rPr lang="zh-TW" altLang="en-US" sz="1200" b="1">
                <a:solidFill>
                  <a:srgbClr val="FFFF00"/>
                </a:solidFill>
              </a:rPr>
              <a:t>大智路</a:t>
            </a:r>
          </a:p>
        </p:txBody>
      </p:sp>
      <p:sp>
        <p:nvSpPr>
          <p:cNvPr id="42" name="文字方塊 14"/>
          <p:cNvSpPr txBox="1">
            <a:spLocks noChangeArrowheads="1"/>
          </p:cNvSpPr>
          <p:nvPr/>
        </p:nvSpPr>
        <p:spPr bwMode="auto">
          <a:xfrm rot="2417929">
            <a:off x="6556375" y="2745582"/>
            <a:ext cx="40957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algn="ctr"/>
            <a:r>
              <a:rPr lang="zh-TW" altLang="en-US" sz="1200" b="1" dirty="0">
                <a:solidFill>
                  <a:srgbClr val="FFFF00"/>
                </a:solidFill>
              </a:rPr>
              <a:t>嘉南大圳南幹線</a:t>
            </a:r>
          </a:p>
        </p:txBody>
      </p:sp>
      <p:sp>
        <p:nvSpPr>
          <p:cNvPr id="43" name="手繪多邊形 42"/>
          <p:cNvSpPr/>
          <p:nvPr/>
        </p:nvSpPr>
        <p:spPr>
          <a:xfrm>
            <a:off x="5264150" y="4342607"/>
            <a:ext cx="328613" cy="334962"/>
          </a:xfrm>
          <a:custGeom>
            <a:avLst/>
            <a:gdLst>
              <a:gd name="connsiteX0" fmla="*/ 85725 w 250031"/>
              <a:gd name="connsiteY0" fmla="*/ 0 h 254794"/>
              <a:gd name="connsiteX1" fmla="*/ 0 w 250031"/>
              <a:gd name="connsiteY1" fmla="*/ 109537 h 254794"/>
              <a:gd name="connsiteX2" fmla="*/ 157162 w 250031"/>
              <a:gd name="connsiteY2" fmla="*/ 254794 h 254794"/>
              <a:gd name="connsiteX3" fmla="*/ 250031 w 250031"/>
              <a:gd name="connsiteY3" fmla="*/ 147637 h 254794"/>
              <a:gd name="connsiteX4" fmla="*/ 85725 w 250031"/>
              <a:gd name="connsiteY4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31" h="254794">
                <a:moveTo>
                  <a:pt x="85725" y="0"/>
                </a:moveTo>
                <a:lnTo>
                  <a:pt x="0" y="109537"/>
                </a:lnTo>
                <a:lnTo>
                  <a:pt x="157162" y="254794"/>
                </a:lnTo>
                <a:lnTo>
                  <a:pt x="250031" y="147637"/>
                </a:lnTo>
                <a:lnTo>
                  <a:pt x="85725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44" name="圖片 1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02350" y="5118894"/>
            <a:ext cx="544513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圖片 1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94013" y="1754982"/>
            <a:ext cx="5445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手繪多邊形 45"/>
          <p:cNvSpPr/>
          <p:nvPr/>
        </p:nvSpPr>
        <p:spPr>
          <a:xfrm>
            <a:off x="3827463" y="2967832"/>
            <a:ext cx="2074862" cy="1792287"/>
          </a:xfrm>
          <a:custGeom>
            <a:avLst/>
            <a:gdLst>
              <a:gd name="connsiteX0" fmla="*/ 0 w 1393032"/>
              <a:gd name="connsiteY0" fmla="*/ 261937 h 1202531"/>
              <a:gd name="connsiteX1" fmla="*/ 1100138 w 1393032"/>
              <a:gd name="connsiteY1" fmla="*/ 1200150 h 1202531"/>
              <a:gd name="connsiteX2" fmla="*/ 1133475 w 1393032"/>
              <a:gd name="connsiteY2" fmla="*/ 1178719 h 1202531"/>
              <a:gd name="connsiteX3" fmla="*/ 1178719 w 1393032"/>
              <a:gd name="connsiteY3" fmla="*/ 1202531 h 1202531"/>
              <a:gd name="connsiteX4" fmla="*/ 1393032 w 1393032"/>
              <a:gd name="connsiteY4" fmla="*/ 935831 h 1202531"/>
              <a:gd name="connsiteX5" fmla="*/ 1335882 w 1393032"/>
              <a:gd name="connsiteY5" fmla="*/ 912019 h 1202531"/>
              <a:gd name="connsiteX6" fmla="*/ 1328738 w 1393032"/>
              <a:gd name="connsiteY6" fmla="*/ 885825 h 1202531"/>
              <a:gd name="connsiteX7" fmla="*/ 207169 w 1393032"/>
              <a:gd name="connsiteY7" fmla="*/ 0 h 1202531"/>
              <a:gd name="connsiteX8" fmla="*/ 0 w 1393032"/>
              <a:gd name="connsiteY8" fmla="*/ 261937 h 1202531"/>
              <a:gd name="connsiteX0" fmla="*/ 0 w 1393032"/>
              <a:gd name="connsiteY0" fmla="*/ 261937 h 1202531"/>
              <a:gd name="connsiteX1" fmla="*/ 1100138 w 1393032"/>
              <a:gd name="connsiteY1" fmla="*/ 1200150 h 1202531"/>
              <a:gd name="connsiteX2" fmla="*/ 1133475 w 1393032"/>
              <a:gd name="connsiteY2" fmla="*/ 1178719 h 1202531"/>
              <a:gd name="connsiteX3" fmla="*/ 1178719 w 1393032"/>
              <a:gd name="connsiteY3" fmla="*/ 1202531 h 1202531"/>
              <a:gd name="connsiteX4" fmla="*/ 1393032 w 1393032"/>
              <a:gd name="connsiteY4" fmla="*/ 935831 h 1202531"/>
              <a:gd name="connsiteX5" fmla="*/ 1335882 w 1393032"/>
              <a:gd name="connsiteY5" fmla="*/ 912019 h 1202531"/>
              <a:gd name="connsiteX6" fmla="*/ 1328738 w 1393032"/>
              <a:gd name="connsiteY6" fmla="*/ 885825 h 1202531"/>
              <a:gd name="connsiteX7" fmla="*/ 783635 w 1393032"/>
              <a:gd name="connsiteY7" fmla="*/ 452936 h 1202531"/>
              <a:gd name="connsiteX8" fmla="*/ 207169 w 1393032"/>
              <a:gd name="connsiteY8" fmla="*/ 0 h 1202531"/>
              <a:gd name="connsiteX9" fmla="*/ 0 w 1393032"/>
              <a:gd name="connsiteY9" fmla="*/ 261937 h 1202531"/>
              <a:gd name="connsiteX0" fmla="*/ 0 w 1393032"/>
              <a:gd name="connsiteY0" fmla="*/ 261937 h 1202531"/>
              <a:gd name="connsiteX1" fmla="*/ 1100138 w 1393032"/>
              <a:gd name="connsiteY1" fmla="*/ 1200150 h 1202531"/>
              <a:gd name="connsiteX2" fmla="*/ 1133475 w 1393032"/>
              <a:gd name="connsiteY2" fmla="*/ 1178719 h 1202531"/>
              <a:gd name="connsiteX3" fmla="*/ 1178719 w 1393032"/>
              <a:gd name="connsiteY3" fmla="*/ 1202531 h 1202531"/>
              <a:gd name="connsiteX4" fmla="*/ 1393032 w 1393032"/>
              <a:gd name="connsiteY4" fmla="*/ 935831 h 1202531"/>
              <a:gd name="connsiteX5" fmla="*/ 1335882 w 1393032"/>
              <a:gd name="connsiteY5" fmla="*/ 912019 h 1202531"/>
              <a:gd name="connsiteX6" fmla="*/ 1328738 w 1393032"/>
              <a:gd name="connsiteY6" fmla="*/ 885825 h 1202531"/>
              <a:gd name="connsiteX7" fmla="*/ 794824 w 1393032"/>
              <a:gd name="connsiteY7" fmla="*/ 427360 h 1202531"/>
              <a:gd name="connsiteX8" fmla="*/ 207169 w 1393032"/>
              <a:gd name="connsiteY8" fmla="*/ 0 h 1202531"/>
              <a:gd name="connsiteX9" fmla="*/ 0 w 1393032"/>
              <a:gd name="connsiteY9" fmla="*/ 261937 h 1202531"/>
              <a:gd name="connsiteX0" fmla="*/ 0 w 1393032"/>
              <a:gd name="connsiteY0" fmla="*/ 261937 h 1202531"/>
              <a:gd name="connsiteX1" fmla="*/ 1100138 w 1393032"/>
              <a:gd name="connsiteY1" fmla="*/ 1200150 h 1202531"/>
              <a:gd name="connsiteX2" fmla="*/ 1133475 w 1393032"/>
              <a:gd name="connsiteY2" fmla="*/ 1178719 h 1202531"/>
              <a:gd name="connsiteX3" fmla="*/ 1178719 w 1393032"/>
              <a:gd name="connsiteY3" fmla="*/ 1202531 h 1202531"/>
              <a:gd name="connsiteX4" fmla="*/ 1393032 w 1393032"/>
              <a:gd name="connsiteY4" fmla="*/ 935831 h 1202531"/>
              <a:gd name="connsiteX5" fmla="*/ 1335882 w 1393032"/>
              <a:gd name="connsiteY5" fmla="*/ 912019 h 1202531"/>
              <a:gd name="connsiteX6" fmla="*/ 1328738 w 1393032"/>
              <a:gd name="connsiteY6" fmla="*/ 885825 h 1202531"/>
              <a:gd name="connsiteX7" fmla="*/ 794824 w 1393032"/>
              <a:gd name="connsiteY7" fmla="*/ 427360 h 1202531"/>
              <a:gd name="connsiteX8" fmla="*/ 722894 w 1393032"/>
              <a:gd name="connsiteY8" fmla="*/ 377808 h 1202531"/>
              <a:gd name="connsiteX9" fmla="*/ 207169 w 1393032"/>
              <a:gd name="connsiteY9" fmla="*/ 0 h 1202531"/>
              <a:gd name="connsiteX10" fmla="*/ 0 w 1393032"/>
              <a:gd name="connsiteY10" fmla="*/ 261937 h 1202531"/>
              <a:gd name="connsiteX0" fmla="*/ 0 w 1393032"/>
              <a:gd name="connsiteY0" fmla="*/ 261937 h 1202531"/>
              <a:gd name="connsiteX1" fmla="*/ 1100138 w 1393032"/>
              <a:gd name="connsiteY1" fmla="*/ 1200150 h 1202531"/>
              <a:gd name="connsiteX2" fmla="*/ 1133475 w 1393032"/>
              <a:gd name="connsiteY2" fmla="*/ 1178719 h 1202531"/>
              <a:gd name="connsiteX3" fmla="*/ 1178719 w 1393032"/>
              <a:gd name="connsiteY3" fmla="*/ 1202531 h 1202531"/>
              <a:gd name="connsiteX4" fmla="*/ 1393032 w 1393032"/>
              <a:gd name="connsiteY4" fmla="*/ 935831 h 1202531"/>
              <a:gd name="connsiteX5" fmla="*/ 1335882 w 1393032"/>
              <a:gd name="connsiteY5" fmla="*/ 912019 h 1202531"/>
              <a:gd name="connsiteX6" fmla="*/ 1328738 w 1393032"/>
              <a:gd name="connsiteY6" fmla="*/ 885825 h 1202531"/>
              <a:gd name="connsiteX7" fmla="*/ 794824 w 1393032"/>
              <a:gd name="connsiteY7" fmla="*/ 427360 h 1202531"/>
              <a:gd name="connsiteX8" fmla="*/ 770848 w 1393032"/>
              <a:gd name="connsiteY8" fmla="*/ 468921 h 1202531"/>
              <a:gd name="connsiteX9" fmla="*/ 207169 w 1393032"/>
              <a:gd name="connsiteY9" fmla="*/ 0 h 1202531"/>
              <a:gd name="connsiteX10" fmla="*/ 0 w 1393032"/>
              <a:gd name="connsiteY10" fmla="*/ 261937 h 1202531"/>
              <a:gd name="connsiteX0" fmla="*/ 0 w 1393032"/>
              <a:gd name="connsiteY0" fmla="*/ 255543 h 1196137"/>
              <a:gd name="connsiteX1" fmla="*/ 1100138 w 1393032"/>
              <a:gd name="connsiteY1" fmla="*/ 1193756 h 1196137"/>
              <a:gd name="connsiteX2" fmla="*/ 1133475 w 1393032"/>
              <a:gd name="connsiteY2" fmla="*/ 1172325 h 1196137"/>
              <a:gd name="connsiteX3" fmla="*/ 1178719 w 1393032"/>
              <a:gd name="connsiteY3" fmla="*/ 1196137 h 1196137"/>
              <a:gd name="connsiteX4" fmla="*/ 1393032 w 1393032"/>
              <a:gd name="connsiteY4" fmla="*/ 929437 h 1196137"/>
              <a:gd name="connsiteX5" fmla="*/ 1335882 w 1393032"/>
              <a:gd name="connsiteY5" fmla="*/ 905625 h 1196137"/>
              <a:gd name="connsiteX6" fmla="*/ 1328738 w 1393032"/>
              <a:gd name="connsiteY6" fmla="*/ 879431 h 1196137"/>
              <a:gd name="connsiteX7" fmla="*/ 794824 w 1393032"/>
              <a:gd name="connsiteY7" fmla="*/ 420966 h 1196137"/>
              <a:gd name="connsiteX8" fmla="*/ 770848 w 1393032"/>
              <a:gd name="connsiteY8" fmla="*/ 462527 h 1196137"/>
              <a:gd name="connsiteX9" fmla="*/ 200775 w 1393032"/>
              <a:gd name="connsiteY9" fmla="*/ 0 h 1196137"/>
              <a:gd name="connsiteX10" fmla="*/ 0 w 1393032"/>
              <a:gd name="connsiteY10" fmla="*/ 255543 h 1196137"/>
              <a:gd name="connsiteX0" fmla="*/ 0 w 1393032"/>
              <a:gd name="connsiteY0" fmla="*/ 261937 h 1202531"/>
              <a:gd name="connsiteX1" fmla="*/ 1100138 w 1393032"/>
              <a:gd name="connsiteY1" fmla="*/ 1200150 h 1202531"/>
              <a:gd name="connsiteX2" fmla="*/ 1133475 w 1393032"/>
              <a:gd name="connsiteY2" fmla="*/ 1178719 h 1202531"/>
              <a:gd name="connsiteX3" fmla="*/ 1178719 w 1393032"/>
              <a:gd name="connsiteY3" fmla="*/ 1202531 h 1202531"/>
              <a:gd name="connsiteX4" fmla="*/ 1393032 w 1393032"/>
              <a:gd name="connsiteY4" fmla="*/ 935831 h 1202531"/>
              <a:gd name="connsiteX5" fmla="*/ 1335882 w 1393032"/>
              <a:gd name="connsiteY5" fmla="*/ 912019 h 1202531"/>
              <a:gd name="connsiteX6" fmla="*/ 1328738 w 1393032"/>
              <a:gd name="connsiteY6" fmla="*/ 885825 h 1202531"/>
              <a:gd name="connsiteX7" fmla="*/ 794824 w 1393032"/>
              <a:gd name="connsiteY7" fmla="*/ 427360 h 1202531"/>
              <a:gd name="connsiteX8" fmla="*/ 770848 w 1393032"/>
              <a:gd name="connsiteY8" fmla="*/ 468921 h 1202531"/>
              <a:gd name="connsiteX9" fmla="*/ 203972 w 1393032"/>
              <a:gd name="connsiteY9" fmla="*/ 0 h 1202531"/>
              <a:gd name="connsiteX10" fmla="*/ 0 w 1393032"/>
              <a:gd name="connsiteY10" fmla="*/ 261937 h 1202531"/>
              <a:gd name="connsiteX0" fmla="*/ 0 w 1393032"/>
              <a:gd name="connsiteY0" fmla="*/ 261937 h 1202531"/>
              <a:gd name="connsiteX1" fmla="*/ 1100138 w 1393032"/>
              <a:gd name="connsiteY1" fmla="*/ 1200150 h 1202531"/>
              <a:gd name="connsiteX2" fmla="*/ 1133475 w 1393032"/>
              <a:gd name="connsiteY2" fmla="*/ 1178719 h 1202531"/>
              <a:gd name="connsiteX3" fmla="*/ 1178719 w 1393032"/>
              <a:gd name="connsiteY3" fmla="*/ 1202531 h 1202531"/>
              <a:gd name="connsiteX4" fmla="*/ 1393032 w 1393032"/>
              <a:gd name="connsiteY4" fmla="*/ 935831 h 1202531"/>
              <a:gd name="connsiteX5" fmla="*/ 1335882 w 1393032"/>
              <a:gd name="connsiteY5" fmla="*/ 912019 h 1202531"/>
              <a:gd name="connsiteX6" fmla="*/ 1328738 w 1393032"/>
              <a:gd name="connsiteY6" fmla="*/ 885825 h 1202531"/>
              <a:gd name="connsiteX7" fmla="*/ 794824 w 1393032"/>
              <a:gd name="connsiteY7" fmla="*/ 427360 h 1202531"/>
              <a:gd name="connsiteX8" fmla="*/ 767651 w 1393032"/>
              <a:gd name="connsiteY8" fmla="*/ 464125 h 1202531"/>
              <a:gd name="connsiteX9" fmla="*/ 203972 w 1393032"/>
              <a:gd name="connsiteY9" fmla="*/ 0 h 1202531"/>
              <a:gd name="connsiteX10" fmla="*/ 0 w 1393032"/>
              <a:gd name="connsiteY10" fmla="*/ 261937 h 1202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93032" h="1202531">
                <a:moveTo>
                  <a:pt x="0" y="261937"/>
                </a:moveTo>
                <a:lnTo>
                  <a:pt x="1100138" y="1200150"/>
                </a:lnTo>
                <a:lnTo>
                  <a:pt x="1133475" y="1178719"/>
                </a:lnTo>
                <a:lnTo>
                  <a:pt x="1178719" y="1202531"/>
                </a:lnTo>
                <a:lnTo>
                  <a:pt x="1393032" y="935831"/>
                </a:lnTo>
                <a:lnTo>
                  <a:pt x="1335882" y="912019"/>
                </a:lnTo>
                <a:lnTo>
                  <a:pt x="1328738" y="885825"/>
                </a:lnTo>
                <a:lnTo>
                  <a:pt x="794824" y="427360"/>
                </a:lnTo>
                <a:lnTo>
                  <a:pt x="767651" y="464125"/>
                </a:lnTo>
                <a:lnTo>
                  <a:pt x="203972" y="0"/>
                </a:lnTo>
                <a:lnTo>
                  <a:pt x="0" y="261937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7" name="矩形 46"/>
          <p:cNvSpPr/>
          <p:nvPr/>
        </p:nvSpPr>
        <p:spPr>
          <a:xfrm>
            <a:off x="3961757" y="3433806"/>
            <a:ext cx="1075799" cy="257369"/>
          </a:xfrm>
          <a:prstGeom prst="rect">
            <a:avLst/>
          </a:prstGeom>
          <a:noFill/>
        </p:spPr>
        <p:txBody>
          <a:bodyPr lIns="36000" tIns="36000" rIns="36000" bIns="3600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altLang="zh-TW" sz="12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ea typeface="新細明體" pitchFamily="18" charset="-120"/>
              </a:rPr>
              <a:t>P101-00</a:t>
            </a:r>
            <a:endParaRPr lang="en-US" altLang="zh-TW" sz="1200" b="1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ea typeface="新細明體" pitchFamily="18" charset="-12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3465513" y="1609725"/>
            <a:ext cx="100965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TW" altLang="en-US" sz="11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竹子腳聚落</a:t>
            </a:r>
            <a:endParaRPr lang="en-US" altLang="zh-TW" sz="11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9" name="圓角矩形圖說文字 48"/>
          <p:cNvSpPr/>
          <p:nvPr/>
        </p:nvSpPr>
        <p:spPr bwMode="auto">
          <a:xfrm>
            <a:off x="4219848" y="5069133"/>
            <a:ext cx="1368152" cy="460833"/>
          </a:xfrm>
          <a:prstGeom prst="wedgeRoundRectCallout">
            <a:avLst>
              <a:gd name="adj1" fmla="val 38788"/>
              <a:gd name="adj2" fmla="val -161351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0099"/>
            </a:solidFill>
          </a:ln>
          <a:scene3d>
            <a:camera prst="orthographicFront"/>
            <a:lightRig rig="threePt" dir="t"/>
          </a:scene3d>
          <a:sp3d>
            <a:contourClr>
              <a:srgbClr val="000099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zh-TW" altLang="en-US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區段編號：</a:t>
            </a:r>
            <a:r>
              <a:rPr lang="en-US" altLang="zh-TW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P101-00</a:t>
            </a:r>
            <a:endParaRPr lang="en-US" altLang="zh-TW" sz="1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defRPr/>
            </a:pPr>
            <a:r>
              <a:rPr lang="zh-TW" altLang="en-US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地價</a:t>
            </a:r>
            <a:r>
              <a:rPr lang="zh-TW" altLang="en-US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○○</a:t>
            </a:r>
            <a:r>
              <a:rPr lang="zh-TW" altLang="en-US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/m</a:t>
            </a:r>
            <a:r>
              <a:rPr lang="en-US" altLang="zh-TW" sz="1000" baseline="30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3408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編號版面配置區 1"/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algn="r" eaLnBrk="1" hangingPunct="1"/>
            <a:fld id="{FA0FFF4B-D27D-424B-94BC-76B6496C63E6}" type="slidenum">
              <a:rPr kumimoji="0" lang="en-US" altLang="zh-TW" sz="1200">
                <a:latin typeface="Garamond" pitchFamily="18" charset="0"/>
                <a:ea typeface="新細明體" charset="-120"/>
              </a:rPr>
              <a:pPr algn="r" eaLnBrk="1" hangingPunct="1"/>
              <a:t>16</a:t>
            </a:fld>
            <a:endParaRPr kumimoji="0" lang="en-US" altLang="zh-TW" sz="1200">
              <a:latin typeface="Garamond" pitchFamily="18" charset="0"/>
              <a:ea typeface="新細明體" charset="-120"/>
            </a:endParaRPr>
          </a:p>
        </p:txBody>
      </p:sp>
      <p:sp>
        <p:nvSpPr>
          <p:cNvPr id="21507" name="Line 7"/>
          <p:cNvSpPr>
            <a:spLocks noChangeShapeType="1"/>
          </p:cNvSpPr>
          <p:nvPr/>
        </p:nvSpPr>
        <p:spPr bwMode="auto">
          <a:xfrm>
            <a:off x="1955800" y="6003925"/>
            <a:ext cx="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508" name="Line 494"/>
          <p:cNvSpPr>
            <a:spLocks noChangeShapeType="1"/>
          </p:cNvSpPr>
          <p:nvPr/>
        </p:nvSpPr>
        <p:spPr bwMode="auto">
          <a:xfrm>
            <a:off x="1955800" y="5805488"/>
            <a:ext cx="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95288" y="260350"/>
            <a:ext cx="807561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zh-TW" altLang="en-US" sz="3000" b="1" kern="0" dirty="0" smtClean="0">
                <a:solidFill>
                  <a:srgbClr val="000066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貳、</a:t>
            </a:r>
            <a:r>
              <a:rPr lang="zh-TW" altLang="en-US" sz="3000" b="1" dirty="0">
                <a:solidFill>
                  <a:srgbClr val="000066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預定徵收</a:t>
            </a:r>
            <a:r>
              <a:rPr lang="zh-TW" altLang="en-US" sz="3000" b="1" dirty="0" smtClean="0">
                <a:solidFill>
                  <a:srgbClr val="000066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地區市</a:t>
            </a:r>
            <a:r>
              <a:rPr lang="zh-TW" altLang="en-US" sz="3000" b="1" dirty="0">
                <a:solidFill>
                  <a:srgbClr val="000066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價</a:t>
            </a:r>
            <a:r>
              <a:rPr lang="zh-TW" altLang="en-US" sz="3000" b="1" dirty="0" smtClean="0">
                <a:solidFill>
                  <a:srgbClr val="000066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查</a:t>
            </a:r>
            <a:r>
              <a:rPr lang="zh-TW" altLang="en-US" sz="3000" b="1" dirty="0">
                <a:solidFill>
                  <a:srgbClr val="000066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估作業情形</a:t>
            </a:r>
            <a:endParaRPr lang="en-US" altLang="zh-TW" sz="3000" b="1" kern="0" dirty="0" smtClean="0">
              <a:solidFill>
                <a:srgbClr val="000066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95288" y="836712"/>
            <a:ext cx="807561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03238" indent="-441325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6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zh-TW" sz="2000" b="1" dirty="0" smtClean="0">
                <a:solidFill>
                  <a:srgbClr val="A50021"/>
                </a:solidFill>
                <a:latin typeface="SimHei" pitchFamily="49" charset="-122"/>
              </a:rPr>
              <a:t>6.</a:t>
            </a:r>
            <a:r>
              <a:rPr lang="zh-TW" altLang="en-US" sz="2000" b="1" dirty="0" smtClean="0">
                <a:solidFill>
                  <a:srgbClr val="A50021"/>
                </a:solidFill>
                <a:latin typeface="SimHei" pitchFamily="49" charset="-122"/>
              </a:rPr>
              <a:t>估計宗地地價</a:t>
            </a:r>
            <a:r>
              <a:rPr lang="zh-TW" altLang="en-US" sz="2000" b="1" dirty="0">
                <a:solidFill>
                  <a:srgbClr val="A50021"/>
                </a:solidFill>
                <a:latin typeface="SimHei" pitchFamily="49" charset="-122"/>
              </a:rPr>
              <a:t>：</a:t>
            </a:r>
            <a:endParaRPr lang="en-US" altLang="zh-TW" sz="2000" u="sng" dirty="0">
              <a:solidFill>
                <a:srgbClr val="C00000"/>
              </a:solidFill>
              <a:latin typeface="SimHei" pitchFamily="49" charset="-122"/>
            </a:endParaRPr>
          </a:p>
          <a:p>
            <a:pPr eaLnBrk="1" hangingPunct="1">
              <a:lnSpc>
                <a:spcPct val="95000"/>
              </a:lnSpc>
              <a:spcBef>
                <a:spcPts val="18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zh-TW" sz="2400" u="sng" dirty="0">
              <a:solidFill>
                <a:srgbClr val="C00000"/>
              </a:solidFill>
              <a:latin typeface="SimHei" pitchFamily="49" charset="-122"/>
            </a:endParaRPr>
          </a:p>
        </p:txBody>
      </p:sp>
      <p:graphicFrame>
        <p:nvGraphicFramePr>
          <p:cNvPr id="9" name="Group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402945"/>
              </p:ext>
            </p:extLst>
          </p:nvPr>
        </p:nvGraphicFramePr>
        <p:xfrm>
          <a:off x="807158" y="1484784"/>
          <a:ext cx="7797289" cy="1643296"/>
        </p:xfrm>
        <a:graphic>
          <a:graphicData uri="http://schemas.openxmlformats.org/drawingml/2006/table">
            <a:tbl>
              <a:tblPr/>
              <a:tblGrid>
                <a:gridCol w="1245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1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3510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7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ts val="6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ts val="5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比準地        區段號</a:t>
                      </a: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7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ts val="6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ts val="5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比準地</a:t>
                      </a: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7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ts val="6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ts val="5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宗地價格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 (</a:t>
                      </a: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元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/㎡)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7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ts val="6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ts val="55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defRPr sz="1800" kern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分區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/</a:t>
                      </a: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用地</a:t>
                      </a: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區段內最低宗地單價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(</a:t>
                      </a: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元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/㎡)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8" charset="0"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區段內最高宗地單價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(</a:t>
                      </a: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元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/㎡)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7" marB="45687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4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P101-00</a:t>
                      </a: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 新化區竹子腳段</a:t>
                      </a: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○○</a:t>
                      </a:r>
                      <a:r>
                        <a:rPr kumimoji="0" lang="zh-TW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地號</a:t>
                      </a: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○○</a:t>
                      </a: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特定農業區</a:t>
                      </a:r>
                      <a:endParaRPr kumimoji="0" lang="en-US" altLang="zh-TW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農牧用地</a:t>
                      </a: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○○</a:t>
                      </a:r>
                      <a:endParaRPr kumimoji="0" lang="zh-TW" altLang="en-US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○○</a:t>
                      </a:r>
                      <a:endParaRPr kumimoji="0" lang="zh-TW" altLang="en-US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zh-TW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9" marR="91449" marT="45688" marB="456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TW" altLang="en-US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TW" altLang="en-US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zh-TW" altLang="en-US" sz="1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611" marB="456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矩形圖說文字 10"/>
          <p:cNvSpPr/>
          <p:nvPr/>
        </p:nvSpPr>
        <p:spPr>
          <a:xfrm>
            <a:off x="6742584" y="3128080"/>
            <a:ext cx="1944216" cy="2091770"/>
          </a:xfrm>
          <a:prstGeom prst="wedgeRectCallout">
            <a:avLst>
              <a:gd name="adj1" fmla="val -144428"/>
              <a:gd name="adj2" fmla="val -5955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dirty="0" smtClean="0"/>
              <a:t>口頭概略說明區段內宗地差異調整情形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765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97104372-663F-4664-A3B3-E0F6E2F0D3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253" y="890986"/>
            <a:ext cx="7443493" cy="5249658"/>
          </a:xfrm>
          <a:prstGeom prst="rect">
            <a:avLst/>
          </a:prstGeom>
        </p:spPr>
      </p:pic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82015584-01C2-4584-A0B9-E9155164FE44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95288" y="260350"/>
            <a:ext cx="8075612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3000" b="1" kern="0" dirty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預定徵收地區最近</a:t>
            </a:r>
            <a:r>
              <a:rPr lang="en-US" altLang="zh-TW" sz="3000" b="1" kern="0" dirty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3</a:t>
            </a:r>
            <a:r>
              <a:rPr lang="zh-TW" altLang="en-US" sz="3000" b="1" kern="0" dirty="0">
                <a:solidFill>
                  <a:srgbClr val="000066"/>
                </a:solidFill>
                <a:latin typeface="SimHei" pitchFamily="49" charset="-122"/>
                <a:ea typeface="SimHei" pitchFamily="49" charset="-122"/>
              </a:rPr>
              <a:t>年內鄰近案件分布及價格</a:t>
            </a:r>
            <a:endParaRPr lang="en-US" altLang="zh-TW" sz="3000" b="1" kern="0" dirty="0">
              <a:solidFill>
                <a:srgbClr val="000066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7" name="圓角矩形圖說文字 6"/>
          <p:cNvSpPr/>
          <p:nvPr/>
        </p:nvSpPr>
        <p:spPr>
          <a:xfrm>
            <a:off x="3416672" y="5221323"/>
            <a:ext cx="992101" cy="576064"/>
          </a:xfrm>
          <a:prstGeom prst="wedgeRoundRectCallout">
            <a:avLst>
              <a:gd name="adj1" fmla="val 66544"/>
              <a:gd name="adj2" fmla="val -157116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工程用地範圍</a:t>
            </a:r>
          </a:p>
        </p:txBody>
      </p:sp>
      <p:sp>
        <p:nvSpPr>
          <p:cNvPr id="8" name="語音泡泡: 矩形 16">
            <a:extLst>
              <a:ext uri="{FF2B5EF4-FFF2-40B4-BE49-F238E27FC236}">
                <a16:creationId xmlns:a16="http://schemas.microsoft.com/office/drawing/2014/main" id="{29742C8A-AB0C-4D4A-9AB0-4ACCBA085665}"/>
              </a:ext>
            </a:extLst>
          </p:cNvPr>
          <p:cNvSpPr/>
          <p:nvPr/>
        </p:nvSpPr>
        <p:spPr>
          <a:xfrm>
            <a:off x="65363" y="4059059"/>
            <a:ext cx="2736000" cy="1314157"/>
          </a:xfrm>
          <a:prstGeom prst="wedgeRectCallout">
            <a:avLst>
              <a:gd name="adj1" fmla="val 107682"/>
              <a:gd name="adj2" fmla="val -87778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225"/>
              </a:spcAft>
            </a:pP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前瞻基礎建設計畫</a:t>
            </a:r>
            <a:r>
              <a:rPr lang="en-US" altLang="zh-TW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-</a:t>
            </a: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虎頭溪排水護岸新建工程</a:t>
            </a:r>
            <a:r>
              <a:rPr lang="en-US" altLang="zh-TW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(</a:t>
            </a: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第一標</a:t>
            </a:r>
            <a:r>
              <a:rPr lang="en-US" altLang="zh-TW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)(</a:t>
            </a: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非都市土地</a:t>
            </a:r>
            <a:r>
              <a:rPr lang="en-US" altLang="zh-TW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)</a:t>
            </a:r>
            <a:r>
              <a:rPr lang="zh-TW" altLang="zh-TW" sz="12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/>
            </a:r>
            <a:br>
              <a:rPr lang="zh-TW" altLang="zh-TW" sz="12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</a:b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估價基準日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：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年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月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日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>
              <a:spcAft>
                <a:spcPts val="225"/>
              </a:spcAft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分區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/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用地：特定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/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一般農業區農牧用地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>
              <a:spcAft>
                <a:spcPts val="225"/>
              </a:spcAft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預審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市價：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 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~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元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/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M</a:t>
            </a:r>
            <a:r>
              <a:rPr lang="en-US" altLang="zh-TW" sz="1200" baseline="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2</a:t>
            </a:r>
          </a:p>
          <a:p>
            <a:pPr>
              <a:spcAft>
                <a:spcPts val="225"/>
              </a:spcAft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協議市價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：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 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~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元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/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M</a:t>
            </a:r>
            <a:r>
              <a:rPr lang="en-US" altLang="zh-TW" sz="1200" baseline="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2</a:t>
            </a:r>
            <a:endParaRPr lang="en-US" altLang="zh-TW" sz="1200" baseline="30000" dirty="0">
              <a:solidFill>
                <a:schemeClr val="tx1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467270" y="260350"/>
            <a:ext cx="3924944" cy="39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/>
              <a:t>說明：</a:t>
            </a:r>
            <a:endParaRPr lang="en-US" altLang="zh-TW" dirty="0"/>
          </a:p>
          <a:p>
            <a:r>
              <a:rPr lang="en-US" altLang="zh-TW" dirty="0"/>
              <a:t>1.</a:t>
            </a:r>
            <a:r>
              <a:rPr lang="zh-TW" altLang="en-US" dirty="0"/>
              <a:t>底圖請盡量以</a:t>
            </a:r>
            <a:r>
              <a:rPr lang="en-US" altLang="zh-TW" dirty="0"/>
              <a:t>GOOGLE  </a:t>
            </a:r>
            <a:r>
              <a:rPr lang="zh-TW" altLang="en-US" dirty="0"/>
              <a:t> </a:t>
            </a:r>
            <a:r>
              <a:rPr lang="en-US" altLang="zh-TW" dirty="0"/>
              <a:t>MAP</a:t>
            </a:r>
            <a:r>
              <a:rPr lang="zh-TW" altLang="en-US" dirty="0"/>
              <a:t>為地圖。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如範圍過大，請以線段或點方式呈現位置分布，不同案件請以不同顏色呈現。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本次審查案件，請標明</a:t>
            </a:r>
            <a:r>
              <a:rPr lang="zh-TW" altLang="en-US" dirty="0">
                <a:solidFill>
                  <a:srgbClr val="FF0000"/>
                </a:solidFill>
              </a:rPr>
              <a:t>「</a:t>
            </a:r>
            <a:r>
              <a:rPr lang="zh-TW" altLang="en-US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工程用地範圍」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4.</a:t>
            </a:r>
            <a:r>
              <a:rPr lang="zh-TW" altLang="en-US" dirty="0"/>
              <a:t>最近</a:t>
            </a:r>
            <a:r>
              <a:rPr lang="en-US" altLang="zh-TW" dirty="0"/>
              <a:t>3</a:t>
            </a:r>
            <a:r>
              <a:rPr lang="zh-TW" altLang="en-US" dirty="0"/>
              <a:t>年內鄰近案件請標明案名、估價基準日、分區用地、及</a:t>
            </a:r>
            <a:r>
              <a:rPr lang="zh-TW" altLang="en-US" dirty="0" smtClean="0"/>
              <a:t>評定</a:t>
            </a:r>
            <a:r>
              <a:rPr lang="en-US" altLang="zh-TW" dirty="0" smtClean="0"/>
              <a:t>(</a:t>
            </a:r>
            <a:r>
              <a:rPr lang="zh-TW" altLang="en-US" dirty="0" smtClean="0"/>
              <a:t>預審</a:t>
            </a:r>
            <a:r>
              <a:rPr lang="en-US" altLang="zh-TW" dirty="0" smtClean="0"/>
              <a:t>)</a:t>
            </a:r>
            <a:r>
              <a:rPr lang="zh-TW" altLang="en-US" dirty="0" smtClean="0"/>
              <a:t>市價</a:t>
            </a:r>
            <a:r>
              <a:rPr lang="en-US" altLang="zh-TW" dirty="0"/>
              <a:t>(</a:t>
            </a:r>
            <a:r>
              <a:rPr lang="zh-TW" altLang="en-US" dirty="0"/>
              <a:t>如僅預審尚未經正式會評定亦請填載預審修正後價格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319612A5-2B74-4EAD-85EE-9720CCE9AABD}"/>
              </a:ext>
            </a:extLst>
          </p:cNvPr>
          <p:cNvSpPr>
            <a:spLocks noChangeAspect="1"/>
          </p:cNvSpPr>
          <p:nvPr/>
        </p:nvSpPr>
        <p:spPr>
          <a:xfrm>
            <a:off x="3485613" y="2821319"/>
            <a:ext cx="1729740" cy="2057400"/>
          </a:xfrm>
          <a:custGeom>
            <a:avLst/>
            <a:gdLst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95400 w 2882900"/>
              <a:gd name="connsiteY4" fmla="*/ 3117850 h 3429000"/>
              <a:gd name="connsiteX5" fmla="*/ 1098550 w 2882900"/>
              <a:gd name="connsiteY5" fmla="*/ 3067050 h 3429000"/>
              <a:gd name="connsiteX6" fmla="*/ 965200 w 2882900"/>
              <a:gd name="connsiteY6" fmla="*/ 2940050 h 3429000"/>
              <a:gd name="connsiteX7" fmla="*/ 965200 w 2882900"/>
              <a:gd name="connsiteY7" fmla="*/ 2857500 h 3429000"/>
              <a:gd name="connsiteX8" fmla="*/ 1009650 w 2882900"/>
              <a:gd name="connsiteY8" fmla="*/ 2794000 h 3429000"/>
              <a:gd name="connsiteX9" fmla="*/ 1168400 w 2882900"/>
              <a:gd name="connsiteY9" fmla="*/ 2717800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93800 w 2882900"/>
              <a:gd name="connsiteY12" fmla="*/ 2451100 h 3429000"/>
              <a:gd name="connsiteX13" fmla="*/ 1066800 w 2882900"/>
              <a:gd name="connsiteY13" fmla="*/ 2292350 h 3429000"/>
              <a:gd name="connsiteX14" fmla="*/ 939800 w 2882900"/>
              <a:gd name="connsiteY14" fmla="*/ 205105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89050 w 2882900"/>
              <a:gd name="connsiteY18" fmla="*/ 1695450 h 3429000"/>
              <a:gd name="connsiteX19" fmla="*/ 1517650 w 2882900"/>
              <a:gd name="connsiteY19" fmla="*/ 1536700 h 3429000"/>
              <a:gd name="connsiteX20" fmla="*/ 1562100 w 2882900"/>
              <a:gd name="connsiteY20" fmla="*/ 149225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478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73150 w 2882900"/>
              <a:gd name="connsiteY33" fmla="*/ 127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55700 w 2882900"/>
              <a:gd name="connsiteY36" fmla="*/ 501650 h 3429000"/>
              <a:gd name="connsiteX37" fmla="*/ 1162050 w 2882900"/>
              <a:gd name="connsiteY37" fmla="*/ 673100 h 3429000"/>
              <a:gd name="connsiteX38" fmla="*/ 1041400 w 2882900"/>
              <a:gd name="connsiteY38" fmla="*/ 70485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27000 w 2882900"/>
              <a:gd name="connsiteY44" fmla="*/ 56515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95400 w 2882900"/>
              <a:gd name="connsiteY4" fmla="*/ 3117850 h 3429000"/>
              <a:gd name="connsiteX5" fmla="*/ 1098550 w 2882900"/>
              <a:gd name="connsiteY5" fmla="*/ 3067050 h 3429000"/>
              <a:gd name="connsiteX6" fmla="*/ 965200 w 2882900"/>
              <a:gd name="connsiteY6" fmla="*/ 2940050 h 3429000"/>
              <a:gd name="connsiteX7" fmla="*/ 965200 w 2882900"/>
              <a:gd name="connsiteY7" fmla="*/ 2857500 h 3429000"/>
              <a:gd name="connsiteX8" fmla="*/ 1009650 w 2882900"/>
              <a:gd name="connsiteY8" fmla="*/ 2794000 h 3429000"/>
              <a:gd name="connsiteX9" fmla="*/ 1168400 w 2882900"/>
              <a:gd name="connsiteY9" fmla="*/ 2717800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93800 w 2882900"/>
              <a:gd name="connsiteY12" fmla="*/ 2451100 h 3429000"/>
              <a:gd name="connsiteX13" fmla="*/ 1066800 w 2882900"/>
              <a:gd name="connsiteY13" fmla="*/ 2292350 h 3429000"/>
              <a:gd name="connsiteX14" fmla="*/ 939800 w 2882900"/>
              <a:gd name="connsiteY14" fmla="*/ 205105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89050 w 2882900"/>
              <a:gd name="connsiteY18" fmla="*/ 1695450 h 3429000"/>
              <a:gd name="connsiteX19" fmla="*/ 1517650 w 2882900"/>
              <a:gd name="connsiteY19" fmla="*/ 1536700 h 3429000"/>
              <a:gd name="connsiteX20" fmla="*/ 1587500 w 2882900"/>
              <a:gd name="connsiteY20" fmla="*/ 151130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478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73150 w 2882900"/>
              <a:gd name="connsiteY33" fmla="*/ 127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55700 w 2882900"/>
              <a:gd name="connsiteY36" fmla="*/ 501650 h 3429000"/>
              <a:gd name="connsiteX37" fmla="*/ 1162050 w 2882900"/>
              <a:gd name="connsiteY37" fmla="*/ 673100 h 3429000"/>
              <a:gd name="connsiteX38" fmla="*/ 1041400 w 2882900"/>
              <a:gd name="connsiteY38" fmla="*/ 70485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27000 w 2882900"/>
              <a:gd name="connsiteY44" fmla="*/ 56515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95400 w 2882900"/>
              <a:gd name="connsiteY4" fmla="*/ 3117850 h 3429000"/>
              <a:gd name="connsiteX5" fmla="*/ 1098550 w 2882900"/>
              <a:gd name="connsiteY5" fmla="*/ 3067050 h 3429000"/>
              <a:gd name="connsiteX6" fmla="*/ 965200 w 2882900"/>
              <a:gd name="connsiteY6" fmla="*/ 2940050 h 3429000"/>
              <a:gd name="connsiteX7" fmla="*/ 965200 w 2882900"/>
              <a:gd name="connsiteY7" fmla="*/ 2857500 h 3429000"/>
              <a:gd name="connsiteX8" fmla="*/ 1009650 w 2882900"/>
              <a:gd name="connsiteY8" fmla="*/ 2794000 h 3429000"/>
              <a:gd name="connsiteX9" fmla="*/ 1168400 w 2882900"/>
              <a:gd name="connsiteY9" fmla="*/ 2717800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93800 w 2882900"/>
              <a:gd name="connsiteY12" fmla="*/ 2451100 h 3429000"/>
              <a:gd name="connsiteX13" fmla="*/ 1066800 w 2882900"/>
              <a:gd name="connsiteY13" fmla="*/ 2292350 h 3429000"/>
              <a:gd name="connsiteX14" fmla="*/ 939800 w 2882900"/>
              <a:gd name="connsiteY14" fmla="*/ 205105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66825 w 2882900"/>
              <a:gd name="connsiteY18" fmla="*/ 1670050 h 3429000"/>
              <a:gd name="connsiteX19" fmla="*/ 1517650 w 2882900"/>
              <a:gd name="connsiteY19" fmla="*/ 1536700 h 3429000"/>
              <a:gd name="connsiteX20" fmla="*/ 1587500 w 2882900"/>
              <a:gd name="connsiteY20" fmla="*/ 151130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478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73150 w 2882900"/>
              <a:gd name="connsiteY33" fmla="*/ 127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55700 w 2882900"/>
              <a:gd name="connsiteY36" fmla="*/ 501650 h 3429000"/>
              <a:gd name="connsiteX37" fmla="*/ 1162050 w 2882900"/>
              <a:gd name="connsiteY37" fmla="*/ 673100 h 3429000"/>
              <a:gd name="connsiteX38" fmla="*/ 1041400 w 2882900"/>
              <a:gd name="connsiteY38" fmla="*/ 70485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27000 w 2882900"/>
              <a:gd name="connsiteY44" fmla="*/ 56515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95400 w 2882900"/>
              <a:gd name="connsiteY4" fmla="*/ 3117850 h 3429000"/>
              <a:gd name="connsiteX5" fmla="*/ 1098550 w 2882900"/>
              <a:gd name="connsiteY5" fmla="*/ 3067050 h 3429000"/>
              <a:gd name="connsiteX6" fmla="*/ 965200 w 2882900"/>
              <a:gd name="connsiteY6" fmla="*/ 2940050 h 3429000"/>
              <a:gd name="connsiteX7" fmla="*/ 965200 w 2882900"/>
              <a:gd name="connsiteY7" fmla="*/ 2857500 h 3429000"/>
              <a:gd name="connsiteX8" fmla="*/ 1009650 w 2882900"/>
              <a:gd name="connsiteY8" fmla="*/ 2794000 h 3429000"/>
              <a:gd name="connsiteX9" fmla="*/ 1168400 w 2882900"/>
              <a:gd name="connsiteY9" fmla="*/ 2717800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93800 w 2882900"/>
              <a:gd name="connsiteY12" fmla="*/ 2451100 h 3429000"/>
              <a:gd name="connsiteX13" fmla="*/ 1066800 w 2882900"/>
              <a:gd name="connsiteY13" fmla="*/ 2292350 h 3429000"/>
              <a:gd name="connsiteX14" fmla="*/ 939800 w 2882900"/>
              <a:gd name="connsiteY14" fmla="*/ 205105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66825 w 2882900"/>
              <a:gd name="connsiteY18" fmla="*/ 1670050 h 3429000"/>
              <a:gd name="connsiteX19" fmla="*/ 1517650 w 2882900"/>
              <a:gd name="connsiteY19" fmla="*/ 1536700 h 3429000"/>
              <a:gd name="connsiteX20" fmla="*/ 1587500 w 2882900"/>
              <a:gd name="connsiteY20" fmla="*/ 151130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478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73150 w 2882900"/>
              <a:gd name="connsiteY33" fmla="*/ 127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55700 w 2882900"/>
              <a:gd name="connsiteY36" fmla="*/ 501650 h 3429000"/>
              <a:gd name="connsiteX37" fmla="*/ 1162050 w 2882900"/>
              <a:gd name="connsiteY37" fmla="*/ 673100 h 3429000"/>
              <a:gd name="connsiteX38" fmla="*/ 1060450 w 2882900"/>
              <a:gd name="connsiteY38" fmla="*/ 73660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27000 w 2882900"/>
              <a:gd name="connsiteY44" fmla="*/ 56515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95400 w 2882900"/>
              <a:gd name="connsiteY4" fmla="*/ 3117850 h 3429000"/>
              <a:gd name="connsiteX5" fmla="*/ 1098550 w 2882900"/>
              <a:gd name="connsiteY5" fmla="*/ 3067050 h 3429000"/>
              <a:gd name="connsiteX6" fmla="*/ 965200 w 2882900"/>
              <a:gd name="connsiteY6" fmla="*/ 2940050 h 3429000"/>
              <a:gd name="connsiteX7" fmla="*/ 965200 w 2882900"/>
              <a:gd name="connsiteY7" fmla="*/ 2857500 h 3429000"/>
              <a:gd name="connsiteX8" fmla="*/ 1009650 w 2882900"/>
              <a:gd name="connsiteY8" fmla="*/ 2794000 h 3429000"/>
              <a:gd name="connsiteX9" fmla="*/ 1168400 w 2882900"/>
              <a:gd name="connsiteY9" fmla="*/ 2717800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93800 w 2882900"/>
              <a:gd name="connsiteY12" fmla="*/ 2451100 h 3429000"/>
              <a:gd name="connsiteX13" fmla="*/ 1066800 w 2882900"/>
              <a:gd name="connsiteY13" fmla="*/ 2292350 h 3429000"/>
              <a:gd name="connsiteX14" fmla="*/ 939800 w 2882900"/>
              <a:gd name="connsiteY14" fmla="*/ 205105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66825 w 2882900"/>
              <a:gd name="connsiteY18" fmla="*/ 1670050 h 3429000"/>
              <a:gd name="connsiteX19" fmla="*/ 1517650 w 2882900"/>
              <a:gd name="connsiteY19" fmla="*/ 1536700 h 3429000"/>
              <a:gd name="connsiteX20" fmla="*/ 1587500 w 2882900"/>
              <a:gd name="connsiteY20" fmla="*/ 151130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478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73150 w 2882900"/>
              <a:gd name="connsiteY33" fmla="*/ 127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55700 w 2882900"/>
              <a:gd name="connsiteY36" fmla="*/ 501650 h 3429000"/>
              <a:gd name="connsiteX37" fmla="*/ 1184275 w 2882900"/>
              <a:gd name="connsiteY37" fmla="*/ 688975 h 3429000"/>
              <a:gd name="connsiteX38" fmla="*/ 1060450 w 2882900"/>
              <a:gd name="connsiteY38" fmla="*/ 73660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27000 w 2882900"/>
              <a:gd name="connsiteY44" fmla="*/ 56515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95400 w 2882900"/>
              <a:gd name="connsiteY4" fmla="*/ 3117850 h 3429000"/>
              <a:gd name="connsiteX5" fmla="*/ 1098550 w 2882900"/>
              <a:gd name="connsiteY5" fmla="*/ 3067050 h 3429000"/>
              <a:gd name="connsiteX6" fmla="*/ 965200 w 2882900"/>
              <a:gd name="connsiteY6" fmla="*/ 2940050 h 3429000"/>
              <a:gd name="connsiteX7" fmla="*/ 965200 w 2882900"/>
              <a:gd name="connsiteY7" fmla="*/ 2857500 h 3429000"/>
              <a:gd name="connsiteX8" fmla="*/ 1009650 w 2882900"/>
              <a:gd name="connsiteY8" fmla="*/ 2794000 h 3429000"/>
              <a:gd name="connsiteX9" fmla="*/ 1168400 w 2882900"/>
              <a:gd name="connsiteY9" fmla="*/ 2717800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93800 w 2882900"/>
              <a:gd name="connsiteY12" fmla="*/ 2451100 h 3429000"/>
              <a:gd name="connsiteX13" fmla="*/ 1066800 w 2882900"/>
              <a:gd name="connsiteY13" fmla="*/ 2292350 h 3429000"/>
              <a:gd name="connsiteX14" fmla="*/ 939800 w 2882900"/>
              <a:gd name="connsiteY14" fmla="*/ 205105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66825 w 2882900"/>
              <a:gd name="connsiteY18" fmla="*/ 1670050 h 3429000"/>
              <a:gd name="connsiteX19" fmla="*/ 1517650 w 2882900"/>
              <a:gd name="connsiteY19" fmla="*/ 1536700 h 3429000"/>
              <a:gd name="connsiteX20" fmla="*/ 1587500 w 2882900"/>
              <a:gd name="connsiteY20" fmla="*/ 151130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478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73150 w 2882900"/>
              <a:gd name="connsiteY33" fmla="*/ 127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62050 w 2882900"/>
              <a:gd name="connsiteY36" fmla="*/ 501650 h 3429000"/>
              <a:gd name="connsiteX37" fmla="*/ 1184275 w 2882900"/>
              <a:gd name="connsiteY37" fmla="*/ 688975 h 3429000"/>
              <a:gd name="connsiteX38" fmla="*/ 1060450 w 2882900"/>
              <a:gd name="connsiteY38" fmla="*/ 73660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27000 w 2882900"/>
              <a:gd name="connsiteY44" fmla="*/ 56515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95400 w 2882900"/>
              <a:gd name="connsiteY4" fmla="*/ 3117850 h 3429000"/>
              <a:gd name="connsiteX5" fmla="*/ 1098550 w 2882900"/>
              <a:gd name="connsiteY5" fmla="*/ 3067050 h 3429000"/>
              <a:gd name="connsiteX6" fmla="*/ 965200 w 2882900"/>
              <a:gd name="connsiteY6" fmla="*/ 2940050 h 3429000"/>
              <a:gd name="connsiteX7" fmla="*/ 965200 w 2882900"/>
              <a:gd name="connsiteY7" fmla="*/ 2857500 h 3429000"/>
              <a:gd name="connsiteX8" fmla="*/ 1009650 w 2882900"/>
              <a:gd name="connsiteY8" fmla="*/ 2794000 h 3429000"/>
              <a:gd name="connsiteX9" fmla="*/ 1168400 w 2882900"/>
              <a:gd name="connsiteY9" fmla="*/ 2717800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93800 w 2882900"/>
              <a:gd name="connsiteY12" fmla="*/ 2451100 h 3429000"/>
              <a:gd name="connsiteX13" fmla="*/ 1066800 w 2882900"/>
              <a:gd name="connsiteY13" fmla="*/ 2292350 h 3429000"/>
              <a:gd name="connsiteX14" fmla="*/ 939800 w 2882900"/>
              <a:gd name="connsiteY14" fmla="*/ 205105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66825 w 2882900"/>
              <a:gd name="connsiteY18" fmla="*/ 1670050 h 3429000"/>
              <a:gd name="connsiteX19" fmla="*/ 1517650 w 2882900"/>
              <a:gd name="connsiteY19" fmla="*/ 1536700 h 3429000"/>
              <a:gd name="connsiteX20" fmla="*/ 1587500 w 2882900"/>
              <a:gd name="connsiteY20" fmla="*/ 151130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478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89025 w 2882900"/>
              <a:gd name="connsiteY33" fmla="*/ 254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62050 w 2882900"/>
              <a:gd name="connsiteY36" fmla="*/ 501650 h 3429000"/>
              <a:gd name="connsiteX37" fmla="*/ 1184275 w 2882900"/>
              <a:gd name="connsiteY37" fmla="*/ 688975 h 3429000"/>
              <a:gd name="connsiteX38" fmla="*/ 1060450 w 2882900"/>
              <a:gd name="connsiteY38" fmla="*/ 73660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27000 w 2882900"/>
              <a:gd name="connsiteY44" fmla="*/ 56515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95400 w 2882900"/>
              <a:gd name="connsiteY4" fmla="*/ 3117850 h 3429000"/>
              <a:gd name="connsiteX5" fmla="*/ 1098550 w 2882900"/>
              <a:gd name="connsiteY5" fmla="*/ 3067050 h 3429000"/>
              <a:gd name="connsiteX6" fmla="*/ 965200 w 2882900"/>
              <a:gd name="connsiteY6" fmla="*/ 2940050 h 3429000"/>
              <a:gd name="connsiteX7" fmla="*/ 965200 w 2882900"/>
              <a:gd name="connsiteY7" fmla="*/ 2857500 h 3429000"/>
              <a:gd name="connsiteX8" fmla="*/ 1009650 w 2882900"/>
              <a:gd name="connsiteY8" fmla="*/ 2794000 h 3429000"/>
              <a:gd name="connsiteX9" fmla="*/ 1168400 w 2882900"/>
              <a:gd name="connsiteY9" fmla="*/ 2717800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93800 w 2882900"/>
              <a:gd name="connsiteY12" fmla="*/ 2451100 h 3429000"/>
              <a:gd name="connsiteX13" fmla="*/ 1066800 w 2882900"/>
              <a:gd name="connsiteY13" fmla="*/ 2292350 h 3429000"/>
              <a:gd name="connsiteX14" fmla="*/ 939800 w 2882900"/>
              <a:gd name="connsiteY14" fmla="*/ 205105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66825 w 2882900"/>
              <a:gd name="connsiteY18" fmla="*/ 1670050 h 3429000"/>
              <a:gd name="connsiteX19" fmla="*/ 1517650 w 2882900"/>
              <a:gd name="connsiteY19" fmla="*/ 1536700 h 3429000"/>
              <a:gd name="connsiteX20" fmla="*/ 1587500 w 2882900"/>
              <a:gd name="connsiteY20" fmla="*/ 151130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478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89025 w 2882900"/>
              <a:gd name="connsiteY33" fmla="*/ 254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62050 w 2882900"/>
              <a:gd name="connsiteY36" fmla="*/ 501650 h 3429000"/>
              <a:gd name="connsiteX37" fmla="*/ 1184275 w 2882900"/>
              <a:gd name="connsiteY37" fmla="*/ 688975 h 3429000"/>
              <a:gd name="connsiteX38" fmla="*/ 1060450 w 2882900"/>
              <a:gd name="connsiteY38" fmla="*/ 73660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55575 w 2882900"/>
              <a:gd name="connsiteY44" fmla="*/ 55880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95400 w 2882900"/>
              <a:gd name="connsiteY4" fmla="*/ 3117850 h 3429000"/>
              <a:gd name="connsiteX5" fmla="*/ 1098550 w 2882900"/>
              <a:gd name="connsiteY5" fmla="*/ 3067050 h 3429000"/>
              <a:gd name="connsiteX6" fmla="*/ 965200 w 2882900"/>
              <a:gd name="connsiteY6" fmla="*/ 2940050 h 3429000"/>
              <a:gd name="connsiteX7" fmla="*/ 965200 w 2882900"/>
              <a:gd name="connsiteY7" fmla="*/ 2857500 h 3429000"/>
              <a:gd name="connsiteX8" fmla="*/ 1009650 w 2882900"/>
              <a:gd name="connsiteY8" fmla="*/ 2794000 h 3429000"/>
              <a:gd name="connsiteX9" fmla="*/ 1168400 w 2882900"/>
              <a:gd name="connsiteY9" fmla="*/ 2717800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93800 w 2882900"/>
              <a:gd name="connsiteY12" fmla="*/ 2451100 h 3429000"/>
              <a:gd name="connsiteX13" fmla="*/ 1066800 w 2882900"/>
              <a:gd name="connsiteY13" fmla="*/ 2292350 h 3429000"/>
              <a:gd name="connsiteX14" fmla="*/ 939800 w 2882900"/>
              <a:gd name="connsiteY14" fmla="*/ 205105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66825 w 2882900"/>
              <a:gd name="connsiteY18" fmla="*/ 1670050 h 3429000"/>
              <a:gd name="connsiteX19" fmla="*/ 1517650 w 2882900"/>
              <a:gd name="connsiteY19" fmla="*/ 1536700 h 3429000"/>
              <a:gd name="connsiteX20" fmla="*/ 1587500 w 2882900"/>
              <a:gd name="connsiteY20" fmla="*/ 151130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732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89025 w 2882900"/>
              <a:gd name="connsiteY33" fmla="*/ 254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62050 w 2882900"/>
              <a:gd name="connsiteY36" fmla="*/ 501650 h 3429000"/>
              <a:gd name="connsiteX37" fmla="*/ 1184275 w 2882900"/>
              <a:gd name="connsiteY37" fmla="*/ 688975 h 3429000"/>
              <a:gd name="connsiteX38" fmla="*/ 1060450 w 2882900"/>
              <a:gd name="connsiteY38" fmla="*/ 73660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55575 w 2882900"/>
              <a:gd name="connsiteY44" fmla="*/ 55880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95400 w 2882900"/>
              <a:gd name="connsiteY4" fmla="*/ 3117850 h 3429000"/>
              <a:gd name="connsiteX5" fmla="*/ 1098550 w 2882900"/>
              <a:gd name="connsiteY5" fmla="*/ 3067050 h 3429000"/>
              <a:gd name="connsiteX6" fmla="*/ 965200 w 2882900"/>
              <a:gd name="connsiteY6" fmla="*/ 2940050 h 3429000"/>
              <a:gd name="connsiteX7" fmla="*/ 965200 w 2882900"/>
              <a:gd name="connsiteY7" fmla="*/ 2857500 h 3429000"/>
              <a:gd name="connsiteX8" fmla="*/ 1009650 w 2882900"/>
              <a:gd name="connsiteY8" fmla="*/ 2794000 h 3429000"/>
              <a:gd name="connsiteX9" fmla="*/ 1168400 w 2882900"/>
              <a:gd name="connsiteY9" fmla="*/ 2717800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93800 w 2882900"/>
              <a:gd name="connsiteY12" fmla="*/ 2451100 h 3429000"/>
              <a:gd name="connsiteX13" fmla="*/ 1066800 w 2882900"/>
              <a:gd name="connsiteY13" fmla="*/ 2292350 h 3429000"/>
              <a:gd name="connsiteX14" fmla="*/ 939800 w 2882900"/>
              <a:gd name="connsiteY14" fmla="*/ 205105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66825 w 2882900"/>
              <a:gd name="connsiteY18" fmla="*/ 1670050 h 3429000"/>
              <a:gd name="connsiteX19" fmla="*/ 1517650 w 2882900"/>
              <a:gd name="connsiteY19" fmla="*/ 1536700 h 3429000"/>
              <a:gd name="connsiteX20" fmla="*/ 1587500 w 2882900"/>
              <a:gd name="connsiteY20" fmla="*/ 151130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732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89025 w 2882900"/>
              <a:gd name="connsiteY33" fmla="*/ 254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62050 w 2882900"/>
              <a:gd name="connsiteY36" fmla="*/ 501650 h 3429000"/>
              <a:gd name="connsiteX37" fmla="*/ 1184275 w 2882900"/>
              <a:gd name="connsiteY37" fmla="*/ 688975 h 3429000"/>
              <a:gd name="connsiteX38" fmla="*/ 1060450 w 2882900"/>
              <a:gd name="connsiteY38" fmla="*/ 73660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55575 w 2882900"/>
              <a:gd name="connsiteY44" fmla="*/ 55880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95400 w 2882900"/>
              <a:gd name="connsiteY4" fmla="*/ 3117850 h 3429000"/>
              <a:gd name="connsiteX5" fmla="*/ 1098550 w 2882900"/>
              <a:gd name="connsiteY5" fmla="*/ 3067050 h 3429000"/>
              <a:gd name="connsiteX6" fmla="*/ 965200 w 2882900"/>
              <a:gd name="connsiteY6" fmla="*/ 2940050 h 3429000"/>
              <a:gd name="connsiteX7" fmla="*/ 965200 w 2882900"/>
              <a:gd name="connsiteY7" fmla="*/ 2857500 h 3429000"/>
              <a:gd name="connsiteX8" fmla="*/ 1009650 w 2882900"/>
              <a:gd name="connsiteY8" fmla="*/ 2794000 h 3429000"/>
              <a:gd name="connsiteX9" fmla="*/ 1168400 w 2882900"/>
              <a:gd name="connsiteY9" fmla="*/ 2717800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93800 w 2882900"/>
              <a:gd name="connsiteY12" fmla="*/ 2451100 h 3429000"/>
              <a:gd name="connsiteX13" fmla="*/ 1054100 w 2882900"/>
              <a:gd name="connsiteY13" fmla="*/ 2301875 h 3429000"/>
              <a:gd name="connsiteX14" fmla="*/ 939800 w 2882900"/>
              <a:gd name="connsiteY14" fmla="*/ 205105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66825 w 2882900"/>
              <a:gd name="connsiteY18" fmla="*/ 1670050 h 3429000"/>
              <a:gd name="connsiteX19" fmla="*/ 1517650 w 2882900"/>
              <a:gd name="connsiteY19" fmla="*/ 1536700 h 3429000"/>
              <a:gd name="connsiteX20" fmla="*/ 1587500 w 2882900"/>
              <a:gd name="connsiteY20" fmla="*/ 151130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732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89025 w 2882900"/>
              <a:gd name="connsiteY33" fmla="*/ 254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62050 w 2882900"/>
              <a:gd name="connsiteY36" fmla="*/ 501650 h 3429000"/>
              <a:gd name="connsiteX37" fmla="*/ 1184275 w 2882900"/>
              <a:gd name="connsiteY37" fmla="*/ 688975 h 3429000"/>
              <a:gd name="connsiteX38" fmla="*/ 1060450 w 2882900"/>
              <a:gd name="connsiteY38" fmla="*/ 73660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55575 w 2882900"/>
              <a:gd name="connsiteY44" fmla="*/ 55880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95400 w 2882900"/>
              <a:gd name="connsiteY4" fmla="*/ 3117850 h 3429000"/>
              <a:gd name="connsiteX5" fmla="*/ 1098550 w 2882900"/>
              <a:gd name="connsiteY5" fmla="*/ 3067050 h 3429000"/>
              <a:gd name="connsiteX6" fmla="*/ 965200 w 2882900"/>
              <a:gd name="connsiteY6" fmla="*/ 2940050 h 3429000"/>
              <a:gd name="connsiteX7" fmla="*/ 965200 w 2882900"/>
              <a:gd name="connsiteY7" fmla="*/ 2857500 h 3429000"/>
              <a:gd name="connsiteX8" fmla="*/ 1009650 w 2882900"/>
              <a:gd name="connsiteY8" fmla="*/ 2794000 h 3429000"/>
              <a:gd name="connsiteX9" fmla="*/ 1168400 w 2882900"/>
              <a:gd name="connsiteY9" fmla="*/ 2717800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93800 w 2882900"/>
              <a:gd name="connsiteY12" fmla="*/ 2451100 h 3429000"/>
              <a:gd name="connsiteX13" fmla="*/ 1054100 w 2882900"/>
              <a:gd name="connsiteY13" fmla="*/ 2301875 h 3429000"/>
              <a:gd name="connsiteX14" fmla="*/ 936625 w 2882900"/>
              <a:gd name="connsiteY14" fmla="*/ 205740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66825 w 2882900"/>
              <a:gd name="connsiteY18" fmla="*/ 1670050 h 3429000"/>
              <a:gd name="connsiteX19" fmla="*/ 1517650 w 2882900"/>
              <a:gd name="connsiteY19" fmla="*/ 1536700 h 3429000"/>
              <a:gd name="connsiteX20" fmla="*/ 1587500 w 2882900"/>
              <a:gd name="connsiteY20" fmla="*/ 151130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732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89025 w 2882900"/>
              <a:gd name="connsiteY33" fmla="*/ 254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62050 w 2882900"/>
              <a:gd name="connsiteY36" fmla="*/ 501650 h 3429000"/>
              <a:gd name="connsiteX37" fmla="*/ 1184275 w 2882900"/>
              <a:gd name="connsiteY37" fmla="*/ 688975 h 3429000"/>
              <a:gd name="connsiteX38" fmla="*/ 1060450 w 2882900"/>
              <a:gd name="connsiteY38" fmla="*/ 73660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55575 w 2882900"/>
              <a:gd name="connsiteY44" fmla="*/ 55880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95400 w 2882900"/>
              <a:gd name="connsiteY4" fmla="*/ 3117850 h 3429000"/>
              <a:gd name="connsiteX5" fmla="*/ 1098550 w 2882900"/>
              <a:gd name="connsiteY5" fmla="*/ 3067050 h 3429000"/>
              <a:gd name="connsiteX6" fmla="*/ 965200 w 2882900"/>
              <a:gd name="connsiteY6" fmla="*/ 2940050 h 3429000"/>
              <a:gd name="connsiteX7" fmla="*/ 965200 w 2882900"/>
              <a:gd name="connsiteY7" fmla="*/ 2857500 h 3429000"/>
              <a:gd name="connsiteX8" fmla="*/ 1009650 w 2882900"/>
              <a:gd name="connsiteY8" fmla="*/ 2794000 h 3429000"/>
              <a:gd name="connsiteX9" fmla="*/ 1168400 w 2882900"/>
              <a:gd name="connsiteY9" fmla="*/ 2717800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77925 w 2882900"/>
              <a:gd name="connsiteY12" fmla="*/ 2463800 h 3429000"/>
              <a:gd name="connsiteX13" fmla="*/ 1054100 w 2882900"/>
              <a:gd name="connsiteY13" fmla="*/ 2301875 h 3429000"/>
              <a:gd name="connsiteX14" fmla="*/ 936625 w 2882900"/>
              <a:gd name="connsiteY14" fmla="*/ 205740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66825 w 2882900"/>
              <a:gd name="connsiteY18" fmla="*/ 1670050 h 3429000"/>
              <a:gd name="connsiteX19" fmla="*/ 1517650 w 2882900"/>
              <a:gd name="connsiteY19" fmla="*/ 1536700 h 3429000"/>
              <a:gd name="connsiteX20" fmla="*/ 1587500 w 2882900"/>
              <a:gd name="connsiteY20" fmla="*/ 151130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732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89025 w 2882900"/>
              <a:gd name="connsiteY33" fmla="*/ 254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62050 w 2882900"/>
              <a:gd name="connsiteY36" fmla="*/ 501650 h 3429000"/>
              <a:gd name="connsiteX37" fmla="*/ 1184275 w 2882900"/>
              <a:gd name="connsiteY37" fmla="*/ 688975 h 3429000"/>
              <a:gd name="connsiteX38" fmla="*/ 1060450 w 2882900"/>
              <a:gd name="connsiteY38" fmla="*/ 73660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55575 w 2882900"/>
              <a:gd name="connsiteY44" fmla="*/ 55880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95400 w 2882900"/>
              <a:gd name="connsiteY4" fmla="*/ 3117850 h 3429000"/>
              <a:gd name="connsiteX5" fmla="*/ 1098550 w 2882900"/>
              <a:gd name="connsiteY5" fmla="*/ 3067050 h 3429000"/>
              <a:gd name="connsiteX6" fmla="*/ 965200 w 2882900"/>
              <a:gd name="connsiteY6" fmla="*/ 2940050 h 3429000"/>
              <a:gd name="connsiteX7" fmla="*/ 965200 w 2882900"/>
              <a:gd name="connsiteY7" fmla="*/ 2857500 h 3429000"/>
              <a:gd name="connsiteX8" fmla="*/ 1009650 w 2882900"/>
              <a:gd name="connsiteY8" fmla="*/ 2794000 h 3429000"/>
              <a:gd name="connsiteX9" fmla="*/ 1123950 w 2882900"/>
              <a:gd name="connsiteY9" fmla="*/ 2720975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77925 w 2882900"/>
              <a:gd name="connsiteY12" fmla="*/ 2463800 h 3429000"/>
              <a:gd name="connsiteX13" fmla="*/ 1054100 w 2882900"/>
              <a:gd name="connsiteY13" fmla="*/ 2301875 h 3429000"/>
              <a:gd name="connsiteX14" fmla="*/ 936625 w 2882900"/>
              <a:gd name="connsiteY14" fmla="*/ 205740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66825 w 2882900"/>
              <a:gd name="connsiteY18" fmla="*/ 1670050 h 3429000"/>
              <a:gd name="connsiteX19" fmla="*/ 1517650 w 2882900"/>
              <a:gd name="connsiteY19" fmla="*/ 1536700 h 3429000"/>
              <a:gd name="connsiteX20" fmla="*/ 1587500 w 2882900"/>
              <a:gd name="connsiteY20" fmla="*/ 151130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732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89025 w 2882900"/>
              <a:gd name="connsiteY33" fmla="*/ 254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62050 w 2882900"/>
              <a:gd name="connsiteY36" fmla="*/ 501650 h 3429000"/>
              <a:gd name="connsiteX37" fmla="*/ 1184275 w 2882900"/>
              <a:gd name="connsiteY37" fmla="*/ 688975 h 3429000"/>
              <a:gd name="connsiteX38" fmla="*/ 1060450 w 2882900"/>
              <a:gd name="connsiteY38" fmla="*/ 73660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55575 w 2882900"/>
              <a:gd name="connsiteY44" fmla="*/ 55880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95400 w 2882900"/>
              <a:gd name="connsiteY4" fmla="*/ 3117850 h 3429000"/>
              <a:gd name="connsiteX5" fmla="*/ 1098550 w 2882900"/>
              <a:gd name="connsiteY5" fmla="*/ 3067050 h 3429000"/>
              <a:gd name="connsiteX6" fmla="*/ 965200 w 2882900"/>
              <a:gd name="connsiteY6" fmla="*/ 2940050 h 3429000"/>
              <a:gd name="connsiteX7" fmla="*/ 965200 w 2882900"/>
              <a:gd name="connsiteY7" fmla="*/ 2857500 h 3429000"/>
              <a:gd name="connsiteX8" fmla="*/ 1009650 w 2882900"/>
              <a:gd name="connsiteY8" fmla="*/ 2794000 h 3429000"/>
              <a:gd name="connsiteX9" fmla="*/ 1123950 w 2882900"/>
              <a:gd name="connsiteY9" fmla="*/ 2720975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77925 w 2882900"/>
              <a:gd name="connsiteY12" fmla="*/ 2463800 h 3429000"/>
              <a:gd name="connsiteX13" fmla="*/ 1054100 w 2882900"/>
              <a:gd name="connsiteY13" fmla="*/ 2301875 h 3429000"/>
              <a:gd name="connsiteX14" fmla="*/ 936625 w 2882900"/>
              <a:gd name="connsiteY14" fmla="*/ 205740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66825 w 2882900"/>
              <a:gd name="connsiteY18" fmla="*/ 1670050 h 3429000"/>
              <a:gd name="connsiteX19" fmla="*/ 1517650 w 2882900"/>
              <a:gd name="connsiteY19" fmla="*/ 1536700 h 3429000"/>
              <a:gd name="connsiteX20" fmla="*/ 1587500 w 2882900"/>
              <a:gd name="connsiteY20" fmla="*/ 151130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732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89025 w 2882900"/>
              <a:gd name="connsiteY33" fmla="*/ 254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62050 w 2882900"/>
              <a:gd name="connsiteY36" fmla="*/ 501650 h 3429000"/>
              <a:gd name="connsiteX37" fmla="*/ 1184275 w 2882900"/>
              <a:gd name="connsiteY37" fmla="*/ 688975 h 3429000"/>
              <a:gd name="connsiteX38" fmla="*/ 1060450 w 2882900"/>
              <a:gd name="connsiteY38" fmla="*/ 73660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55575 w 2882900"/>
              <a:gd name="connsiteY44" fmla="*/ 55880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95400 w 2882900"/>
              <a:gd name="connsiteY4" fmla="*/ 3117850 h 3429000"/>
              <a:gd name="connsiteX5" fmla="*/ 1098550 w 2882900"/>
              <a:gd name="connsiteY5" fmla="*/ 3067050 h 3429000"/>
              <a:gd name="connsiteX6" fmla="*/ 965200 w 2882900"/>
              <a:gd name="connsiteY6" fmla="*/ 2940050 h 3429000"/>
              <a:gd name="connsiteX7" fmla="*/ 952500 w 2882900"/>
              <a:gd name="connsiteY7" fmla="*/ 2867025 h 3429000"/>
              <a:gd name="connsiteX8" fmla="*/ 1009650 w 2882900"/>
              <a:gd name="connsiteY8" fmla="*/ 2794000 h 3429000"/>
              <a:gd name="connsiteX9" fmla="*/ 1123950 w 2882900"/>
              <a:gd name="connsiteY9" fmla="*/ 2720975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77925 w 2882900"/>
              <a:gd name="connsiteY12" fmla="*/ 2463800 h 3429000"/>
              <a:gd name="connsiteX13" fmla="*/ 1054100 w 2882900"/>
              <a:gd name="connsiteY13" fmla="*/ 2301875 h 3429000"/>
              <a:gd name="connsiteX14" fmla="*/ 936625 w 2882900"/>
              <a:gd name="connsiteY14" fmla="*/ 205740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66825 w 2882900"/>
              <a:gd name="connsiteY18" fmla="*/ 1670050 h 3429000"/>
              <a:gd name="connsiteX19" fmla="*/ 1517650 w 2882900"/>
              <a:gd name="connsiteY19" fmla="*/ 1536700 h 3429000"/>
              <a:gd name="connsiteX20" fmla="*/ 1587500 w 2882900"/>
              <a:gd name="connsiteY20" fmla="*/ 151130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732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89025 w 2882900"/>
              <a:gd name="connsiteY33" fmla="*/ 254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62050 w 2882900"/>
              <a:gd name="connsiteY36" fmla="*/ 501650 h 3429000"/>
              <a:gd name="connsiteX37" fmla="*/ 1184275 w 2882900"/>
              <a:gd name="connsiteY37" fmla="*/ 688975 h 3429000"/>
              <a:gd name="connsiteX38" fmla="*/ 1060450 w 2882900"/>
              <a:gd name="connsiteY38" fmla="*/ 73660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55575 w 2882900"/>
              <a:gd name="connsiteY44" fmla="*/ 55880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95400 w 2882900"/>
              <a:gd name="connsiteY4" fmla="*/ 3117850 h 3429000"/>
              <a:gd name="connsiteX5" fmla="*/ 1098550 w 2882900"/>
              <a:gd name="connsiteY5" fmla="*/ 3067050 h 3429000"/>
              <a:gd name="connsiteX6" fmla="*/ 974725 w 2882900"/>
              <a:gd name="connsiteY6" fmla="*/ 2959100 h 3429000"/>
              <a:gd name="connsiteX7" fmla="*/ 952500 w 2882900"/>
              <a:gd name="connsiteY7" fmla="*/ 2867025 h 3429000"/>
              <a:gd name="connsiteX8" fmla="*/ 1009650 w 2882900"/>
              <a:gd name="connsiteY8" fmla="*/ 2794000 h 3429000"/>
              <a:gd name="connsiteX9" fmla="*/ 1123950 w 2882900"/>
              <a:gd name="connsiteY9" fmla="*/ 2720975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77925 w 2882900"/>
              <a:gd name="connsiteY12" fmla="*/ 2463800 h 3429000"/>
              <a:gd name="connsiteX13" fmla="*/ 1054100 w 2882900"/>
              <a:gd name="connsiteY13" fmla="*/ 2301875 h 3429000"/>
              <a:gd name="connsiteX14" fmla="*/ 936625 w 2882900"/>
              <a:gd name="connsiteY14" fmla="*/ 205740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66825 w 2882900"/>
              <a:gd name="connsiteY18" fmla="*/ 1670050 h 3429000"/>
              <a:gd name="connsiteX19" fmla="*/ 1517650 w 2882900"/>
              <a:gd name="connsiteY19" fmla="*/ 1536700 h 3429000"/>
              <a:gd name="connsiteX20" fmla="*/ 1587500 w 2882900"/>
              <a:gd name="connsiteY20" fmla="*/ 151130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732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89025 w 2882900"/>
              <a:gd name="connsiteY33" fmla="*/ 254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62050 w 2882900"/>
              <a:gd name="connsiteY36" fmla="*/ 501650 h 3429000"/>
              <a:gd name="connsiteX37" fmla="*/ 1184275 w 2882900"/>
              <a:gd name="connsiteY37" fmla="*/ 688975 h 3429000"/>
              <a:gd name="connsiteX38" fmla="*/ 1060450 w 2882900"/>
              <a:gd name="connsiteY38" fmla="*/ 73660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55575 w 2882900"/>
              <a:gd name="connsiteY44" fmla="*/ 55880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47775 w 2882900"/>
              <a:gd name="connsiteY4" fmla="*/ 3108325 h 3429000"/>
              <a:gd name="connsiteX5" fmla="*/ 1098550 w 2882900"/>
              <a:gd name="connsiteY5" fmla="*/ 3067050 h 3429000"/>
              <a:gd name="connsiteX6" fmla="*/ 974725 w 2882900"/>
              <a:gd name="connsiteY6" fmla="*/ 2959100 h 3429000"/>
              <a:gd name="connsiteX7" fmla="*/ 952500 w 2882900"/>
              <a:gd name="connsiteY7" fmla="*/ 2867025 h 3429000"/>
              <a:gd name="connsiteX8" fmla="*/ 1009650 w 2882900"/>
              <a:gd name="connsiteY8" fmla="*/ 2794000 h 3429000"/>
              <a:gd name="connsiteX9" fmla="*/ 1123950 w 2882900"/>
              <a:gd name="connsiteY9" fmla="*/ 2720975 h 3429000"/>
              <a:gd name="connsiteX10" fmla="*/ 1289050 w 2882900"/>
              <a:gd name="connsiteY10" fmla="*/ 2641600 h 3429000"/>
              <a:gd name="connsiteX11" fmla="*/ 1270000 w 2882900"/>
              <a:gd name="connsiteY11" fmla="*/ 2565400 h 3429000"/>
              <a:gd name="connsiteX12" fmla="*/ 1177925 w 2882900"/>
              <a:gd name="connsiteY12" fmla="*/ 2463800 h 3429000"/>
              <a:gd name="connsiteX13" fmla="*/ 1054100 w 2882900"/>
              <a:gd name="connsiteY13" fmla="*/ 2301875 h 3429000"/>
              <a:gd name="connsiteX14" fmla="*/ 936625 w 2882900"/>
              <a:gd name="connsiteY14" fmla="*/ 2057400 h 3429000"/>
              <a:gd name="connsiteX15" fmla="*/ 920750 w 2882900"/>
              <a:gd name="connsiteY15" fmla="*/ 1943100 h 3429000"/>
              <a:gd name="connsiteX16" fmla="*/ 1003300 w 2882900"/>
              <a:gd name="connsiteY16" fmla="*/ 1822450 h 3429000"/>
              <a:gd name="connsiteX17" fmla="*/ 1104900 w 2882900"/>
              <a:gd name="connsiteY17" fmla="*/ 1765300 h 3429000"/>
              <a:gd name="connsiteX18" fmla="*/ 1266825 w 2882900"/>
              <a:gd name="connsiteY18" fmla="*/ 1670050 h 3429000"/>
              <a:gd name="connsiteX19" fmla="*/ 1517650 w 2882900"/>
              <a:gd name="connsiteY19" fmla="*/ 1536700 h 3429000"/>
              <a:gd name="connsiteX20" fmla="*/ 1587500 w 2882900"/>
              <a:gd name="connsiteY20" fmla="*/ 1511300 h 3429000"/>
              <a:gd name="connsiteX21" fmla="*/ 1676400 w 2882900"/>
              <a:gd name="connsiteY21" fmla="*/ 1416050 h 3429000"/>
              <a:gd name="connsiteX22" fmla="*/ 1657350 w 2882900"/>
              <a:gd name="connsiteY22" fmla="*/ 1263650 h 3429000"/>
              <a:gd name="connsiteX23" fmla="*/ 1587500 w 2882900"/>
              <a:gd name="connsiteY23" fmla="*/ 1162050 h 3429000"/>
              <a:gd name="connsiteX24" fmla="*/ 1504950 w 2882900"/>
              <a:gd name="connsiteY24" fmla="*/ 1085850 h 3429000"/>
              <a:gd name="connsiteX25" fmla="*/ 1435100 w 2882900"/>
              <a:gd name="connsiteY25" fmla="*/ 996950 h 3429000"/>
              <a:gd name="connsiteX26" fmla="*/ 1473200 w 2882900"/>
              <a:gd name="connsiteY26" fmla="*/ 863600 h 3429000"/>
              <a:gd name="connsiteX27" fmla="*/ 1511300 w 2882900"/>
              <a:gd name="connsiteY27" fmla="*/ 755650 h 3429000"/>
              <a:gd name="connsiteX28" fmla="*/ 1517650 w 2882900"/>
              <a:gd name="connsiteY28" fmla="*/ 533400 h 3429000"/>
              <a:gd name="connsiteX29" fmla="*/ 1492250 w 2882900"/>
              <a:gd name="connsiteY29" fmla="*/ 317500 h 3429000"/>
              <a:gd name="connsiteX30" fmla="*/ 1428750 w 2882900"/>
              <a:gd name="connsiteY30" fmla="*/ 184150 h 3429000"/>
              <a:gd name="connsiteX31" fmla="*/ 1346200 w 2882900"/>
              <a:gd name="connsiteY31" fmla="*/ 88900 h 3429000"/>
              <a:gd name="connsiteX32" fmla="*/ 1162050 w 2882900"/>
              <a:gd name="connsiteY32" fmla="*/ 0 h 3429000"/>
              <a:gd name="connsiteX33" fmla="*/ 1089025 w 2882900"/>
              <a:gd name="connsiteY33" fmla="*/ 25400 h 3429000"/>
              <a:gd name="connsiteX34" fmla="*/ 1047750 w 2882900"/>
              <a:gd name="connsiteY34" fmla="*/ 114300 h 3429000"/>
              <a:gd name="connsiteX35" fmla="*/ 1041400 w 2882900"/>
              <a:gd name="connsiteY35" fmla="*/ 234950 h 3429000"/>
              <a:gd name="connsiteX36" fmla="*/ 1162050 w 2882900"/>
              <a:gd name="connsiteY36" fmla="*/ 501650 h 3429000"/>
              <a:gd name="connsiteX37" fmla="*/ 1184275 w 2882900"/>
              <a:gd name="connsiteY37" fmla="*/ 688975 h 3429000"/>
              <a:gd name="connsiteX38" fmla="*/ 1060450 w 2882900"/>
              <a:gd name="connsiteY38" fmla="*/ 736600 h 3429000"/>
              <a:gd name="connsiteX39" fmla="*/ 952500 w 2882900"/>
              <a:gd name="connsiteY39" fmla="*/ 742950 h 3429000"/>
              <a:gd name="connsiteX40" fmla="*/ 869950 w 2882900"/>
              <a:gd name="connsiteY40" fmla="*/ 742950 h 3429000"/>
              <a:gd name="connsiteX41" fmla="*/ 635000 w 2882900"/>
              <a:gd name="connsiteY41" fmla="*/ 742950 h 3429000"/>
              <a:gd name="connsiteX42" fmla="*/ 431800 w 2882900"/>
              <a:gd name="connsiteY42" fmla="*/ 698500 h 3429000"/>
              <a:gd name="connsiteX43" fmla="*/ 311150 w 2882900"/>
              <a:gd name="connsiteY43" fmla="*/ 660400 h 3429000"/>
              <a:gd name="connsiteX44" fmla="*/ 155575 w 2882900"/>
              <a:gd name="connsiteY44" fmla="*/ 558800 h 3429000"/>
              <a:gd name="connsiteX45" fmla="*/ 76200 w 2882900"/>
              <a:gd name="connsiteY45" fmla="*/ 495300 h 3429000"/>
              <a:gd name="connsiteX46" fmla="*/ 0 w 2882900"/>
              <a:gd name="connsiteY46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247775 w 2882900"/>
              <a:gd name="connsiteY4" fmla="*/ 3108325 h 3429000"/>
              <a:gd name="connsiteX5" fmla="*/ 1349375 w 2882900"/>
              <a:gd name="connsiteY5" fmla="*/ 3054350 h 3429000"/>
              <a:gd name="connsiteX6" fmla="*/ 1098550 w 2882900"/>
              <a:gd name="connsiteY6" fmla="*/ 3067050 h 3429000"/>
              <a:gd name="connsiteX7" fmla="*/ 974725 w 2882900"/>
              <a:gd name="connsiteY7" fmla="*/ 2959100 h 3429000"/>
              <a:gd name="connsiteX8" fmla="*/ 952500 w 2882900"/>
              <a:gd name="connsiteY8" fmla="*/ 2867025 h 3429000"/>
              <a:gd name="connsiteX9" fmla="*/ 1009650 w 2882900"/>
              <a:gd name="connsiteY9" fmla="*/ 2794000 h 3429000"/>
              <a:gd name="connsiteX10" fmla="*/ 1123950 w 2882900"/>
              <a:gd name="connsiteY10" fmla="*/ 2720975 h 3429000"/>
              <a:gd name="connsiteX11" fmla="*/ 1289050 w 2882900"/>
              <a:gd name="connsiteY11" fmla="*/ 2641600 h 3429000"/>
              <a:gd name="connsiteX12" fmla="*/ 1270000 w 2882900"/>
              <a:gd name="connsiteY12" fmla="*/ 2565400 h 3429000"/>
              <a:gd name="connsiteX13" fmla="*/ 1177925 w 2882900"/>
              <a:gd name="connsiteY13" fmla="*/ 2463800 h 3429000"/>
              <a:gd name="connsiteX14" fmla="*/ 1054100 w 2882900"/>
              <a:gd name="connsiteY14" fmla="*/ 2301875 h 3429000"/>
              <a:gd name="connsiteX15" fmla="*/ 936625 w 2882900"/>
              <a:gd name="connsiteY15" fmla="*/ 2057400 h 3429000"/>
              <a:gd name="connsiteX16" fmla="*/ 920750 w 2882900"/>
              <a:gd name="connsiteY16" fmla="*/ 1943100 h 3429000"/>
              <a:gd name="connsiteX17" fmla="*/ 1003300 w 2882900"/>
              <a:gd name="connsiteY17" fmla="*/ 1822450 h 3429000"/>
              <a:gd name="connsiteX18" fmla="*/ 1104900 w 2882900"/>
              <a:gd name="connsiteY18" fmla="*/ 1765300 h 3429000"/>
              <a:gd name="connsiteX19" fmla="*/ 1266825 w 2882900"/>
              <a:gd name="connsiteY19" fmla="*/ 1670050 h 3429000"/>
              <a:gd name="connsiteX20" fmla="*/ 1517650 w 2882900"/>
              <a:gd name="connsiteY20" fmla="*/ 1536700 h 3429000"/>
              <a:gd name="connsiteX21" fmla="*/ 1587500 w 2882900"/>
              <a:gd name="connsiteY21" fmla="*/ 1511300 h 3429000"/>
              <a:gd name="connsiteX22" fmla="*/ 1676400 w 2882900"/>
              <a:gd name="connsiteY22" fmla="*/ 1416050 h 3429000"/>
              <a:gd name="connsiteX23" fmla="*/ 1657350 w 2882900"/>
              <a:gd name="connsiteY23" fmla="*/ 1263650 h 3429000"/>
              <a:gd name="connsiteX24" fmla="*/ 1587500 w 2882900"/>
              <a:gd name="connsiteY24" fmla="*/ 1162050 h 3429000"/>
              <a:gd name="connsiteX25" fmla="*/ 1504950 w 2882900"/>
              <a:gd name="connsiteY25" fmla="*/ 1085850 h 3429000"/>
              <a:gd name="connsiteX26" fmla="*/ 1435100 w 2882900"/>
              <a:gd name="connsiteY26" fmla="*/ 996950 h 3429000"/>
              <a:gd name="connsiteX27" fmla="*/ 1473200 w 2882900"/>
              <a:gd name="connsiteY27" fmla="*/ 863600 h 3429000"/>
              <a:gd name="connsiteX28" fmla="*/ 1511300 w 2882900"/>
              <a:gd name="connsiteY28" fmla="*/ 755650 h 3429000"/>
              <a:gd name="connsiteX29" fmla="*/ 1517650 w 2882900"/>
              <a:gd name="connsiteY29" fmla="*/ 533400 h 3429000"/>
              <a:gd name="connsiteX30" fmla="*/ 1492250 w 2882900"/>
              <a:gd name="connsiteY30" fmla="*/ 317500 h 3429000"/>
              <a:gd name="connsiteX31" fmla="*/ 1428750 w 2882900"/>
              <a:gd name="connsiteY31" fmla="*/ 184150 h 3429000"/>
              <a:gd name="connsiteX32" fmla="*/ 1346200 w 2882900"/>
              <a:gd name="connsiteY32" fmla="*/ 88900 h 3429000"/>
              <a:gd name="connsiteX33" fmla="*/ 1162050 w 2882900"/>
              <a:gd name="connsiteY33" fmla="*/ 0 h 3429000"/>
              <a:gd name="connsiteX34" fmla="*/ 1089025 w 2882900"/>
              <a:gd name="connsiteY34" fmla="*/ 25400 h 3429000"/>
              <a:gd name="connsiteX35" fmla="*/ 1047750 w 2882900"/>
              <a:gd name="connsiteY35" fmla="*/ 114300 h 3429000"/>
              <a:gd name="connsiteX36" fmla="*/ 1041400 w 2882900"/>
              <a:gd name="connsiteY36" fmla="*/ 234950 h 3429000"/>
              <a:gd name="connsiteX37" fmla="*/ 1162050 w 2882900"/>
              <a:gd name="connsiteY37" fmla="*/ 501650 h 3429000"/>
              <a:gd name="connsiteX38" fmla="*/ 1184275 w 2882900"/>
              <a:gd name="connsiteY38" fmla="*/ 688975 h 3429000"/>
              <a:gd name="connsiteX39" fmla="*/ 1060450 w 2882900"/>
              <a:gd name="connsiteY39" fmla="*/ 736600 h 3429000"/>
              <a:gd name="connsiteX40" fmla="*/ 952500 w 2882900"/>
              <a:gd name="connsiteY40" fmla="*/ 742950 h 3429000"/>
              <a:gd name="connsiteX41" fmla="*/ 869950 w 2882900"/>
              <a:gd name="connsiteY41" fmla="*/ 742950 h 3429000"/>
              <a:gd name="connsiteX42" fmla="*/ 635000 w 2882900"/>
              <a:gd name="connsiteY42" fmla="*/ 742950 h 3429000"/>
              <a:gd name="connsiteX43" fmla="*/ 431800 w 2882900"/>
              <a:gd name="connsiteY43" fmla="*/ 698500 h 3429000"/>
              <a:gd name="connsiteX44" fmla="*/ 311150 w 2882900"/>
              <a:gd name="connsiteY44" fmla="*/ 660400 h 3429000"/>
              <a:gd name="connsiteX45" fmla="*/ 155575 w 2882900"/>
              <a:gd name="connsiteY45" fmla="*/ 558800 h 3429000"/>
              <a:gd name="connsiteX46" fmla="*/ 76200 w 2882900"/>
              <a:gd name="connsiteY46" fmla="*/ 495300 h 3429000"/>
              <a:gd name="connsiteX47" fmla="*/ 0 w 2882900"/>
              <a:gd name="connsiteY47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352550 w 2882900"/>
              <a:gd name="connsiteY4" fmla="*/ 3124200 h 3429000"/>
              <a:gd name="connsiteX5" fmla="*/ 1349375 w 2882900"/>
              <a:gd name="connsiteY5" fmla="*/ 3054350 h 3429000"/>
              <a:gd name="connsiteX6" fmla="*/ 1098550 w 2882900"/>
              <a:gd name="connsiteY6" fmla="*/ 3067050 h 3429000"/>
              <a:gd name="connsiteX7" fmla="*/ 974725 w 2882900"/>
              <a:gd name="connsiteY7" fmla="*/ 2959100 h 3429000"/>
              <a:gd name="connsiteX8" fmla="*/ 952500 w 2882900"/>
              <a:gd name="connsiteY8" fmla="*/ 2867025 h 3429000"/>
              <a:gd name="connsiteX9" fmla="*/ 1009650 w 2882900"/>
              <a:gd name="connsiteY9" fmla="*/ 2794000 h 3429000"/>
              <a:gd name="connsiteX10" fmla="*/ 1123950 w 2882900"/>
              <a:gd name="connsiteY10" fmla="*/ 2720975 h 3429000"/>
              <a:gd name="connsiteX11" fmla="*/ 1289050 w 2882900"/>
              <a:gd name="connsiteY11" fmla="*/ 2641600 h 3429000"/>
              <a:gd name="connsiteX12" fmla="*/ 1270000 w 2882900"/>
              <a:gd name="connsiteY12" fmla="*/ 2565400 h 3429000"/>
              <a:gd name="connsiteX13" fmla="*/ 1177925 w 2882900"/>
              <a:gd name="connsiteY13" fmla="*/ 2463800 h 3429000"/>
              <a:gd name="connsiteX14" fmla="*/ 1054100 w 2882900"/>
              <a:gd name="connsiteY14" fmla="*/ 2301875 h 3429000"/>
              <a:gd name="connsiteX15" fmla="*/ 936625 w 2882900"/>
              <a:gd name="connsiteY15" fmla="*/ 2057400 h 3429000"/>
              <a:gd name="connsiteX16" fmla="*/ 920750 w 2882900"/>
              <a:gd name="connsiteY16" fmla="*/ 1943100 h 3429000"/>
              <a:gd name="connsiteX17" fmla="*/ 1003300 w 2882900"/>
              <a:gd name="connsiteY17" fmla="*/ 1822450 h 3429000"/>
              <a:gd name="connsiteX18" fmla="*/ 1104900 w 2882900"/>
              <a:gd name="connsiteY18" fmla="*/ 1765300 h 3429000"/>
              <a:gd name="connsiteX19" fmla="*/ 1266825 w 2882900"/>
              <a:gd name="connsiteY19" fmla="*/ 1670050 h 3429000"/>
              <a:gd name="connsiteX20" fmla="*/ 1517650 w 2882900"/>
              <a:gd name="connsiteY20" fmla="*/ 1536700 h 3429000"/>
              <a:gd name="connsiteX21" fmla="*/ 1587500 w 2882900"/>
              <a:gd name="connsiteY21" fmla="*/ 1511300 h 3429000"/>
              <a:gd name="connsiteX22" fmla="*/ 1676400 w 2882900"/>
              <a:gd name="connsiteY22" fmla="*/ 1416050 h 3429000"/>
              <a:gd name="connsiteX23" fmla="*/ 1657350 w 2882900"/>
              <a:gd name="connsiteY23" fmla="*/ 1263650 h 3429000"/>
              <a:gd name="connsiteX24" fmla="*/ 1587500 w 2882900"/>
              <a:gd name="connsiteY24" fmla="*/ 1162050 h 3429000"/>
              <a:gd name="connsiteX25" fmla="*/ 1504950 w 2882900"/>
              <a:gd name="connsiteY25" fmla="*/ 1085850 h 3429000"/>
              <a:gd name="connsiteX26" fmla="*/ 1435100 w 2882900"/>
              <a:gd name="connsiteY26" fmla="*/ 996950 h 3429000"/>
              <a:gd name="connsiteX27" fmla="*/ 1473200 w 2882900"/>
              <a:gd name="connsiteY27" fmla="*/ 863600 h 3429000"/>
              <a:gd name="connsiteX28" fmla="*/ 1511300 w 2882900"/>
              <a:gd name="connsiteY28" fmla="*/ 755650 h 3429000"/>
              <a:gd name="connsiteX29" fmla="*/ 1517650 w 2882900"/>
              <a:gd name="connsiteY29" fmla="*/ 533400 h 3429000"/>
              <a:gd name="connsiteX30" fmla="*/ 1492250 w 2882900"/>
              <a:gd name="connsiteY30" fmla="*/ 317500 h 3429000"/>
              <a:gd name="connsiteX31" fmla="*/ 1428750 w 2882900"/>
              <a:gd name="connsiteY31" fmla="*/ 184150 h 3429000"/>
              <a:gd name="connsiteX32" fmla="*/ 1346200 w 2882900"/>
              <a:gd name="connsiteY32" fmla="*/ 88900 h 3429000"/>
              <a:gd name="connsiteX33" fmla="*/ 1162050 w 2882900"/>
              <a:gd name="connsiteY33" fmla="*/ 0 h 3429000"/>
              <a:gd name="connsiteX34" fmla="*/ 1089025 w 2882900"/>
              <a:gd name="connsiteY34" fmla="*/ 25400 h 3429000"/>
              <a:gd name="connsiteX35" fmla="*/ 1047750 w 2882900"/>
              <a:gd name="connsiteY35" fmla="*/ 114300 h 3429000"/>
              <a:gd name="connsiteX36" fmla="*/ 1041400 w 2882900"/>
              <a:gd name="connsiteY36" fmla="*/ 234950 h 3429000"/>
              <a:gd name="connsiteX37" fmla="*/ 1162050 w 2882900"/>
              <a:gd name="connsiteY37" fmla="*/ 501650 h 3429000"/>
              <a:gd name="connsiteX38" fmla="*/ 1184275 w 2882900"/>
              <a:gd name="connsiteY38" fmla="*/ 688975 h 3429000"/>
              <a:gd name="connsiteX39" fmla="*/ 1060450 w 2882900"/>
              <a:gd name="connsiteY39" fmla="*/ 736600 h 3429000"/>
              <a:gd name="connsiteX40" fmla="*/ 952500 w 2882900"/>
              <a:gd name="connsiteY40" fmla="*/ 742950 h 3429000"/>
              <a:gd name="connsiteX41" fmla="*/ 869950 w 2882900"/>
              <a:gd name="connsiteY41" fmla="*/ 742950 h 3429000"/>
              <a:gd name="connsiteX42" fmla="*/ 635000 w 2882900"/>
              <a:gd name="connsiteY42" fmla="*/ 742950 h 3429000"/>
              <a:gd name="connsiteX43" fmla="*/ 431800 w 2882900"/>
              <a:gd name="connsiteY43" fmla="*/ 698500 h 3429000"/>
              <a:gd name="connsiteX44" fmla="*/ 311150 w 2882900"/>
              <a:gd name="connsiteY44" fmla="*/ 660400 h 3429000"/>
              <a:gd name="connsiteX45" fmla="*/ 155575 w 2882900"/>
              <a:gd name="connsiteY45" fmla="*/ 558800 h 3429000"/>
              <a:gd name="connsiteX46" fmla="*/ 76200 w 2882900"/>
              <a:gd name="connsiteY46" fmla="*/ 495300 h 3429000"/>
              <a:gd name="connsiteX47" fmla="*/ 0 w 2882900"/>
              <a:gd name="connsiteY47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352550 w 2882900"/>
              <a:gd name="connsiteY4" fmla="*/ 3124200 h 3429000"/>
              <a:gd name="connsiteX5" fmla="*/ 1266825 w 2882900"/>
              <a:gd name="connsiteY5" fmla="*/ 3117850 h 3429000"/>
              <a:gd name="connsiteX6" fmla="*/ 1098550 w 2882900"/>
              <a:gd name="connsiteY6" fmla="*/ 3067050 h 3429000"/>
              <a:gd name="connsiteX7" fmla="*/ 974725 w 2882900"/>
              <a:gd name="connsiteY7" fmla="*/ 2959100 h 3429000"/>
              <a:gd name="connsiteX8" fmla="*/ 952500 w 2882900"/>
              <a:gd name="connsiteY8" fmla="*/ 2867025 h 3429000"/>
              <a:gd name="connsiteX9" fmla="*/ 1009650 w 2882900"/>
              <a:gd name="connsiteY9" fmla="*/ 2794000 h 3429000"/>
              <a:gd name="connsiteX10" fmla="*/ 1123950 w 2882900"/>
              <a:gd name="connsiteY10" fmla="*/ 2720975 h 3429000"/>
              <a:gd name="connsiteX11" fmla="*/ 1289050 w 2882900"/>
              <a:gd name="connsiteY11" fmla="*/ 2641600 h 3429000"/>
              <a:gd name="connsiteX12" fmla="*/ 1270000 w 2882900"/>
              <a:gd name="connsiteY12" fmla="*/ 2565400 h 3429000"/>
              <a:gd name="connsiteX13" fmla="*/ 1177925 w 2882900"/>
              <a:gd name="connsiteY13" fmla="*/ 2463800 h 3429000"/>
              <a:gd name="connsiteX14" fmla="*/ 1054100 w 2882900"/>
              <a:gd name="connsiteY14" fmla="*/ 2301875 h 3429000"/>
              <a:gd name="connsiteX15" fmla="*/ 936625 w 2882900"/>
              <a:gd name="connsiteY15" fmla="*/ 2057400 h 3429000"/>
              <a:gd name="connsiteX16" fmla="*/ 920750 w 2882900"/>
              <a:gd name="connsiteY16" fmla="*/ 1943100 h 3429000"/>
              <a:gd name="connsiteX17" fmla="*/ 1003300 w 2882900"/>
              <a:gd name="connsiteY17" fmla="*/ 1822450 h 3429000"/>
              <a:gd name="connsiteX18" fmla="*/ 1104900 w 2882900"/>
              <a:gd name="connsiteY18" fmla="*/ 1765300 h 3429000"/>
              <a:gd name="connsiteX19" fmla="*/ 1266825 w 2882900"/>
              <a:gd name="connsiteY19" fmla="*/ 1670050 h 3429000"/>
              <a:gd name="connsiteX20" fmla="*/ 1517650 w 2882900"/>
              <a:gd name="connsiteY20" fmla="*/ 1536700 h 3429000"/>
              <a:gd name="connsiteX21" fmla="*/ 1587500 w 2882900"/>
              <a:gd name="connsiteY21" fmla="*/ 1511300 h 3429000"/>
              <a:gd name="connsiteX22" fmla="*/ 1676400 w 2882900"/>
              <a:gd name="connsiteY22" fmla="*/ 1416050 h 3429000"/>
              <a:gd name="connsiteX23" fmla="*/ 1657350 w 2882900"/>
              <a:gd name="connsiteY23" fmla="*/ 1263650 h 3429000"/>
              <a:gd name="connsiteX24" fmla="*/ 1587500 w 2882900"/>
              <a:gd name="connsiteY24" fmla="*/ 1162050 h 3429000"/>
              <a:gd name="connsiteX25" fmla="*/ 1504950 w 2882900"/>
              <a:gd name="connsiteY25" fmla="*/ 1085850 h 3429000"/>
              <a:gd name="connsiteX26" fmla="*/ 1435100 w 2882900"/>
              <a:gd name="connsiteY26" fmla="*/ 996950 h 3429000"/>
              <a:gd name="connsiteX27" fmla="*/ 1473200 w 2882900"/>
              <a:gd name="connsiteY27" fmla="*/ 863600 h 3429000"/>
              <a:gd name="connsiteX28" fmla="*/ 1511300 w 2882900"/>
              <a:gd name="connsiteY28" fmla="*/ 755650 h 3429000"/>
              <a:gd name="connsiteX29" fmla="*/ 1517650 w 2882900"/>
              <a:gd name="connsiteY29" fmla="*/ 533400 h 3429000"/>
              <a:gd name="connsiteX30" fmla="*/ 1492250 w 2882900"/>
              <a:gd name="connsiteY30" fmla="*/ 317500 h 3429000"/>
              <a:gd name="connsiteX31" fmla="*/ 1428750 w 2882900"/>
              <a:gd name="connsiteY31" fmla="*/ 184150 h 3429000"/>
              <a:gd name="connsiteX32" fmla="*/ 1346200 w 2882900"/>
              <a:gd name="connsiteY32" fmla="*/ 88900 h 3429000"/>
              <a:gd name="connsiteX33" fmla="*/ 1162050 w 2882900"/>
              <a:gd name="connsiteY33" fmla="*/ 0 h 3429000"/>
              <a:gd name="connsiteX34" fmla="*/ 1089025 w 2882900"/>
              <a:gd name="connsiteY34" fmla="*/ 25400 h 3429000"/>
              <a:gd name="connsiteX35" fmla="*/ 1047750 w 2882900"/>
              <a:gd name="connsiteY35" fmla="*/ 114300 h 3429000"/>
              <a:gd name="connsiteX36" fmla="*/ 1041400 w 2882900"/>
              <a:gd name="connsiteY36" fmla="*/ 234950 h 3429000"/>
              <a:gd name="connsiteX37" fmla="*/ 1162050 w 2882900"/>
              <a:gd name="connsiteY37" fmla="*/ 501650 h 3429000"/>
              <a:gd name="connsiteX38" fmla="*/ 1184275 w 2882900"/>
              <a:gd name="connsiteY38" fmla="*/ 688975 h 3429000"/>
              <a:gd name="connsiteX39" fmla="*/ 1060450 w 2882900"/>
              <a:gd name="connsiteY39" fmla="*/ 736600 h 3429000"/>
              <a:gd name="connsiteX40" fmla="*/ 952500 w 2882900"/>
              <a:gd name="connsiteY40" fmla="*/ 742950 h 3429000"/>
              <a:gd name="connsiteX41" fmla="*/ 869950 w 2882900"/>
              <a:gd name="connsiteY41" fmla="*/ 742950 h 3429000"/>
              <a:gd name="connsiteX42" fmla="*/ 635000 w 2882900"/>
              <a:gd name="connsiteY42" fmla="*/ 742950 h 3429000"/>
              <a:gd name="connsiteX43" fmla="*/ 431800 w 2882900"/>
              <a:gd name="connsiteY43" fmla="*/ 698500 h 3429000"/>
              <a:gd name="connsiteX44" fmla="*/ 311150 w 2882900"/>
              <a:gd name="connsiteY44" fmla="*/ 660400 h 3429000"/>
              <a:gd name="connsiteX45" fmla="*/ 155575 w 2882900"/>
              <a:gd name="connsiteY45" fmla="*/ 558800 h 3429000"/>
              <a:gd name="connsiteX46" fmla="*/ 76200 w 2882900"/>
              <a:gd name="connsiteY46" fmla="*/ 495300 h 3429000"/>
              <a:gd name="connsiteX47" fmla="*/ 0 w 2882900"/>
              <a:gd name="connsiteY47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5600 w 2882900"/>
              <a:gd name="connsiteY3" fmla="*/ 2908300 h 3429000"/>
              <a:gd name="connsiteX4" fmla="*/ 1358900 w 2882900"/>
              <a:gd name="connsiteY4" fmla="*/ 3092450 h 3429000"/>
              <a:gd name="connsiteX5" fmla="*/ 1266825 w 2882900"/>
              <a:gd name="connsiteY5" fmla="*/ 3117850 h 3429000"/>
              <a:gd name="connsiteX6" fmla="*/ 1098550 w 2882900"/>
              <a:gd name="connsiteY6" fmla="*/ 3067050 h 3429000"/>
              <a:gd name="connsiteX7" fmla="*/ 974725 w 2882900"/>
              <a:gd name="connsiteY7" fmla="*/ 2959100 h 3429000"/>
              <a:gd name="connsiteX8" fmla="*/ 952500 w 2882900"/>
              <a:gd name="connsiteY8" fmla="*/ 2867025 h 3429000"/>
              <a:gd name="connsiteX9" fmla="*/ 1009650 w 2882900"/>
              <a:gd name="connsiteY9" fmla="*/ 2794000 h 3429000"/>
              <a:gd name="connsiteX10" fmla="*/ 1123950 w 2882900"/>
              <a:gd name="connsiteY10" fmla="*/ 2720975 h 3429000"/>
              <a:gd name="connsiteX11" fmla="*/ 1289050 w 2882900"/>
              <a:gd name="connsiteY11" fmla="*/ 2641600 h 3429000"/>
              <a:gd name="connsiteX12" fmla="*/ 1270000 w 2882900"/>
              <a:gd name="connsiteY12" fmla="*/ 2565400 h 3429000"/>
              <a:gd name="connsiteX13" fmla="*/ 1177925 w 2882900"/>
              <a:gd name="connsiteY13" fmla="*/ 2463800 h 3429000"/>
              <a:gd name="connsiteX14" fmla="*/ 1054100 w 2882900"/>
              <a:gd name="connsiteY14" fmla="*/ 2301875 h 3429000"/>
              <a:gd name="connsiteX15" fmla="*/ 936625 w 2882900"/>
              <a:gd name="connsiteY15" fmla="*/ 2057400 h 3429000"/>
              <a:gd name="connsiteX16" fmla="*/ 920750 w 2882900"/>
              <a:gd name="connsiteY16" fmla="*/ 1943100 h 3429000"/>
              <a:gd name="connsiteX17" fmla="*/ 1003300 w 2882900"/>
              <a:gd name="connsiteY17" fmla="*/ 1822450 h 3429000"/>
              <a:gd name="connsiteX18" fmla="*/ 1104900 w 2882900"/>
              <a:gd name="connsiteY18" fmla="*/ 1765300 h 3429000"/>
              <a:gd name="connsiteX19" fmla="*/ 1266825 w 2882900"/>
              <a:gd name="connsiteY19" fmla="*/ 1670050 h 3429000"/>
              <a:gd name="connsiteX20" fmla="*/ 1517650 w 2882900"/>
              <a:gd name="connsiteY20" fmla="*/ 1536700 h 3429000"/>
              <a:gd name="connsiteX21" fmla="*/ 1587500 w 2882900"/>
              <a:gd name="connsiteY21" fmla="*/ 1511300 h 3429000"/>
              <a:gd name="connsiteX22" fmla="*/ 1676400 w 2882900"/>
              <a:gd name="connsiteY22" fmla="*/ 1416050 h 3429000"/>
              <a:gd name="connsiteX23" fmla="*/ 1657350 w 2882900"/>
              <a:gd name="connsiteY23" fmla="*/ 1263650 h 3429000"/>
              <a:gd name="connsiteX24" fmla="*/ 1587500 w 2882900"/>
              <a:gd name="connsiteY24" fmla="*/ 1162050 h 3429000"/>
              <a:gd name="connsiteX25" fmla="*/ 1504950 w 2882900"/>
              <a:gd name="connsiteY25" fmla="*/ 1085850 h 3429000"/>
              <a:gd name="connsiteX26" fmla="*/ 1435100 w 2882900"/>
              <a:gd name="connsiteY26" fmla="*/ 996950 h 3429000"/>
              <a:gd name="connsiteX27" fmla="*/ 1473200 w 2882900"/>
              <a:gd name="connsiteY27" fmla="*/ 863600 h 3429000"/>
              <a:gd name="connsiteX28" fmla="*/ 1511300 w 2882900"/>
              <a:gd name="connsiteY28" fmla="*/ 755650 h 3429000"/>
              <a:gd name="connsiteX29" fmla="*/ 1517650 w 2882900"/>
              <a:gd name="connsiteY29" fmla="*/ 533400 h 3429000"/>
              <a:gd name="connsiteX30" fmla="*/ 1492250 w 2882900"/>
              <a:gd name="connsiteY30" fmla="*/ 317500 h 3429000"/>
              <a:gd name="connsiteX31" fmla="*/ 1428750 w 2882900"/>
              <a:gd name="connsiteY31" fmla="*/ 184150 h 3429000"/>
              <a:gd name="connsiteX32" fmla="*/ 1346200 w 2882900"/>
              <a:gd name="connsiteY32" fmla="*/ 88900 h 3429000"/>
              <a:gd name="connsiteX33" fmla="*/ 1162050 w 2882900"/>
              <a:gd name="connsiteY33" fmla="*/ 0 h 3429000"/>
              <a:gd name="connsiteX34" fmla="*/ 1089025 w 2882900"/>
              <a:gd name="connsiteY34" fmla="*/ 25400 h 3429000"/>
              <a:gd name="connsiteX35" fmla="*/ 1047750 w 2882900"/>
              <a:gd name="connsiteY35" fmla="*/ 114300 h 3429000"/>
              <a:gd name="connsiteX36" fmla="*/ 1041400 w 2882900"/>
              <a:gd name="connsiteY36" fmla="*/ 234950 h 3429000"/>
              <a:gd name="connsiteX37" fmla="*/ 1162050 w 2882900"/>
              <a:gd name="connsiteY37" fmla="*/ 501650 h 3429000"/>
              <a:gd name="connsiteX38" fmla="*/ 1184275 w 2882900"/>
              <a:gd name="connsiteY38" fmla="*/ 688975 h 3429000"/>
              <a:gd name="connsiteX39" fmla="*/ 1060450 w 2882900"/>
              <a:gd name="connsiteY39" fmla="*/ 736600 h 3429000"/>
              <a:gd name="connsiteX40" fmla="*/ 952500 w 2882900"/>
              <a:gd name="connsiteY40" fmla="*/ 742950 h 3429000"/>
              <a:gd name="connsiteX41" fmla="*/ 869950 w 2882900"/>
              <a:gd name="connsiteY41" fmla="*/ 742950 h 3429000"/>
              <a:gd name="connsiteX42" fmla="*/ 635000 w 2882900"/>
              <a:gd name="connsiteY42" fmla="*/ 742950 h 3429000"/>
              <a:gd name="connsiteX43" fmla="*/ 431800 w 2882900"/>
              <a:gd name="connsiteY43" fmla="*/ 698500 h 3429000"/>
              <a:gd name="connsiteX44" fmla="*/ 311150 w 2882900"/>
              <a:gd name="connsiteY44" fmla="*/ 660400 h 3429000"/>
              <a:gd name="connsiteX45" fmla="*/ 155575 w 2882900"/>
              <a:gd name="connsiteY45" fmla="*/ 558800 h 3429000"/>
              <a:gd name="connsiteX46" fmla="*/ 76200 w 2882900"/>
              <a:gd name="connsiteY46" fmla="*/ 495300 h 3429000"/>
              <a:gd name="connsiteX47" fmla="*/ 0 w 2882900"/>
              <a:gd name="connsiteY47" fmla="*/ 425450 h 3429000"/>
              <a:gd name="connsiteX0" fmla="*/ 2882900 w 2882900"/>
              <a:gd name="connsiteY0" fmla="*/ 3429000 h 3429000"/>
              <a:gd name="connsiteX1" fmla="*/ 2114550 w 2882900"/>
              <a:gd name="connsiteY1" fmla="*/ 3022600 h 3429000"/>
              <a:gd name="connsiteX2" fmla="*/ 1854200 w 2882900"/>
              <a:gd name="connsiteY2" fmla="*/ 3028950 h 3429000"/>
              <a:gd name="connsiteX3" fmla="*/ 1622425 w 2882900"/>
              <a:gd name="connsiteY3" fmla="*/ 2879725 h 3429000"/>
              <a:gd name="connsiteX4" fmla="*/ 1358900 w 2882900"/>
              <a:gd name="connsiteY4" fmla="*/ 3092450 h 3429000"/>
              <a:gd name="connsiteX5" fmla="*/ 1266825 w 2882900"/>
              <a:gd name="connsiteY5" fmla="*/ 3117850 h 3429000"/>
              <a:gd name="connsiteX6" fmla="*/ 1098550 w 2882900"/>
              <a:gd name="connsiteY6" fmla="*/ 3067050 h 3429000"/>
              <a:gd name="connsiteX7" fmla="*/ 974725 w 2882900"/>
              <a:gd name="connsiteY7" fmla="*/ 2959100 h 3429000"/>
              <a:gd name="connsiteX8" fmla="*/ 952500 w 2882900"/>
              <a:gd name="connsiteY8" fmla="*/ 2867025 h 3429000"/>
              <a:gd name="connsiteX9" fmla="*/ 1009650 w 2882900"/>
              <a:gd name="connsiteY9" fmla="*/ 2794000 h 3429000"/>
              <a:gd name="connsiteX10" fmla="*/ 1123950 w 2882900"/>
              <a:gd name="connsiteY10" fmla="*/ 2720975 h 3429000"/>
              <a:gd name="connsiteX11" fmla="*/ 1289050 w 2882900"/>
              <a:gd name="connsiteY11" fmla="*/ 2641600 h 3429000"/>
              <a:gd name="connsiteX12" fmla="*/ 1270000 w 2882900"/>
              <a:gd name="connsiteY12" fmla="*/ 2565400 h 3429000"/>
              <a:gd name="connsiteX13" fmla="*/ 1177925 w 2882900"/>
              <a:gd name="connsiteY13" fmla="*/ 2463800 h 3429000"/>
              <a:gd name="connsiteX14" fmla="*/ 1054100 w 2882900"/>
              <a:gd name="connsiteY14" fmla="*/ 2301875 h 3429000"/>
              <a:gd name="connsiteX15" fmla="*/ 936625 w 2882900"/>
              <a:gd name="connsiteY15" fmla="*/ 2057400 h 3429000"/>
              <a:gd name="connsiteX16" fmla="*/ 920750 w 2882900"/>
              <a:gd name="connsiteY16" fmla="*/ 1943100 h 3429000"/>
              <a:gd name="connsiteX17" fmla="*/ 1003300 w 2882900"/>
              <a:gd name="connsiteY17" fmla="*/ 1822450 h 3429000"/>
              <a:gd name="connsiteX18" fmla="*/ 1104900 w 2882900"/>
              <a:gd name="connsiteY18" fmla="*/ 1765300 h 3429000"/>
              <a:gd name="connsiteX19" fmla="*/ 1266825 w 2882900"/>
              <a:gd name="connsiteY19" fmla="*/ 1670050 h 3429000"/>
              <a:gd name="connsiteX20" fmla="*/ 1517650 w 2882900"/>
              <a:gd name="connsiteY20" fmla="*/ 1536700 h 3429000"/>
              <a:gd name="connsiteX21" fmla="*/ 1587500 w 2882900"/>
              <a:gd name="connsiteY21" fmla="*/ 1511300 h 3429000"/>
              <a:gd name="connsiteX22" fmla="*/ 1676400 w 2882900"/>
              <a:gd name="connsiteY22" fmla="*/ 1416050 h 3429000"/>
              <a:gd name="connsiteX23" fmla="*/ 1657350 w 2882900"/>
              <a:gd name="connsiteY23" fmla="*/ 1263650 h 3429000"/>
              <a:gd name="connsiteX24" fmla="*/ 1587500 w 2882900"/>
              <a:gd name="connsiteY24" fmla="*/ 1162050 h 3429000"/>
              <a:gd name="connsiteX25" fmla="*/ 1504950 w 2882900"/>
              <a:gd name="connsiteY25" fmla="*/ 1085850 h 3429000"/>
              <a:gd name="connsiteX26" fmla="*/ 1435100 w 2882900"/>
              <a:gd name="connsiteY26" fmla="*/ 996950 h 3429000"/>
              <a:gd name="connsiteX27" fmla="*/ 1473200 w 2882900"/>
              <a:gd name="connsiteY27" fmla="*/ 863600 h 3429000"/>
              <a:gd name="connsiteX28" fmla="*/ 1511300 w 2882900"/>
              <a:gd name="connsiteY28" fmla="*/ 755650 h 3429000"/>
              <a:gd name="connsiteX29" fmla="*/ 1517650 w 2882900"/>
              <a:gd name="connsiteY29" fmla="*/ 533400 h 3429000"/>
              <a:gd name="connsiteX30" fmla="*/ 1492250 w 2882900"/>
              <a:gd name="connsiteY30" fmla="*/ 317500 h 3429000"/>
              <a:gd name="connsiteX31" fmla="*/ 1428750 w 2882900"/>
              <a:gd name="connsiteY31" fmla="*/ 184150 h 3429000"/>
              <a:gd name="connsiteX32" fmla="*/ 1346200 w 2882900"/>
              <a:gd name="connsiteY32" fmla="*/ 88900 h 3429000"/>
              <a:gd name="connsiteX33" fmla="*/ 1162050 w 2882900"/>
              <a:gd name="connsiteY33" fmla="*/ 0 h 3429000"/>
              <a:gd name="connsiteX34" fmla="*/ 1089025 w 2882900"/>
              <a:gd name="connsiteY34" fmla="*/ 25400 h 3429000"/>
              <a:gd name="connsiteX35" fmla="*/ 1047750 w 2882900"/>
              <a:gd name="connsiteY35" fmla="*/ 114300 h 3429000"/>
              <a:gd name="connsiteX36" fmla="*/ 1041400 w 2882900"/>
              <a:gd name="connsiteY36" fmla="*/ 234950 h 3429000"/>
              <a:gd name="connsiteX37" fmla="*/ 1162050 w 2882900"/>
              <a:gd name="connsiteY37" fmla="*/ 501650 h 3429000"/>
              <a:gd name="connsiteX38" fmla="*/ 1184275 w 2882900"/>
              <a:gd name="connsiteY38" fmla="*/ 688975 h 3429000"/>
              <a:gd name="connsiteX39" fmla="*/ 1060450 w 2882900"/>
              <a:gd name="connsiteY39" fmla="*/ 736600 h 3429000"/>
              <a:gd name="connsiteX40" fmla="*/ 952500 w 2882900"/>
              <a:gd name="connsiteY40" fmla="*/ 742950 h 3429000"/>
              <a:gd name="connsiteX41" fmla="*/ 869950 w 2882900"/>
              <a:gd name="connsiteY41" fmla="*/ 742950 h 3429000"/>
              <a:gd name="connsiteX42" fmla="*/ 635000 w 2882900"/>
              <a:gd name="connsiteY42" fmla="*/ 742950 h 3429000"/>
              <a:gd name="connsiteX43" fmla="*/ 431800 w 2882900"/>
              <a:gd name="connsiteY43" fmla="*/ 698500 h 3429000"/>
              <a:gd name="connsiteX44" fmla="*/ 311150 w 2882900"/>
              <a:gd name="connsiteY44" fmla="*/ 660400 h 3429000"/>
              <a:gd name="connsiteX45" fmla="*/ 155575 w 2882900"/>
              <a:gd name="connsiteY45" fmla="*/ 558800 h 3429000"/>
              <a:gd name="connsiteX46" fmla="*/ 76200 w 2882900"/>
              <a:gd name="connsiteY46" fmla="*/ 495300 h 3429000"/>
              <a:gd name="connsiteX47" fmla="*/ 0 w 2882900"/>
              <a:gd name="connsiteY47" fmla="*/ 42545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882900" h="3429000">
                <a:moveTo>
                  <a:pt x="2882900" y="3429000"/>
                </a:moveTo>
                <a:lnTo>
                  <a:pt x="2114550" y="3022600"/>
                </a:lnTo>
                <a:lnTo>
                  <a:pt x="1854200" y="3028950"/>
                </a:lnTo>
                <a:lnTo>
                  <a:pt x="1622425" y="2879725"/>
                </a:lnTo>
                <a:lnTo>
                  <a:pt x="1358900" y="3092450"/>
                </a:lnTo>
                <a:lnTo>
                  <a:pt x="1266825" y="3117850"/>
                </a:lnTo>
                <a:lnTo>
                  <a:pt x="1098550" y="3067050"/>
                </a:lnTo>
                <a:lnTo>
                  <a:pt x="974725" y="2959100"/>
                </a:lnTo>
                <a:lnTo>
                  <a:pt x="952500" y="2867025"/>
                </a:lnTo>
                <a:lnTo>
                  <a:pt x="1009650" y="2794000"/>
                </a:lnTo>
                <a:lnTo>
                  <a:pt x="1123950" y="2720975"/>
                </a:lnTo>
                <a:lnTo>
                  <a:pt x="1289050" y="2641600"/>
                </a:lnTo>
                <a:lnTo>
                  <a:pt x="1270000" y="2565400"/>
                </a:lnTo>
                <a:lnTo>
                  <a:pt x="1177925" y="2463800"/>
                </a:lnTo>
                <a:lnTo>
                  <a:pt x="1054100" y="2301875"/>
                </a:lnTo>
                <a:lnTo>
                  <a:pt x="936625" y="2057400"/>
                </a:lnTo>
                <a:lnTo>
                  <a:pt x="920750" y="1943100"/>
                </a:lnTo>
                <a:lnTo>
                  <a:pt x="1003300" y="1822450"/>
                </a:lnTo>
                <a:lnTo>
                  <a:pt x="1104900" y="1765300"/>
                </a:lnTo>
                <a:lnTo>
                  <a:pt x="1266825" y="1670050"/>
                </a:lnTo>
                <a:lnTo>
                  <a:pt x="1517650" y="1536700"/>
                </a:lnTo>
                <a:lnTo>
                  <a:pt x="1587500" y="1511300"/>
                </a:lnTo>
                <a:lnTo>
                  <a:pt x="1676400" y="1416050"/>
                </a:lnTo>
                <a:lnTo>
                  <a:pt x="1657350" y="1263650"/>
                </a:lnTo>
                <a:lnTo>
                  <a:pt x="1587500" y="1162050"/>
                </a:lnTo>
                <a:lnTo>
                  <a:pt x="1504950" y="1085850"/>
                </a:lnTo>
                <a:lnTo>
                  <a:pt x="1435100" y="996950"/>
                </a:lnTo>
                <a:lnTo>
                  <a:pt x="1473200" y="863600"/>
                </a:lnTo>
                <a:lnTo>
                  <a:pt x="1511300" y="755650"/>
                </a:lnTo>
                <a:lnTo>
                  <a:pt x="1517650" y="533400"/>
                </a:lnTo>
                <a:lnTo>
                  <a:pt x="1492250" y="317500"/>
                </a:lnTo>
                <a:lnTo>
                  <a:pt x="1428750" y="184150"/>
                </a:lnTo>
                <a:lnTo>
                  <a:pt x="1346200" y="88900"/>
                </a:lnTo>
                <a:lnTo>
                  <a:pt x="1162050" y="0"/>
                </a:lnTo>
                <a:lnTo>
                  <a:pt x="1089025" y="25400"/>
                </a:lnTo>
                <a:lnTo>
                  <a:pt x="1047750" y="114300"/>
                </a:lnTo>
                <a:lnTo>
                  <a:pt x="1041400" y="234950"/>
                </a:lnTo>
                <a:lnTo>
                  <a:pt x="1162050" y="501650"/>
                </a:lnTo>
                <a:lnTo>
                  <a:pt x="1184275" y="688975"/>
                </a:lnTo>
                <a:lnTo>
                  <a:pt x="1060450" y="736600"/>
                </a:lnTo>
                <a:lnTo>
                  <a:pt x="952500" y="742950"/>
                </a:lnTo>
                <a:lnTo>
                  <a:pt x="869950" y="742950"/>
                </a:lnTo>
                <a:lnTo>
                  <a:pt x="635000" y="742950"/>
                </a:lnTo>
                <a:lnTo>
                  <a:pt x="431800" y="698500"/>
                </a:lnTo>
                <a:lnTo>
                  <a:pt x="311150" y="660400"/>
                </a:lnTo>
                <a:lnTo>
                  <a:pt x="155575" y="558800"/>
                </a:lnTo>
                <a:lnTo>
                  <a:pt x="76200" y="495300"/>
                </a:lnTo>
                <a:lnTo>
                  <a:pt x="0" y="425450"/>
                </a:ln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 dirty="0"/>
          </a:p>
        </p:txBody>
      </p:sp>
      <p:sp>
        <p:nvSpPr>
          <p:cNvPr id="13" name="手繪多邊形: 圖案 12">
            <a:extLst>
              <a:ext uri="{FF2B5EF4-FFF2-40B4-BE49-F238E27FC236}">
                <a16:creationId xmlns:a16="http://schemas.microsoft.com/office/drawing/2014/main" id="{EA4D615D-6D83-4608-85A1-EB97E5910279}"/>
              </a:ext>
            </a:extLst>
          </p:cNvPr>
          <p:cNvSpPr>
            <a:spLocks noChangeAspect="1"/>
          </p:cNvSpPr>
          <p:nvPr/>
        </p:nvSpPr>
        <p:spPr>
          <a:xfrm rot="21149779">
            <a:off x="2243556" y="1407743"/>
            <a:ext cx="331851" cy="476726"/>
          </a:xfrm>
          <a:custGeom>
            <a:avLst/>
            <a:gdLst>
              <a:gd name="connsiteX0" fmla="*/ 2219325 w 2519362"/>
              <a:gd name="connsiteY0" fmla="*/ 3524250 h 3524250"/>
              <a:gd name="connsiteX1" fmla="*/ 2519362 w 2519362"/>
              <a:gd name="connsiteY1" fmla="*/ 3167062 h 3524250"/>
              <a:gd name="connsiteX2" fmla="*/ 2324100 w 2519362"/>
              <a:gd name="connsiteY2" fmla="*/ 2952750 h 3524250"/>
              <a:gd name="connsiteX3" fmla="*/ 2271712 w 2519362"/>
              <a:gd name="connsiteY3" fmla="*/ 2905125 h 3524250"/>
              <a:gd name="connsiteX4" fmla="*/ 2195512 w 2519362"/>
              <a:gd name="connsiteY4" fmla="*/ 2828925 h 3524250"/>
              <a:gd name="connsiteX5" fmla="*/ 2124075 w 2519362"/>
              <a:gd name="connsiteY5" fmla="*/ 2757487 h 3524250"/>
              <a:gd name="connsiteX6" fmla="*/ 2090737 w 2519362"/>
              <a:gd name="connsiteY6" fmla="*/ 2728912 h 3524250"/>
              <a:gd name="connsiteX7" fmla="*/ 1985962 w 2519362"/>
              <a:gd name="connsiteY7" fmla="*/ 2643187 h 3524250"/>
              <a:gd name="connsiteX8" fmla="*/ 1909762 w 2519362"/>
              <a:gd name="connsiteY8" fmla="*/ 2595562 h 3524250"/>
              <a:gd name="connsiteX9" fmla="*/ 1876425 w 2519362"/>
              <a:gd name="connsiteY9" fmla="*/ 2566987 h 3524250"/>
              <a:gd name="connsiteX10" fmla="*/ 1724025 w 2519362"/>
              <a:gd name="connsiteY10" fmla="*/ 2509837 h 3524250"/>
              <a:gd name="connsiteX11" fmla="*/ 1571625 w 2519362"/>
              <a:gd name="connsiteY11" fmla="*/ 2466975 h 3524250"/>
              <a:gd name="connsiteX12" fmla="*/ 1433512 w 2519362"/>
              <a:gd name="connsiteY12" fmla="*/ 2419350 h 3524250"/>
              <a:gd name="connsiteX13" fmla="*/ 1100137 w 2519362"/>
              <a:gd name="connsiteY13" fmla="*/ 2238375 h 3524250"/>
              <a:gd name="connsiteX14" fmla="*/ 962025 w 2519362"/>
              <a:gd name="connsiteY14" fmla="*/ 2171700 h 3524250"/>
              <a:gd name="connsiteX15" fmla="*/ 795337 w 2519362"/>
              <a:gd name="connsiteY15" fmla="*/ 2085975 h 3524250"/>
              <a:gd name="connsiteX16" fmla="*/ 738187 w 2519362"/>
              <a:gd name="connsiteY16" fmla="*/ 2043112 h 3524250"/>
              <a:gd name="connsiteX17" fmla="*/ 676275 w 2519362"/>
              <a:gd name="connsiteY17" fmla="*/ 1981200 h 3524250"/>
              <a:gd name="connsiteX18" fmla="*/ 623887 w 2519362"/>
              <a:gd name="connsiteY18" fmla="*/ 1905000 h 3524250"/>
              <a:gd name="connsiteX19" fmla="*/ 585787 w 2519362"/>
              <a:gd name="connsiteY19" fmla="*/ 1790700 h 3524250"/>
              <a:gd name="connsiteX20" fmla="*/ 523875 w 2519362"/>
              <a:gd name="connsiteY20" fmla="*/ 1533525 h 3524250"/>
              <a:gd name="connsiteX21" fmla="*/ 481012 w 2519362"/>
              <a:gd name="connsiteY21" fmla="*/ 1390650 h 3524250"/>
              <a:gd name="connsiteX22" fmla="*/ 471487 w 2519362"/>
              <a:gd name="connsiteY22" fmla="*/ 1371600 h 3524250"/>
              <a:gd name="connsiteX23" fmla="*/ 457200 w 2519362"/>
              <a:gd name="connsiteY23" fmla="*/ 1319212 h 3524250"/>
              <a:gd name="connsiteX24" fmla="*/ 466725 w 2519362"/>
              <a:gd name="connsiteY24" fmla="*/ 1281112 h 3524250"/>
              <a:gd name="connsiteX25" fmla="*/ 461962 w 2519362"/>
              <a:gd name="connsiteY25" fmla="*/ 1181100 h 3524250"/>
              <a:gd name="connsiteX26" fmla="*/ 466725 w 2519362"/>
              <a:gd name="connsiteY26" fmla="*/ 1076325 h 3524250"/>
              <a:gd name="connsiteX27" fmla="*/ 476250 w 2519362"/>
              <a:gd name="connsiteY27" fmla="*/ 985837 h 3524250"/>
              <a:gd name="connsiteX28" fmla="*/ 495300 w 2519362"/>
              <a:gd name="connsiteY28" fmla="*/ 833437 h 3524250"/>
              <a:gd name="connsiteX29" fmla="*/ 514350 w 2519362"/>
              <a:gd name="connsiteY29" fmla="*/ 638175 h 3524250"/>
              <a:gd name="connsiteX30" fmla="*/ 466725 w 2519362"/>
              <a:gd name="connsiteY30" fmla="*/ 652462 h 3524250"/>
              <a:gd name="connsiteX31" fmla="*/ 466725 w 2519362"/>
              <a:gd name="connsiteY31" fmla="*/ 623887 h 3524250"/>
              <a:gd name="connsiteX32" fmla="*/ 519112 w 2519362"/>
              <a:gd name="connsiteY32" fmla="*/ 604837 h 3524250"/>
              <a:gd name="connsiteX33" fmla="*/ 504825 w 2519362"/>
              <a:gd name="connsiteY33" fmla="*/ 423862 h 3524250"/>
              <a:gd name="connsiteX34" fmla="*/ 485775 w 2519362"/>
              <a:gd name="connsiteY34" fmla="*/ 280987 h 3524250"/>
              <a:gd name="connsiteX35" fmla="*/ 442912 w 2519362"/>
              <a:gd name="connsiteY35" fmla="*/ 100012 h 3524250"/>
              <a:gd name="connsiteX36" fmla="*/ 400050 w 2519362"/>
              <a:gd name="connsiteY36" fmla="*/ 9525 h 3524250"/>
              <a:gd name="connsiteX37" fmla="*/ 0 w 2519362"/>
              <a:gd name="connsiteY37" fmla="*/ 0 h 3524250"/>
              <a:gd name="connsiteX38" fmla="*/ 28575 w 2519362"/>
              <a:gd name="connsiteY38" fmla="*/ 209550 h 3524250"/>
              <a:gd name="connsiteX39" fmla="*/ 104775 w 2519362"/>
              <a:gd name="connsiteY39" fmla="*/ 709612 h 3524250"/>
              <a:gd name="connsiteX40" fmla="*/ 157162 w 2519362"/>
              <a:gd name="connsiteY40" fmla="*/ 700087 h 3524250"/>
              <a:gd name="connsiteX41" fmla="*/ 157162 w 2519362"/>
              <a:gd name="connsiteY41" fmla="*/ 728662 h 3524250"/>
              <a:gd name="connsiteX42" fmla="*/ 114300 w 2519362"/>
              <a:gd name="connsiteY42" fmla="*/ 742950 h 3524250"/>
              <a:gd name="connsiteX43" fmla="*/ 85725 w 2519362"/>
              <a:gd name="connsiteY43" fmla="*/ 881062 h 3524250"/>
              <a:gd name="connsiteX44" fmla="*/ 76200 w 2519362"/>
              <a:gd name="connsiteY44" fmla="*/ 1023937 h 3524250"/>
              <a:gd name="connsiteX45" fmla="*/ 80962 w 2519362"/>
              <a:gd name="connsiteY45" fmla="*/ 1114425 h 3524250"/>
              <a:gd name="connsiteX46" fmla="*/ 109537 w 2519362"/>
              <a:gd name="connsiteY46" fmla="*/ 1409700 h 3524250"/>
              <a:gd name="connsiteX47" fmla="*/ 157162 w 2519362"/>
              <a:gd name="connsiteY47" fmla="*/ 1390650 h 3524250"/>
              <a:gd name="connsiteX48" fmla="*/ 185737 w 2519362"/>
              <a:gd name="connsiteY48" fmla="*/ 1485900 h 3524250"/>
              <a:gd name="connsiteX49" fmla="*/ 142875 w 2519362"/>
              <a:gd name="connsiteY49" fmla="*/ 1519237 h 3524250"/>
              <a:gd name="connsiteX50" fmla="*/ 195262 w 2519362"/>
              <a:gd name="connsiteY50" fmla="*/ 1638300 h 3524250"/>
              <a:gd name="connsiteX51" fmla="*/ 271462 w 2519362"/>
              <a:gd name="connsiteY51" fmla="*/ 1909762 h 3524250"/>
              <a:gd name="connsiteX52" fmla="*/ 390525 w 2519362"/>
              <a:gd name="connsiteY52" fmla="*/ 2171700 h 3524250"/>
              <a:gd name="connsiteX53" fmla="*/ 576262 w 2519362"/>
              <a:gd name="connsiteY53" fmla="*/ 2352675 h 3524250"/>
              <a:gd name="connsiteX54" fmla="*/ 814387 w 2519362"/>
              <a:gd name="connsiteY54" fmla="*/ 2481262 h 3524250"/>
              <a:gd name="connsiteX55" fmla="*/ 1233487 w 2519362"/>
              <a:gd name="connsiteY55" fmla="*/ 2705100 h 3524250"/>
              <a:gd name="connsiteX56" fmla="*/ 1347787 w 2519362"/>
              <a:gd name="connsiteY56" fmla="*/ 2747962 h 3524250"/>
              <a:gd name="connsiteX57" fmla="*/ 1438275 w 2519362"/>
              <a:gd name="connsiteY57" fmla="*/ 2781300 h 3524250"/>
              <a:gd name="connsiteX58" fmla="*/ 1628775 w 2519362"/>
              <a:gd name="connsiteY58" fmla="*/ 2838450 h 3524250"/>
              <a:gd name="connsiteX59" fmla="*/ 1752600 w 2519362"/>
              <a:gd name="connsiteY59" fmla="*/ 2895600 h 3524250"/>
              <a:gd name="connsiteX60" fmla="*/ 1919287 w 2519362"/>
              <a:gd name="connsiteY60" fmla="*/ 3057525 h 3524250"/>
              <a:gd name="connsiteX61" fmla="*/ 2090737 w 2519362"/>
              <a:gd name="connsiteY61" fmla="*/ 3281362 h 3524250"/>
              <a:gd name="connsiteX62" fmla="*/ 2133600 w 2519362"/>
              <a:gd name="connsiteY62" fmla="*/ 3395662 h 3524250"/>
              <a:gd name="connsiteX63" fmla="*/ 2138362 w 2519362"/>
              <a:gd name="connsiteY63" fmla="*/ 3443287 h 3524250"/>
              <a:gd name="connsiteX64" fmla="*/ 2152650 w 2519362"/>
              <a:gd name="connsiteY64" fmla="*/ 3481387 h 3524250"/>
              <a:gd name="connsiteX65" fmla="*/ 2219325 w 2519362"/>
              <a:gd name="connsiteY65" fmla="*/ 3524250 h 3524250"/>
              <a:gd name="connsiteX0" fmla="*/ 2219325 w 2519362"/>
              <a:gd name="connsiteY0" fmla="*/ 3667125 h 3667125"/>
              <a:gd name="connsiteX1" fmla="*/ 2519362 w 2519362"/>
              <a:gd name="connsiteY1" fmla="*/ 3309937 h 3667125"/>
              <a:gd name="connsiteX2" fmla="*/ 2324100 w 2519362"/>
              <a:gd name="connsiteY2" fmla="*/ 3095625 h 3667125"/>
              <a:gd name="connsiteX3" fmla="*/ 2271712 w 2519362"/>
              <a:gd name="connsiteY3" fmla="*/ 3048000 h 3667125"/>
              <a:gd name="connsiteX4" fmla="*/ 2195512 w 2519362"/>
              <a:gd name="connsiteY4" fmla="*/ 2971800 h 3667125"/>
              <a:gd name="connsiteX5" fmla="*/ 2124075 w 2519362"/>
              <a:gd name="connsiteY5" fmla="*/ 2900362 h 3667125"/>
              <a:gd name="connsiteX6" fmla="*/ 2090737 w 2519362"/>
              <a:gd name="connsiteY6" fmla="*/ 2871787 h 3667125"/>
              <a:gd name="connsiteX7" fmla="*/ 1985962 w 2519362"/>
              <a:gd name="connsiteY7" fmla="*/ 2786062 h 3667125"/>
              <a:gd name="connsiteX8" fmla="*/ 1909762 w 2519362"/>
              <a:gd name="connsiteY8" fmla="*/ 2738437 h 3667125"/>
              <a:gd name="connsiteX9" fmla="*/ 1876425 w 2519362"/>
              <a:gd name="connsiteY9" fmla="*/ 2709862 h 3667125"/>
              <a:gd name="connsiteX10" fmla="*/ 1724025 w 2519362"/>
              <a:gd name="connsiteY10" fmla="*/ 2652712 h 3667125"/>
              <a:gd name="connsiteX11" fmla="*/ 1571625 w 2519362"/>
              <a:gd name="connsiteY11" fmla="*/ 2609850 h 3667125"/>
              <a:gd name="connsiteX12" fmla="*/ 1433512 w 2519362"/>
              <a:gd name="connsiteY12" fmla="*/ 2562225 h 3667125"/>
              <a:gd name="connsiteX13" fmla="*/ 1100137 w 2519362"/>
              <a:gd name="connsiteY13" fmla="*/ 2381250 h 3667125"/>
              <a:gd name="connsiteX14" fmla="*/ 962025 w 2519362"/>
              <a:gd name="connsiteY14" fmla="*/ 2314575 h 3667125"/>
              <a:gd name="connsiteX15" fmla="*/ 795337 w 2519362"/>
              <a:gd name="connsiteY15" fmla="*/ 2228850 h 3667125"/>
              <a:gd name="connsiteX16" fmla="*/ 738187 w 2519362"/>
              <a:gd name="connsiteY16" fmla="*/ 2185987 h 3667125"/>
              <a:gd name="connsiteX17" fmla="*/ 676275 w 2519362"/>
              <a:gd name="connsiteY17" fmla="*/ 2124075 h 3667125"/>
              <a:gd name="connsiteX18" fmla="*/ 623887 w 2519362"/>
              <a:gd name="connsiteY18" fmla="*/ 2047875 h 3667125"/>
              <a:gd name="connsiteX19" fmla="*/ 585787 w 2519362"/>
              <a:gd name="connsiteY19" fmla="*/ 1933575 h 3667125"/>
              <a:gd name="connsiteX20" fmla="*/ 523875 w 2519362"/>
              <a:gd name="connsiteY20" fmla="*/ 1676400 h 3667125"/>
              <a:gd name="connsiteX21" fmla="*/ 481012 w 2519362"/>
              <a:gd name="connsiteY21" fmla="*/ 1533525 h 3667125"/>
              <a:gd name="connsiteX22" fmla="*/ 471487 w 2519362"/>
              <a:gd name="connsiteY22" fmla="*/ 1514475 h 3667125"/>
              <a:gd name="connsiteX23" fmla="*/ 457200 w 2519362"/>
              <a:gd name="connsiteY23" fmla="*/ 1462087 h 3667125"/>
              <a:gd name="connsiteX24" fmla="*/ 466725 w 2519362"/>
              <a:gd name="connsiteY24" fmla="*/ 1423987 h 3667125"/>
              <a:gd name="connsiteX25" fmla="*/ 461962 w 2519362"/>
              <a:gd name="connsiteY25" fmla="*/ 1323975 h 3667125"/>
              <a:gd name="connsiteX26" fmla="*/ 466725 w 2519362"/>
              <a:gd name="connsiteY26" fmla="*/ 1219200 h 3667125"/>
              <a:gd name="connsiteX27" fmla="*/ 476250 w 2519362"/>
              <a:gd name="connsiteY27" fmla="*/ 1128712 h 3667125"/>
              <a:gd name="connsiteX28" fmla="*/ 495300 w 2519362"/>
              <a:gd name="connsiteY28" fmla="*/ 976312 h 3667125"/>
              <a:gd name="connsiteX29" fmla="*/ 514350 w 2519362"/>
              <a:gd name="connsiteY29" fmla="*/ 781050 h 3667125"/>
              <a:gd name="connsiteX30" fmla="*/ 466725 w 2519362"/>
              <a:gd name="connsiteY30" fmla="*/ 795337 h 3667125"/>
              <a:gd name="connsiteX31" fmla="*/ 466725 w 2519362"/>
              <a:gd name="connsiteY31" fmla="*/ 766762 h 3667125"/>
              <a:gd name="connsiteX32" fmla="*/ 519112 w 2519362"/>
              <a:gd name="connsiteY32" fmla="*/ 747712 h 3667125"/>
              <a:gd name="connsiteX33" fmla="*/ 504825 w 2519362"/>
              <a:gd name="connsiteY33" fmla="*/ 566737 h 3667125"/>
              <a:gd name="connsiteX34" fmla="*/ 485775 w 2519362"/>
              <a:gd name="connsiteY34" fmla="*/ 423862 h 3667125"/>
              <a:gd name="connsiteX35" fmla="*/ 442912 w 2519362"/>
              <a:gd name="connsiteY35" fmla="*/ 242887 h 3667125"/>
              <a:gd name="connsiteX36" fmla="*/ 319088 w 2519362"/>
              <a:gd name="connsiteY36" fmla="*/ 0 h 3667125"/>
              <a:gd name="connsiteX37" fmla="*/ 0 w 2519362"/>
              <a:gd name="connsiteY37" fmla="*/ 142875 h 3667125"/>
              <a:gd name="connsiteX38" fmla="*/ 28575 w 2519362"/>
              <a:gd name="connsiteY38" fmla="*/ 352425 h 3667125"/>
              <a:gd name="connsiteX39" fmla="*/ 104775 w 2519362"/>
              <a:gd name="connsiteY39" fmla="*/ 852487 h 3667125"/>
              <a:gd name="connsiteX40" fmla="*/ 157162 w 2519362"/>
              <a:gd name="connsiteY40" fmla="*/ 842962 h 3667125"/>
              <a:gd name="connsiteX41" fmla="*/ 157162 w 2519362"/>
              <a:gd name="connsiteY41" fmla="*/ 871537 h 3667125"/>
              <a:gd name="connsiteX42" fmla="*/ 114300 w 2519362"/>
              <a:gd name="connsiteY42" fmla="*/ 885825 h 3667125"/>
              <a:gd name="connsiteX43" fmla="*/ 85725 w 2519362"/>
              <a:gd name="connsiteY43" fmla="*/ 1023937 h 3667125"/>
              <a:gd name="connsiteX44" fmla="*/ 76200 w 2519362"/>
              <a:gd name="connsiteY44" fmla="*/ 1166812 h 3667125"/>
              <a:gd name="connsiteX45" fmla="*/ 80962 w 2519362"/>
              <a:gd name="connsiteY45" fmla="*/ 1257300 h 3667125"/>
              <a:gd name="connsiteX46" fmla="*/ 109537 w 2519362"/>
              <a:gd name="connsiteY46" fmla="*/ 1552575 h 3667125"/>
              <a:gd name="connsiteX47" fmla="*/ 157162 w 2519362"/>
              <a:gd name="connsiteY47" fmla="*/ 1533525 h 3667125"/>
              <a:gd name="connsiteX48" fmla="*/ 185737 w 2519362"/>
              <a:gd name="connsiteY48" fmla="*/ 1628775 h 3667125"/>
              <a:gd name="connsiteX49" fmla="*/ 142875 w 2519362"/>
              <a:gd name="connsiteY49" fmla="*/ 1662112 h 3667125"/>
              <a:gd name="connsiteX50" fmla="*/ 195262 w 2519362"/>
              <a:gd name="connsiteY50" fmla="*/ 1781175 h 3667125"/>
              <a:gd name="connsiteX51" fmla="*/ 271462 w 2519362"/>
              <a:gd name="connsiteY51" fmla="*/ 2052637 h 3667125"/>
              <a:gd name="connsiteX52" fmla="*/ 390525 w 2519362"/>
              <a:gd name="connsiteY52" fmla="*/ 2314575 h 3667125"/>
              <a:gd name="connsiteX53" fmla="*/ 576262 w 2519362"/>
              <a:gd name="connsiteY53" fmla="*/ 2495550 h 3667125"/>
              <a:gd name="connsiteX54" fmla="*/ 814387 w 2519362"/>
              <a:gd name="connsiteY54" fmla="*/ 2624137 h 3667125"/>
              <a:gd name="connsiteX55" fmla="*/ 1233487 w 2519362"/>
              <a:gd name="connsiteY55" fmla="*/ 2847975 h 3667125"/>
              <a:gd name="connsiteX56" fmla="*/ 1347787 w 2519362"/>
              <a:gd name="connsiteY56" fmla="*/ 2890837 h 3667125"/>
              <a:gd name="connsiteX57" fmla="*/ 1438275 w 2519362"/>
              <a:gd name="connsiteY57" fmla="*/ 2924175 h 3667125"/>
              <a:gd name="connsiteX58" fmla="*/ 1628775 w 2519362"/>
              <a:gd name="connsiteY58" fmla="*/ 2981325 h 3667125"/>
              <a:gd name="connsiteX59" fmla="*/ 1752600 w 2519362"/>
              <a:gd name="connsiteY59" fmla="*/ 3038475 h 3667125"/>
              <a:gd name="connsiteX60" fmla="*/ 1919287 w 2519362"/>
              <a:gd name="connsiteY60" fmla="*/ 3200400 h 3667125"/>
              <a:gd name="connsiteX61" fmla="*/ 2090737 w 2519362"/>
              <a:gd name="connsiteY61" fmla="*/ 3424237 h 3667125"/>
              <a:gd name="connsiteX62" fmla="*/ 2133600 w 2519362"/>
              <a:gd name="connsiteY62" fmla="*/ 3538537 h 3667125"/>
              <a:gd name="connsiteX63" fmla="*/ 2138362 w 2519362"/>
              <a:gd name="connsiteY63" fmla="*/ 3586162 h 3667125"/>
              <a:gd name="connsiteX64" fmla="*/ 2152650 w 2519362"/>
              <a:gd name="connsiteY64" fmla="*/ 3624262 h 3667125"/>
              <a:gd name="connsiteX65" fmla="*/ 2219325 w 2519362"/>
              <a:gd name="connsiteY65" fmla="*/ 3667125 h 3667125"/>
              <a:gd name="connsiteX0" fmla="*/ 2252662 w 2552699"/>
              <a:gd name="connsiteY0" fmla="*/ 3667125 h 3667125"/>
              <a:gd name="connsiteX1" fmla="*/ 2552699 w 2552699"/>
              <a:gd name="connsiteY1" fmla="*/ 3309937 h 3667125"/>
              <a:gd name="connsiteX2" fmla="*/ 2357437 w 2552699"/>
              <a:gd name="connsiteY2" fmla="*/ 3095625 h 3667125"/>
              <a:gd name="connsiteX3" fmla="*/ 2305049 w 2552699"/>
              <a:gd name="connsiteY3" fmla="*/ 3048000 h 3667125"/>
              <a:gd name="connsiteX4" fmla="*/ 2228849 w 2552699"/>
              <a:gd name="connsiteY4" fmla="*/ 2971800 h 3667125"/>
              <a:gd name="connsiteX5" fmla="*/ 2157412 w 2552699"/>
              <a:gd name="connsiteY5" fmla="*/ 2900362 h 3667125"/>
              <a:gd name="connsiteX6" fmla="*/ 2124074 w 2552699"/>
              <a:gd name="connsiteY6" fmla="*/ 2871787 h 3667125"/>
              <a:gd name="connsiteX7" fmla="*/ 2019299 w 2552699"/>
              <a:gd name="connsiteY7" fmla="*/ 2786062 h 3667125"/>
              <a:gd name="connsiteX8" fmla="*/ 1943099 w 2552699"/>
              <a:gd name="connsiteY8" fmla="*/ 2738437 h 3667125"/>
              <a:gd name="connsiteX9" fmla="*/ 1909762 w 2552699"/>
              <a:gd name="connsiteY9" fmla="*/ 2709862 h 3667125"/>
              <a:gd name="connsiteX10" fmla="*/ 1757362 w 2552699"/>
              <a:gd name="connsiteY10" fmla="*/ 2652712 h 3667125"/>
              <a:gd name="connsiteX11" fmla="*/ 1604962 w 2552699"/>
              <a:gd name="connsiteY11" fmla="*/ 2609850 h 3667125"/>
              <a:gd name="connsiteX12" fmla="*/ 1466849 w 2552699"/>
              <a:gd name="connsiteY12" fmla="*/ 2562225 h 3667125"/>
              <a:gd name="connsiteX13" fmla="*/ 1133474 w 2552699"/>
              <a:gd name="connsiteY13" fmla="*/ 2381250 h 3667125"/>
              <a:gd name="connsiteX14" fmla="*/ 995362 w 2552699"/>
              <a:gd name="connsiteY14" fmla="*/ 2314575 h 3667125"/>
              <a:gd name="connsiteX15" fmla="*/ 828674 w 2552699"/>
              <a:gd name="connsiteY15" fmla="*/ 2228850 h 3667125"/>
              <a:gd name="connsiteX16" fmla="*/ 771524 w 2552699"/>
              <a:gd name="connsiteY16" fmla="*/ 2185987 h 3667125"/>
              <a:gd name="connsiteX17" fmla="*/ 709612 w 2552699"/>
              <a:gd name="connsiteY17" fmla="*/ 2124075 h 3667125"/>
              <a:gd name="connsiteX18" fmla="*/ 657224 w 2552699"/>
              <a:gd name="connsiteY18" fmla="*/ 2047875 h 3667125"/>
              <a:gd name="connsiteX19" fmla="*/ 619124 w 2552699"/>
              <a:gd name="connsiteY19" fmla="*/ 1933575 h 3667125"/>
              <a:gd name="connsiteX20" fmla="*/ 557212 w 2552699"/>
              <a:gd name="connsiteY20" fmla="*/ 1676400 h 3667125"/>
              <a:gd name="connsiteX21" fmla="*/ 514349 w 2552699"/>
              <a:gd name="connsiteY21" fmla="*/ 1533525 h 3667125"/>
              <a:gd name="connsiteX22" fmla="*/ 504824 w 2552699"/>
              <a:gd name="connsiteY22" fmla="*/ 1514475 h 3667125"/>
              <a:gd name="connsiteX23" fmla="*/ 490537 w 2552699"/>
              <a:gd name="connsiteY23" fmla="*/ 1462087 h 3667125"/>
              <a:gd name="connsiteX24" fmla="*/ 500062 w 2552699"/>
              <a:gd name="connsiteY24" fmla="*/ 1423987 h 3667125"/>
              <a:gd name="connsiteX25" fmla="*/ 495299 w 2552699"/>
              <a:gd name="connsiteY25" fmla="*/ 1323975 h 3667125"/>
              <a:gd name="connsiteX26" fmla="*/ 500062 w 2552699"/>
              <a:gd name="connsiteY26" fmla="*/ 1219200 h 3667125"/>
              <a:gd name="connsiteX27" fmla="*/ 509587 w 2552699"/>
              <a:gd name="connsiteY27" fmla="*/ 1128712 h 3667125"/>
              <a:gd name="connsiteX28" fmla="*/ 528637 w 2552699"/>
              <a:gd name="connsiteY28" fmla="*/ 976312 h 3667125"/>
              <a:gd name="connsiteX29" fmla="*/ 547687 w 2552699"/>
              <a:gd name="connsiteY29" fmla="*/ 781050 h 3667125"/>
              <a:gd name="connsiteX30" fmla="*/ 500062 w 2552699"/>
              <a:gd name="connsiteY30" fmla="*/ 795337 h 3667125"/>
              <a:gd name="connsiteX31" fmla="*/ 500062 w 2552699"/>
              <a:gd name="connsiteY31" fmla="*/ 766762 h 3667125"/>
              <a:gd name="connsiteX32" fmla="*/ 552449 w 2552699"/>
              <a:gd name="connsiteY32" fmla="*/ 747712 h 3667125"/>
              <a:gd name="connsiteX33" fmla="*/ 538162 w 2552699"/>
              <a:gd name="connsiteY33" fmla="*/ 566737 h 3667125"/>
              <a:gd name="connsiteX34" fmla="*/ 519112 w 2552699"/>
              <a:gd name="connsiteY34" fmla="*/ 423862 h 3667125"/>
              <a:gd name="connsiteX35" fmla="*/ 476249 w 2552699"/>
              <a:gd name="connsiteY35" fmla="*/ 242887 h 3667125"/>
              <a:gd name="connsiteX36" fmla="*/ 352425 w 2552699"/>
              <a:gd name="connsiteY36" fmla="*/ 0 h 3667125"/>
              <a:gd name="connsiteX37" fmla="*/ 0 w 2552699"/>
              <a:gd name="connsiteY37" fmla="*/ 119063 h 3667125"/>
              <a:gd name="connsiteX38" fmla="*/ 61912 w 2552699"/>
              <a:gd name="connsiteY38" fmla="*/ 352425 h 3667125"/>
              <a:gd name="connsiteX39" fmla="*/ 138112 w 2552699"/>
              <a:gd name="connsiteY39" fmla="*/ 852487 h 3667125"/>
              <a:gd name="connsiteX40" fmla="*/ 190499 w 2552699"/>
              <a:gd name="connsiteY40" fmla="*/ 842962 h 3667125"/>
              <a:gd name="connsiteX41" fmla="*/ 190499 w 2552699"/>
              <a:gd name="connsiteY41" fmla="*/ 871537 h 3667125"/>
              <a:gd name="connsiteX42" fmla="*/ 147637 w 2552699"/>
              <a:gd name="connsiteY42" fmla="*/ 885825 h 3667125"/>
              <a:gd name="connsiteX43" fmla="*/ 119062 w 2552699"/>
              <a:gd name="connsiteY43" fmla="*/ 1023937 h 3667125"/>
              <a:gd name="connsiteX44" fmla="*/ 109537 w 2552699"/>
              <a:gd name="connsiteY44" fmla="*/ 1166812 h 3667125"/>
              <a:gd name="connsiteX45" fmla="*/ 114299 w 2552699"/>
              <a:gd name="connsiteY45" fmla="*/ 1257300 h 3667125"/>
              <a:gd name="connsiteX46" fmla="*/ 142874 w 2552699"/>
              <a:gd name="connsiteY46" fmla="*/ 1552575 h 3667125"/>
              <a:gd name="connsiteX47" fmla="*/ 190499 w 2552699"/>
              <a:gd name="connsiteY47" fmla="*/ 1533525 h 3667125"/>
              <a:gd name="connsiteX48" fmla="*/ 219074 w 2552699"/>
              <a:gd name="connsiteY48" fmla="*/ 1628775 h 3667125"/>
              <a:gd name="connsiteX49" fmla="*/ 176212 w 2552699"/>
              <a:gd name="connsiteY49" fmla="*/ 1662112 h 3667125"/>
              <a:gd name="connsiteX50" fmla="*/ 228599 w 2552699"/>
              <a:gd name="connsiteY50" fmla="*/ 1781175 h 3667125"/>
              <a:gd name="connsiteX51" fmla="*/ 304799 w 2552699"/>
              <a:gd name="connsiteY51" fmla="*/ 2052637 h 3667125"/>
              <a:gd name="connsiteX52" fmla="*/ 423862 w 2552699"/>
              <a:gd name="connsiteY52" fmla="*/ 2314575 h 3667125"/>
              <a:gd name="connsiteX53" fmla="*/ 609599 w 2552699"/>
              <a:gd name="connsiteY53" fmla="*/ 2495550 h 3667125"/>
              <a:gd name="connsiteX54" fmla="*/ 847724 w 2552699"/>
              <a:gd name="connsiteY54" fmla="*/ 2624137 h 3667125"/>
              <a:gd name="connsiteX55" fmla="*/ 1266824 w 2552699"/>
              <a:gd name="connsiteY55" fmla="*/ 2847975 h 3667125"/>
              <a:gd name="connsiteX56" fmla="*/ 1381124 w 2552699"/>
              <a:gd name="connsiteY56" fmla="*/ 2890837 h 3667125"/>
              <a:gd name="connsiteX57" fmla="*/ 1471612 w 2552699"/>
              <a:gd name="connsiteY57" fmla="*/ 2924175 h 3667125"/>
              <a:gd name="connsiteX58" fmla="*/ 1662112 w 2552699"/>
              <a:gd name="connsiteY58" fmla="*/ 2981325 h 3667125"/>
              <a:gd name="connsiteX59" fmla="*/ 1785937 w 2552699"/>
              <a:gd name="connsiteY59" fmla="*/ 3038475 h 3667125"/>
              <a:gd name="connsiteX60" fmla="*/ 1952624 w 2552699"/>
              <a:gd name="connsiteY60" fmla="*/ 3200400 h 3667125"/>
              <a:gd name="connsiteX61" fmla="*/ 2124074 w 2552699"/>
              <a:gd name="connsiteY61" fmla="*/ 3424237 h 3667125"/>
              <a:gd name="connsiteX62" fmla="*/ 2166937 w 2552699"/>
              <a:gd name="connsiteY62" fmla="*/ 3538537 h 3667125"/>
              <a:gd name="connsiteX63" fmla="*/ 2171699 w 2552699"/>
              <a:gd name="connsiteY63" fmla="*/ 3586162 h 3667125"/>
              <a:gd name="connsiteX64" fmla="*/ 2185987 w 2552699"/>
              <a:gd name="connsiteY64" fmla="*/ 3624262 h 3667125"/>
              <a:gd name="connsiteX65" fmla="*/ 2252662 w 2552699"/>
              <a:gd name="connsiteY65" fmla="*/ 3667125 h 366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2552699" h="3667125">
                <a:moveTo>
                  <a:pt x="2252662" y="3667125"/>
                </a:moveTo>
                <a:lnTo>
                  <a:pt x="2552699" y="3309937"/>
                </a:lnTo>
                <a:lnTo>
                  <a:pt x="2357437" y="3095625"/>
                </a:lnTo>
                <a:lnTo>
                  <a:pt x="2305049" y="3048000"/>
                </a:lnTo>
                <a:lnTo>
                  <a:pt x="2228849" y="2971800"/>
                </a:lnTo>
                <a:lnTo>
                  <a:pt x="2157412" y="2900362"/>
                </a:lnTo>
                <a:lnTo>
                  <a:pt x="2124074" y="2871787"/>
                </a:lnTo>
                <a:lnTo>
                  <a:pt x="2019299" y="2786062"/>
                </a:lnTo>
                <a:lnTo>
                  <a:pt x="1943099" y="2738437"/>
                </a:lnTo>
                <a:lnTo>
                  <a:pt x="1909762" y="2709862"/>
                </a:lnTo>
                <a:lnTo>
                  <a:pt x="1757362" y="2652712"/>
                </a:lnTo>
                <a:lnTo>
                  <a:pt x="1604962" y="2609850"/>
                </a:lnTo>
                <a:lnTo>
                  <a:pt x="1466849" y="2562225"/>
                </a:lnTo>
                <a:lnTo>
                  <a:pt x="1133474" y="2381250"/>
                </a:lnTo>
                <a:lnTo>
                  <a:pt x="995362" y="2314575"/>
                </a:lnTo>
                <a:lnTo>
                  <a:pt x="828674" y="2228850"/>
                </a:lnTo>
                <a:lnTo>
                  <a:pt x="771524" y="2185987"/>
                </a:lnTo>
                <a:lnTo>
                  <a:pt x="709612" y="2124075"/>
                </a:lnTo>
                <a:lnTo>
                  <a:pt x="657224" y="2047875"/>
                </a:lnTo>
                <a:lnTo>
                  <a:pt x="619124" y="1933575"/>
                </a:lnTo>
                <a:lnTo>
                  <a:pt x="557212" y="1676400"/>
                </a:lnTo>
                <a:lnTo>
                  <a:pt x="514349" y="1533525"/>
                </a:lnTo>
                <a:lnTo>
                  <a:pt x="504824" y="1514475"/>
                </a:lnTo>
                <a:lnTo>
                  <a:pt x="490537" y="1462087"/>
                </a:lnTo>
                <a:lnTo>
                  <a:pt x="500062" y="1423987"/>
                </a:lnTo>
                <a:lnTo>
                  <a:pt x="495299" y="1323975"/>
                </a:lnTo>
                <a:lnTo>
                  <a:pt x="500062" y="1219200"/>
                </a:lnTo>
                <a:lnTo>
                  <a:pt x="509587" y="1128712"/>
                </a:lnTo>
                <a:lnTo>
                  <a:pt x="528637" y="976312"/>
                </a:lnTo>
                <a:lnTo>
                  <a:pt x="547687" y="781050"/>
                </a:lnTo>
                <a:lnTo>
                  <a:pt x="500062" y="795337"/>
                </a:lnTo>
                <a:lnTo>
                  <a:pt x="500062" y="766762"/>
                </a:lnTo>
                <a:lnTo>
                  <a:pt x="552449" y="747712"/>
                </a:lnTo>
                <a:lnTo>
                  <a:pt x="538162" y="566737"/>
                </a:lnTo>
                <a:lnTo>
                  <a:pt x="519112" y="423862"/>
                </a:lnTo>
                <a:lnTo>
                  <a:pt x="476249" y="242887"/>
                </a:lnTo>
                <a:lnTo>
                  <a:pt x="352425" y="0"/>
                </a:lnTo>
                <a:lnTo>
                  <a:pt x="0" y="119063"/>
                </a:lnTo>
                <a:lnTo>
                  <a:pt x="61912" y="352425"/>
                </a:lnTo>
                <a:lnTo>
                  <a:pt x="138112" y="852487"/>
                </a:lnTo>
                <a:lnTo>
                  <a:pt x="190499" y="842962"/>
                </a:lnTo>
                <a:lnTo>
                  <a:pt x="190499" y="871537"/>
                </a:lnTo>
                <a:lnTo>
                  <a:pt x="147637" y="885825"/>
                </a:lnTo>
                <a:lnTo>
                  <a:pt x="119062" y="1023937"/>
                </a:lnTo>
                <a:lnTo>
                  <a:pt x="109537" y="1166812"/>
                </a:lnTo>
                <a:lnTo>
                  <a:pt x="114299" y="1257300"/>
                </a:lnTo>
                <a:lnTo>
                  <a:pt x="142874" y="1552575"/>
                </a:lnTo>
                <a:lnTo>
                  <a:pt x="190499" y="1533525"/>
                </a:lnTo>
                <a:lnTo>
                  <a:pt x="219074" y="1628775"/>
                </a:lnTo>
                <a:lnTo>
                  <a:pt x="176212" y="1662112"/>
                </a:lnTo>
                <a:lnTo>
                  <a:pt x="228599" y="1781175"/>
                </a:lnTo>
                <a:lnTo>
                  <a:pt x="304799" y="2052637"/>
                </a:lnTo>
                <a:lnTo>
                  <a:pt x="423862" y="2314575"/>
                </a:lnTo>
                <a:lnTo>
                  <a:pt x="609599" y="2495550"/>
                </a:lnTo>
                <a:lnTo>
                  <a:pt x="847724" y="2624137"/>
                </a:lnTo>
                <a:lnTo>
                  <a:pt x="1266824" y="2847975"/>
                </a:lnTo>
                <a:lnTo>
                  <a:pt x="1381124" y="2890837"/>
                </a:lnTo>
                <a:lnTo>
                  <a:pt x="1471612" y="2924175"/>
                </a:lnTo>
                <a:lnTo>
                  <a:pt x="1662112" y="2981325"/>
                </a:lnTo>
                <a:lnTo>
                  <a:pt x="1785937" y="3038475"/>
                </a:lnTo>
                <a:lnTo>
                  <a:pt x="1952624" y="3200400"/>
                </a:lnTo>
                <a:lnTo>
                  <a:pt x="2124074" y="3424237"/>
                </a:lnTo>
                <a:lnTo>
                  <a:pt x="2166937" y="3538537"/>
                </a:lnTo>
                <a:lnTo>
                  <a:pt x="2171699" y="3586162"/>
                </a:lnTo>
                <a:lnTo>
                  <a:pt x="2185987" y="3624262"/>
                </a:lnTo>
                <a:lnTo>
                  <a:pt x="2252662" y="3667125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93E538DD-B2F2-4100-B2BD-4F8C732CA08D}"/>
              </a:ext>
            </a:extLst>
          </p:cNvPr>
          <p:cNvSpPr>
            <a:spLocks noChangeAspect="1"/>
          </p:cNvSpPr>
          <p:nvPr/>
        </p:nvSpPr>
        <p:spPr>
          <a:xfrm>
            <a:off x="5508104" y="4632263"/>
            <a:ext cx="1524160" cy="492912"/>
          </a:xfrm>
          <a:custGeom>
            <a:avLst/>
            <a:gdLst>
              <a:gd name="connsiteX0" fmla="*/ 0 w 3093432"/>
              <a:gd name="connsiteY0" fmla="*/ 214963 h 808150"/>
              <a:gd name="connsiteX1" fmla="*/ 371475 w 3093432"/>
              <a:gd name="connsiteY1" fmla="*/ 367363 h 808150"/>
              <a:gd name="connsiteX2" fmla="*/ 371475 w 3093432"/>
              <a:gd name="connsiteY2" fmla="*/ 367363 h 808150"/>
              <a:gd name="connsiteX3" fmla="*/ 419100 w 3093432"/>
              <a:gd name="connsiteY3" fmla="*/ 681688 h 808150"/>
              <a:gd name="connsiteX4" fmla="*/ 638175 w 3093432"/>
              <a:gd name="connsiteY4" fmla="*/ 643588 h 808150"/>
              <a:gd name="connsiteX5" fmla="*/ 628650 w 3093432"/>
              <a:gd name="connsiteY5" fmla="*/ 272113 h 808150"/>
              <a:gd name="connsiteX6" fmla="*/ 695325 w 3093432"/>
              <a:gd name="connsiteY6" fmla="*/ 129238 h 808150"/>
              <a:gd name="connsiteX7" fmla="*/ 914400 w 3093432"/>
              <a:gd name="connsiteY7" fmla="*/ 186388 h 808150"/>
              <a:gd name="connsiteX8" fmla="*/ 1209675 w 3093432"/>
              <a:gd name="connsiteY8" fmla="*/ 310213 h 808150"/>
              <a:gd name="connsiteX9" fmla="*/ 1390650 w 3093432"/>
              <a:gd name="connsiteY9" fmla="*/ 138763 h 808150"/>
              <a:gd name="connsiteX10" fmla="*/ 1666875 w 3093432"/>
              <a:gd name="connsiteY10" fmla="*/ 167338 h 808150"/>
              <a:gd name="connsiteX11" fmla="*/ 1695450 w 3093432"/>
              <a:gd name="connsiteY11" fmla="*/ 357838 h 808150"/>
              <a:gd name="connsiteX12" fmla="*/ 1800225 w 3093432"/>
              <a:gd name="connsiteY12" fmla="*/ 386413 h 808150"/>
              <a:gd name="connsiteX13" fmla="*/ 1790700 w 3093432"/>
              <a:gd name="connsiteY13" fmla="*/ 491188 h 808150"/>
              <a:gd name="connsiteX14" fmla="*/ 1981200 w 3093432"/>
              <a:gd name="connsiteY14" fmla="*/ 605488 h 808150"/>
              <a:gd name="connsiteX15" fmla="*/ 1962150 w 3093432"/>
              <a:gd name="connsiteY15" fmla="*/ 634063 h 808150"/>
              <a:gd name="connsiteX16" fmla="*/ 1981200 w 3093432"/>
              <a:gd name="connsiteY16" fmla="*/ 805513 h 808150"/>
              <a:gd name="connsiteX17" fmla="*/ 2257425 w 3093432"/>
              <a:gd name="connsiteY17" fmla="*/ 738838 h 808150"/>
              <a:gd name="connsiteX18" fmla="*/ 2486025 w 3093432"/>
              <a:gd name="connsiteY18" fmla="*/ 748363 h 808150"/>
              <a:gd name="connsiteX19" fmla="*/ 2543175 w 3093432"/>
              <a:gd name="connsiteY19" fmla="*/ 681688 h 808150"/>
              <a:gd name="connsiteX20" fmla="*/ 2705100 w 3093432"/>
              <a:gd name="connsiteY20" fmla="*/ 672163 h 808150"/>
              <a:gd name="connsiteX21" fmla="*/ 2828925 w 3093432"/>
              <a:gd name="connsiteY21" fmla="*/ 548338 h 808150"/>
              <a:gd name="connsiteX22" fmla="*/ 2924175 w 3093432"/>
              <a:gd name="connsiteY22" fmla="*/ 538813 h 808150"/>
              <a:gd name="connsiteX23" fmla="*/ 3038475 w 3093432"/>
              <a:gd name="connsiteY23" fmla="*/ 253063 h 808150"/>
              <a:gd name="connsiteX24" fmla="*/ 3009900 w 3093432"/>
              <a:gd name="connsiteY24" fmla="*/ 110188 h 808150"/>
              <a:gd name="connsiteX25" fmla="*/ 3086100 w 3093432"/>
              <a:gd name="connsiteY25" fmla="*/ 5413 h 808150"/>
              <a:gd name="connsiteX26" fmla="*/ 3086100 w 3093432"/>
              <a:gd name="connsiteY26" fmla="*/ 24463 h 808150"/>
              <a:gd name="connsiteX0" fmla="*/ 0 w 3093432"/>
              <a:gd name="connsiteY0" fmla="*/ 214963 h 808150"/>
              <a:gd name="connsiteX1" fmla="*/ 371475 w 3093432"/>
              <a:gd name="connsiteY1" fmla="*/ 367363 h 808150"/>
              <a:gd name="connsiteX2" fmla="*/ 371475 w 3093432"/>
              <a:gd name="connsiteY2" fmla="*/ 367363 h 808150"/>
              <a:gd name="connsiteX3" fmla="*/ 419100 w 3093432"/>
              <a:gd name="connsiteY3" fmla="*/ 681688 h 808150"/>
              <a:gd name="connsiteX4" fmla="*/ 638175 w 3093432"/>
              <a:gd name="connsiteY4" fmla="*/ 643588 h 808150"/>
              <a:gd name="connsiteX5" fmla="*/ 695325 w 3093432"/>
              <a:gd name="connsiteY5" fmla="*/ 129238 h 808150"/>
              <a:gd name="connsiteX6" fmla="*/ 914400 w 3093432"/>
              <a:gd name="connsiteY6" fmla="*/ 186388 h 808150"/>
              <a:gd name="connsiteX7" fmla="*/ 1209675 w 3093432"/>
              <a:gd name="connsiteY7" fmla="*/ 310213 h 808150"/>
              <a:gd name="connsiteX8" fmla="*/ 1390650 w 3093432"/>
              <a:gd name="connsiteY8" fmla="*/ 138763 h 808150"/>
              <a:gd name="connsiteX9" fmla="*/ 1666875 w 3093432"/>
              <a:gd name="connsiteY9" fmla="*/ 167338 h 808150"/>
              <a:gd name="connsiteX10" fmla="*/ 1695450 w 3093432"/>
              <a:gd name="connsiteY10" fmla="*/ 357838 h 808150"/>
              <a:gd name="connsiteX11" fmla="*/ 1800225 w 3093432"/>
              <a:gd name="connsiteY11" fmla="*/ 386413 h 808150"/>
              <a:gd name="connsiteX12" fmla="*/ 1790700 w 3093432"/>
              <a:gd name="connsiteY12" fmla="*/ 491188 h 808150"/>
              <a:gd name="connsiteX13" fmla="*/ 1981200 w 3093432"/>
              <a:gd name="connsiteY13" fmla="*/ 605488 h 808150"/>
              <a:gd name="connsiteX14" fmla="*/ 1962150 w 3093432"/>
              <a:gd name="connsiteY14" fmla="*/ 634063 h 808150"/>
              <a:gd name="connsiteX15" fmla="*/ 1981200 w 3093432"/>
              <a:gd name="connsiteY15" fmla="*/ 805513 h 808150"/>
              <a:gd name="connsiteX16" fmla="*/ 2257425 w 3093432"/>
              <a:gd name="connsiteY16" fmla="*/ 738838 h 808150"/>
              <a:gd name="connsiteX17" fmla="*/ 2486025 w 3093432"/>
              <a:gd name="connsiteY17" fmla="*/ 748363 h 808150"/>
              <a:gd name="connsiteX18" fmla="*/ 2543175 w 3093432"/>
              <a:gd name="connsiteY18" fmla="*/ 681688 h 808150"/>
              <a:gd name="connsiteX19" fmla="*/ 2705100 w 3093432"/>
              <a:gd name="connsiteY19" fmla="*/ 672163 h 808150"/>
              <a:gd name="connsiteX20" fmla="*/ 2828925 w 3093432"/>
              <a:gd name="connsiteY20" fmla="*/ 548338 h 808150"/>
              <a:gd name="connsiteX21" fmla="*/ 2924175 w 3093432"/>
              <a:gd name="connsiteY21" fmla="*/ 538813 h 808150"/>
              <a:gd name="connsiteX22" fmla="*/ 3038475 w 3093432"/>
              <a:gd name="connsiteY22" fmla="*/ 253063 h 808150"/>
              <a:gd name="connsiteX23" fmla="*/ 3009900 w 3093432"/>
              <a:gd name="connsiteY23" fmla="*/ 110188 h 808150"/>
              <a:gd name="connsiteX24" fmla="*/ 3086100 w 3093432"/>
              <a:gd name="connsiteY24" fmla="*/ 5413 h 808150"/>
              <a:gd name="connsiteX25" fmla="*/ 3086100 w 3093432"/>
              <a:gd name="connsiteY25" fmla="*/ 24463 h 808150"/>
              <a:gd name="connsiteX0" fmla="*/ 0 w 2721957"/>
              <a:gd name="connsiteY0" fmla="*/ 367363 h 808150"/>
              <a:gd name="connsiteX1" fmla="*/ 0 w 2721957"/>
              <a:gd name="connsiteY1" fmla="*/ 367363 h 808150"/>
              <a:gd name="connsiteX2" fmla="*/ 47625 w 2721957"/>
              <a:gd name="connsiteY2" fmla="*/ 681688 h 808150"/>
              <a:gd name="connsiteX3" fmla="*/ 266700 w 2721957"/>
              <a:gd name="connsiteY3" fmla="*/ 643588 h 808150"/>
              <a:gd name="connsiteX4" fmla="*/ 323850 w 2721957"/>
              <a:gd name="connsiteY4" fmla="*/ 129238 h 808150"/>
              <a:gd name="connsiteX5" fmla="*/ 542925 w 2721957"/>
              <a:gd name="connsiteY5" fmla="*/ 186388 h 808150"/>
              <a:gd name="connsiteX6" fmla="*/ 838200 w 2721957"/>
              <a:gd name="connsiteY6" fmla="*/ 310213 h 808150"/>
              <a:gd name="connsiteX7" fmla="*/ 1019175 w 2721957"/>
              <a:gd name="connsiteY7" fmla="*/ 138763 h 808150"/>
              <a:gd name="connsiteX8" fmla="*/ 1295400 w 2721957"/>
              <a:gd name="connsiteY8" fmla="*/ 167338 h 808150"/>
              <a:gd name="connsiteX9" fmla="*/ 1323975 w 2721957"/>
              <a:gd name="connsiteY9" fmla="*/ 357838 h 808150"/>
              <a:gd name="connsiteX10" fmla="*/ 1428750 w 2721957"/>
              <a:gd name="connsiteY10" fmla="*/ 386413 h 808150"/>
              <a:gd name="connsiteX11" fmla="*/ 1419225 w 2721957"/>
              <a:gd name="connsiteY11" fmla="*/ 491188 h 808150"/>
              <a:gd name="connsiteX12" fmla="*/ 1609725 w 2721957"/>
              <a:gd name="connsiteY12" fmla="*/ 605488 h 808150"/>
              <a:gd name="connsiteX13" fmla="*/ 1590675 w 2721957"/>
              <a:gd name="connsiteY13" fmla="*/ 634063 h 808150"/>
              <a:gd name="connsiteX14" fmla="*/ 1609725 w 2721957"/>
              <a:gd name="connsiteY14" fmla="*/ 805513 h 808150"/>
              <a:gd name="connsiteX15" fmla="*/ 1885950 w 2721957"/>
              <a:gd name="connsiteY15" fmla="*/ 738838 h 808150"/>
              <a:gd name="connsiteX16" fmla="*/ 2114550 w 2721957"/>
              <a:gd name="connsiteY16" fmla="*/ 748363 h 808150"/>
              <a:gd name="connsiteX17" fmla="*/ 2171700 w 2721957"/>
              <a:gd name="connsiteY17" fmla="*/ 681688 h 808150"/>
              <a:gd name="connsiteX18" fmla="*/ 2333625 w 2721957"/>
              <a:gd name="connsiteY18" fmla="*/ 672163 h 808150"/>
              <a:gd name="connsiteX19" fmla="*/ 2457450 w 2721957"/>
              <a:gd name="connsiteY19" fmla="*/ 548338 h 808150"/>
              <a:gd name="connsiteX20" fmla="*/ 2552700 w 2721957"/>
              <a:gd name="connsiteY20" fmla="*/ 538813 h 808150"/>
              <a:gd name="connsiteX21" fmla="*/ 2667000 w 2721957"/>
              <a:gd name="connsiteY21" fmla="*/ 253063 h 808150"/>
              <a:gd name="connsiteX22" fmla="*/ 2638425 w 2721957"/>
              <a:gd name="connsiteY22" fmla="*/ 110188 h 808150"/>
              <a:gd name="connsiteX23" fmla="*/ 2714625 w 2721957"/>
              <a:gd name="connsiteY23" fmla="*/ 5413 h 808150"/>
              <a:gd name="connsiteX24" fmla="*/ 2714625 w 2721957"/>
              <a:gd name="connsiteY24" fmla="*/ 24463 h 808150"/>
              <a:gd name="connsiteX0" fmla="*/ 0 w 2721957"/>
              <a:gd name="connsiteY0" fmla="*/ 367363 h 808150"/>
              <a:gd name="connsiteX1" fmla="*/ 47625 w 2721957"/>
              <a:gd name="connsiteY1" fmla="*/ 681688 h 808150"/>
              <a:gd name="connsiteX2" fmla="*/ 266700 w 2721957"/>
              <a:gd name="connsiteY2" fmla="*/ 643588 h 808150"/>
              <a:gd name="connsiteX3" fmla="*/ 323850 w 2721957"/>
              <a:gd name="connsiteY3" fmla="*/ 129238 h 808150"/>
              <a:gd name="connsiteX4" fmla="*/ 542925 w 2721957"/>
              <a:gd name="connsiteY4" fmla="*/ 186388 h 808150"/>
              <a:gd name="connsiteX5" fmla="*/ 838200 w 2721957"/>
              <a:gd name="connsiteY5" fmla="*/ 310213 h 808150"/>
              <a:gd name="connsiteX6" fmla="*/ 1019175 w 2721957"/>
              <a:gd name="connsiteY6" fmla="*/ 138763 h 808150"/>
              <a:gd name="connsiteX7" fmla="*/ 1295400 w 2721957"/>
              <a:gd name="connsiteY7" fmla="*/ 167338 h 808150"/>
              <a:gd name="connsiteX8" fmla="*/ 1323975 w 2721957"/>
              <a:gd name="connsiteY8" fmla="*/ 357838 h 808150"/>
              <a:gd name="connsiteX9" fmla="*/ 1428750 w 2721957"/>
              <a:gd name="connsiteY9" fmla="*/ 386413 h 808150"/>
              <a:gd name="connsiteX10" fmla="*/ 1419225 w 2721957"/>
              <a:gd name="connsiteY10" fmla="*/ 491188 h 808150"/>
              <a:gd name="connsiteX11" fmla="*/ 1609725 w 2721957"/>
              <a:gd name="connsiteY11" fmla="*/ 605488 h 808150"/>
              <a:gd name="connsiteX12" fmla="*/ 1590675 w 2721957"/>
              <a:gd name="connsiteY12" fmla="*/ 634063 h 808150"/>
              <a:gd name="connsiteX13" fmla="*/ 1609725 w 2721957"/>
              <a:gd name="connsiteY13" fmla="*/ 805513 h 808150"/>
              <a:gd name="connsiteX14" fmla="*/ 1885950 w 2721957"/>
              <a:gd name="connsiteY14" fmla="*/ 738838 h 808150"/>
              <a:gd name="connsiteX15" fmla="*/ 2114550 w 2721957"/>
              <a:gd name="connsiteY15" fmla="*/ 748363 h 808150"/>
              <a:gd name="connsiteX16" fmla="*/ 2171700 w 2721957"/>
              <a:gd name="connsiteY16" fmla="*/ 681688 h 808150"/>
              <a:gd name="connsiteX17" fmla="*/ 2333625 w 2721957"/>
              <a:gd name="connsiteY17" fmla="*/ 672163 h 808150"/>
              <a:gd name="connsiteX18" fmla="*/ 2457450 w 2721957"/>
              <a:gd name="connsiteY18" fmla="*/ 548338 h 808150"/>
              <a:gd name="connsiteX19" fmla="*/ 2552700 w 2721957"/>
              <a:gd name="connsiteY19" fmla="*/ 538813 h 808150"/>
              <a:gd name="connsiteX20" fmla="*/ 2667000 w 2721957"/>
              <a:gd name="connsiteY20" fmla="*/ 253063 h 808150"/>
              <a:gd name="connsiteX21" fmla="*/ 2638425 w 2721957"/>
              <a:gd name="connsiteY21" fmla="*/ 110188 h 808150"/>
              <a:gd name="connsiteX22" fmla="*/ 2714625 w 2721957"/>
              <a:gd name="connsiteY22" fmla="*/ 5413 h 808150"/>
              <a:gd name="connsiteX23" fmla="*/ 2714625 w 2721957"/>
              <a:gd name="connsiteY23" fmla="*/ 24463 h 808150"/>
              <a:gd name="connsiteX0" fmla="*/ 0 w 2674332"/>
              <a:gd name="connsiteY0" fmla="*/ 681688 h 808150"/>
              <a:gd name="connsiteX1" fmla="*/ 219075 w 2674332"/>
              <a:gd name="connsiteY1" fmla="*/ 643588 h 808150"/>
              <a:gd name="connsiteX2" fmla="*/ 276225 w 2674332"/>
              <a:gd name="connsiteY2" fmla="*/ 129238 h 808150"/>
              <a:gd name="connsiteX3" fmla="*/ 495300 w 2674332"/>
              <a:gd name="connsiteY3" fmla="*/ 186388 h 808150"/>
              <a:gd name="connsiteX4" fmla="*/ 790575 w 2674332"/>
              <a:gd name="connsiteY4" fmla="*/ 310213 h 808150"/>
              <a:gd name="connsiteX5" fmla="*/ 971550 w 2674332"/>
              <a:gd name="connsiteY5" fmla="*/ 138763 h 808150"/>
              <a:gd name="connsiteX6" fmla="*/ 1247775 w 2674332"/>
              <a:gd name="connsiteY6" fmla="*/ 167338 h 808150"/>
              <a:gd name="connsiteX7" fmla="*/ 1276350 w 2674332"/>
              <a:gd name="connsiteY7" fmla="*/ 357838 h 808150"/>
              <a:gd name="connsiteX8" fmla="*/ 1381125 w 2674332"/>
              <a:gd name="connsiteY8" fmla="*/ 386413 h 808150"/>
              <a:gd name="connsiteX9" fmla="*/ 1371600 w 2674332"/>
              <a:gd name="connsiteY9" fmla="*/ 491188 h 808150"/>
              <a:gd name="connsiteX10" fmla="*/ 1562100 w 2674332"/>
              <a:gd name="connsiteY10" fmla="*/ 605488 h 808150"/>
              <a:gd name="connsiteX11" fmla="*/ 1543050 w 2674332"/>
              <a:gd name="connsiteY11" fmla="*/ 634063 h 808150"/>
              <a:gd name="connsiteX12" fmla="*/ 1562100 w 2674332"/>
              <a:gd name="connsiteY12" fmla="*/ 805513 h 808150"/>
              <a:gd name="connsiteX13" fmla="*/ 1838325 w 2674332"/>
              <a:gd name="connsiteY13" fmla="*/ 738838 h 808150"/>
              <a:gd name="connsiteX14" fmla="*/ 2066925 w 2674332"/>
              <a:gd name="connsiteY14" fmla="*/ 748363 h 808150"/>
              <a:gd name="connsiteX15" fmla="*/ 2124075 w 2674332"/>
              <a:gd name="connsiteY15" fmla="*/ 681688 h 808150"/>
              <a:gd name="connsiteX16" fmla="*/ 2286000 w 2674332"/>
              <a:gd name="connsiteY16" fmla="*/ 672163 h 808150"/>
              <a:gd name="connsiteX17" fmla="*/ 2409825 w 2674332"/>
              <a:gd name="connsiteY17" fmla="*/ 548338 h 808150"/>
              <a:gd name="connsiteX18" fmla="*/ 2505075 w 2674332"/>
              <a:gd name="connsiteY18" fmla="*/ 538813 h 808150"/>
              <a:gd name="connsiteX19" fmla="*/ 2619375 w 2674332"/>
              <a:gd name="connsiteY19" fmla="*/ 253063 h 808150"/>
              <a:gd name="connsiteX20" fmla="*/ 2590800 w 2674332"/>
              <a:gd name="connsiteY20" fmla="*/ 110188 h 808150"/>
              <a:gd name="connsiteX21" fmla="*/ 2667000 w 2674332"/>
              <a:gd name="connsiteY21" fmla="*/ 5413 h 808150"/>
              <a:gd name="connsiteX22" fmla="*/ 2667000 w 2674332"/>
              <a:gd name="connsiteY22" fmla="*/ 24463 h 808150"/>
              <a:gd name="connsiteX0" fmla="*/ 0 w 2455257"/>
              <a:gd name="connsiteY0" fmla="*/ 643588 h 808150"/>
              <a:gd name="connsiteX1" fmla="*/ 57150 w 2455257"/>
              <a:gd name="connsiteY1" fmla="*/ 129238 h 808150"/>
              <a:gd name="connsiteX2" fmla="*/ 276225 w 2455257"/>
              <a:gd name="connsiteY2" fmla="*/ 186388 h 808150"/>
              <a:gd name="connsiteX3" fmla="*/ 571500 w 2455257"/>
              <a:gd name="connsiteY3" fmla="*/ 310213 h 808150"/>
              <a:gd name="connsiteX4" fmla="*/ 752475 w 2455257"/>
              <a:gd name="connsiteY4" fmla="*/ 138763 h 808150"/>
              <a:gd name="connsiteX5" fmla="*/ 1028700 w 2455257"/>
              <a:gd name="connsiteY5" fmla="*/ 167338 h 808150"/>
              <a:gd name="connsiteX6" fmla="*/ 1057275 w 2455257"/>
              <a:gd name="connsiteY6" fmla="*/ 357838 h 808150"/>
              <a:gd name="connsiteX7" fmla="*/ 1162050 w 2455257"/>
              <a:gd name="connsiteY7" fmla="*/ 386413 h 808150"/>
              <a:gd name="connsiteX8" fmla="*/ 1152525 w 2455257"/>
              <a:gd name="connsiteY8" fmla="*/ 491188 h 808150"/>
              <a:gd name="connsiteX9" fmla="*/ 1343025 w 2455257"/>
              <a:gd name="connsiteY9" fmla="*/ 605488 h 808150"/>
              <a:gd name="connsiteX10" fmla="*/ 1323975 w 2455257"/>
              <a:gd name="connsiteY10" fmla="*/ 634063 h 808150"/>
              <a:gd name="connsiteX11" fmla="*/ 1343025 w 2455257"/>
              <a:gd name="connsiteY11" fmla="*/ 805513 h 808150"/>
              <a:gd name="connsiteX12" fmla="*/ 1619250 w 2455257"/>
              <a:gd name="connsiteY12" fmla="*/ 738838 h 808150"/>
              <a:gd name="connsiteX13" fmla="*/ 1847850 w 2455257"/>
              <a:gd name="connsiteY13" fmla="*/ 748363 h 808150"/>
              <a:gd name="connsiteX14" fmla="*/ 1905000 w 2455257"/>
              <a:gd name="connsiteY14" fmla="*/ 681688 h 808150"/>
              <a:gd name="connsiteX15" fmla="*/ 2066925 w 2455257"/>
              <a:gd name="connsiteY15" fmla="*/ 672163 h 808150"/>
              <a:gd name="connsiteX16" fmla="*/ 2190750 w 2455257"/>
              <a:gd name="connsiteY16" fmla="*/ 548338 h 808150"/>
              <a:gd name="connsiteX17" fmla="*/ 2286000 w 2455257"/>
              <a:gd name="connsiteY17" fmla="*/ 538813 h 808150"/>
              <a:gd name="connsiteX18" fmla="*/ 2400300 w 2455257"/>
              <a:gd name="connsiteY18" fmla="*/ 253063 h 808150"/>
              <a:gd name="connsiteX19" fmla="*/ 2371725 w 2455257"/>
              <a:gd name="connsiteY19" fmla="*/ 110188 h 808150"/>
              <a:gd name="connsiteX20" fmla="*/ 2447925 w 2455257"/>
              <a:gd name="connsiteY20" fmla="*/ 5413 h 808150"/>
              <a:gd name="connsiteX21" fmla="*/ 2447925 w 2455257"/>
              <a:gd name="connsiteY21" fmla="*/ 24463 h 808150"/>
              <a:gd name="connsiteX0" fmla="*/ 0 w 2398107"/>
              <a:gd name="connsiteY0" fmla="*/ 129238 h 808150"/>
              <a:gd name="connsiteX1" fmla="*/ 219075 w 2398107"/>
              <a:gd name="connsiteY1" fmla="*/ 186388 h 808150"/>
              <a:gd name="connsiteX2" fmla="*/ 514350 w 2398107"/>
              <a:gd name="connsiteY2" fmla="*/ 310213 h 808150"/>
              <a:gd name="connsiteX3" fmla="*/ 695325 w 2398107"/>
              <a:gd name="connsiteY3" fmla="*/ 138763 h 808150"/>
              <a:gd name="connsiteX4" fmla="*/ 971550 w 2398107"/>
              <a:gd name="connsiteY4" fmla="*/ 167338 h 808150"/>
              <a:gd name="connsiteX5" fmla="*/ 1000125 w 2398107"/>
              <a:gd name="connsiteY5" fmla="*/ 357838 h 808150"/>
              <a:gd name="connsiteX6" fmla="*/ 1104900 w 2398107"/>
              <a:gd name="connsiteY6" fmla="*/ 386413 h 808150"/>
              <a:gd name="connsiteX7" fmla="*/ 1095375 w 2398107"/>
              <a:gd name="connsiteY7" fmla="*/ 491188 h 808150"/>
              <a:gd name="connsiteX8" fmla="*/ 1285875 w 2398107"/>
              <a:gd name="connsiteY8" fmla="*/ 605488 h 808150"/>
              <a:gd name="connsiteX9" fmla="*/ 1266825 w 2398107"/>
              <a:gd name="connsiteY9" fmla="*/ 634063 h 808150"/>
              <a:gd name="connsiteX10" fmla="*/ 1285875 w 2398107"/>
              <a:gd name="connsiteY10" fmla="*/ 805513 h 808150"/>
              <a:gd name="connsiteX11" fmla="*/ 1562100 w 2398107"/>
              <a:gd name="connsiteY11" fmla="*/ 738838 h 808150"/>
              <a:gd name="connsiteX12" fmla="*/ 1790700 w 2398107"/>
              <a:gd name="connsiteY12" fmla="*/ 748363 h 808150"/>
              <a:gd name="connsiteX13" fmla="*/ 1847850 w 2398107"/>
              <a:gd name="connsiteY13" fmla="*/ 681688 h 808150"/>
              <a:gd name="connsiteX14" fmla="*/ 2009775 w 2398107"/>
              <a:gd name="connsiteY14" fmla="*/ 672163 h 808150"/>
              <a:gd name="connsiteX15" fmla="*/ 2133600 w 2398107"/>
              <a:gd name="connsiteY15" fmla="*/ 548338 h 808150"/>
              <a:gd name="connsiteX16" fmla="*/ 2228850 w 2398107"/>
              <a:gd name="connsiteY16" fmla="*/ 538813 h 808150"/>
              <a:gd name="connsiteX17" fmla="*/ 2343150 w 2398107"/>
              <a:gd name="connsiteY17" fmla="*/ 253063 h 808150"/>
              <a:gd name="connsiteX18" fmla="*/ 2314575 w 2398107"/>
              <a:gd name="connsiteY18" fmla="*/ 110188 h 808150"/>
              <a:gd name="connsiteX19" fmla="*/ 2390775 w 2398107"/>
              <a:gd name="connsiteY19" fmla="*/ 5413 h 808150"/>
              <a:gd name="connsiteX20" fmla="*/ 2390775 w 2398107"/>
              <a:gd name="connsiteY20" fmla="*/ 24463 h 808150"/>
              <a:gd name="connsiteX0" fmla="*/ 0 w 2464544"/>
              <a:gd name="connsiteY0" fmla="*/ 157105 h 808150"/>
              <a:gd name="connsiteX1" fmla="*/ 285512 w 2464544"/>
              <a:gd name="connsiteY1" fmla="*/ 186388 h 808150"/>
              <a:gd name="connsiteX2" fmla="*/ 580787 w 2464544"/>
              <a:gd name="connsiteY2" fmla="*/ 310213 h 808150"/>
              <a:gd name="connsiteX3" fmla="*/ 761762 w 2464544"/>
              <a:gd name="connsiteY3" fmla="*/ 138763 h 808150"/>
              <a:gd name="connsiteX4" fmla="*/ 1037987 w 2464544"/>
              <a:gd name="connsiteY4" fmla="*/ 167338 h 808150"/>
              <a:gd name="connsiteX5" fmla="*/ 1066562 w 2464544"/>
              <a:gd name="connsiteY5" fmla="*/ 357838 h 808150"/>
              <a:gd name="connsiteX6" fmla="*/ 1171337 w 2464544"/>
              <a:gd name="connsiteY6" fmla="*/ 386413 h 808150"/>
              <a:gd name="connsiteX7" fmla="*/ 1161812 w 2464544"/>
              <a:gd name="connsiteY7" fmla="*/ 491188 h 808150"/>
              <a:gd name="connsiteX8" fmla="*/ 1352312 w 2464544"/>
              <a:gd name="connsiteY8" fmla="*/ 605488 h 808150"/>
              <a:gd name="connsiteX9" fmla="*/ 1333262 w 2464544"/>
              <a:gd name="connsiteY9" fmla="*/ 634063 h 808150"/>
              <a:gd name="connsiteX10" fmla="*/ 1352312 w 2464544"/>
              <a:gd name="connsiteY10" fmla="*/ 805513 h 808150"/>
              <a:gd name="connsiteX11" fmla="*/ 1628537 w 2464544"/>
              <a:gd name="connsiteY11" fmla="*/ 738838 h 808150"/>
              <a:gd name="connsiteX12" fmla="*/ 1857137 w 2464544"/>
              <a:gd name="connsiteY12" fmla="*/ 748363 h 808150"/>
              <a:gd name="connsiteX13" fmla="*/ 1914287 w 2464544"/>
              <a:gd name="connsiteY13" fmla="*/ 681688 h 808150"/>
              <a:gd name="connsiteX14" fmla="*/ 2076212 w 2464544"/>
              <a:gd name="connsiteY14" fmla="*/ 672163 h 808150"/>
              <a:gd name="connsiteX15" fmla="*/ 2200037 w 2464544"/>
              <a:gd name="connsiteY15" fmla="*/ 548338 h 808150"/>
              <a:gd name="connsiteX16" fmla="*/ 2295287 w 2464544"/>
              <a:gd name="connsiteY16" fmla="*/ 538813 h 808150"/>
              <a:gd name="connsiteX17" fmla="*/ 2409587 w 2464544"/>
              <a:gd name="connsiteY17" fmla="*/ 253063 h 808150"/>
              <a:gd name="connsiteX18" fmla="*/ 2381012 w 2464544"/>
              <a:gd name="connsiteY18" fmla="*/ 110188 h 808150"/>
              <a:gd name="connsiteX19" fmla="*/ 2457212 w 2464544"/>
              <a:gd name="connsiteY19" fmla="*/ 5413 h 808150"/>
              <a:gd name="connsiteX20" fmla="*/ 2457212 w 2464544"/>
              <a:gd name="connsiteY20" fmla="*/ 24463 h 808150"/>
              <a:gd name="connsiteX0" fmla="*/ 0 w 2437472"/>
              <a:gd name="connsiteY0" fmla="*/ 174762 h 808150"/>
              <a:gd name="connsiteX1" fmla="*/ 258440 w 2437472"/>
              <a:gd name="connsiteY1" fmla="*/ 186388 h 808150"/>
              <a:gd name="connsiteX2" fmla="*/ 553715 w 2437472"/>
              <a:gd name="connsiteY2" fmla="*/ 310213 h 808150"/>
              <a:gd name="connsiteX3" fmla="*/ 734690 w 2437472"/>
              <a:gd name="connsiteY3" fmla="*/ 138763 h 808150"/>
              <a:gd name="connsiteX4" fmla="*/ 1010915 w 2437472"/>
              <a:gd name="connsiteY4" fmla="*/ 167338 h 808150"/>
              <a:gd name="connsiteX5" fmla="*/ 1039490 w 2437472"/>
              <a:gd name="connsiteY5" fmla="*/ 357838 h 808150"/>
              <a:gd name="connsiteX6" fmla="*/ 1144265 w 2437472"/>
              <a:gd name="connsiteY6" fmla="*/ 386413 h 808150"/>
              <a:gd name="connsiteX7" fmla="*/ 1134740 w 2437472"/>
              <a:gd name="connsiteY7" fmla="*/ 491188 h 808150"/>
              <a:gd name="connsiteX8" fmla="*/ 1325240 w 2437472"/>
              <a:gd name="connsiteY8" fmla="*/ 605488 h 808150"/>
              <a:gd name="connsiteX9" fmla="*/ 1306190 w 2437472"/>
              <a:gd name="connsiteY9" fmla="*/ 634063 h 808150"/>
              <a:gd name="connsiteX10" fmla="*/ 1325240 w 2437472"/>
              <a:gd name="connsiteY10" fmla="*/ 805513 h 808150"/>
              <a:gd name="connsiteX11" fmla="*/ 1601465 w 2437472"/>
              <a:gd name="connsiteY11" fmla="*/ 738838 h 808150"/>
              <a:gd name="connsiteX12" fmla="*/ 1830065 w 2437472"/>
              <a:gd name="connsiteY12" fmla="*/ 748363 h 808150"/>
              <a:gd name="connsiteX13" fmla="*/ 1887215 w 2437472"/>
              <a:gd name="connsiteY13" fmla="*/ 681688 h 808150"/>
              <a:gd name="connsiteX14" fmla="*/ 2049140 w 2437472"/>
              <a:gd name="connsiteY14" fmla="*/ 672163 h 808150"/>
              <a:gd name="connsiteX15" fmla="*/ 2172965 w 2437472"/>
              <a:gd name="connsiteY15" fmla="*/ 548338 h 808150"/>
              <a:gd name="connsiteX16" fmla="*/ 2268215 w 2437472"/>
              <a:gd name="connsiteY16" fmla="*/ 538813 h 808150"/>
              <a:gd name="connsiteX17" fmla="*/ 2382515 w 2437472"/>
              <a:gd name="connsiteY17" fmla="*/ 253063 h 808150"/>
              <a:gd name="connsiteX18" fmla="*/ 2353940 w 2437472"/>
              <a:gd name="connsiteY18" fmla="*/ 110188 h 808150"/>
              <a:gd name="connsiteX19" fmla="*/ 2430140 w 2437472"/>
              <a:gd name="connsiteY19" fmla="*/ 5413 h 808150"/>
              <a:gd name="connsiteX20" fmla="*/ 2430140 w 2437472"/>
              <a:gd name="connsiteY20" fmla="*/ 24463 h 808150"/>
              <a:gd name="connsiteX0" fmla="*/ 0 w 2437472"/>
              <a:gd name="connsiteY0" fmla="*/ 174762 h 808150"/>
              <a:gd name="connsiteX1" fmla="*/ 258440 w 2437472"/>
              <a:gd name="connsiteY1" fmla="*/ 186388 h 808150"/>
              <a:gd name="connsiteX2" fmla="*/ 553715 w 2437472"/>
              <a:gd name="connsiteY2" fmla="*/ 310213 h 808150"/>
              <a:gd name="connsiteX3" fmla="*/ 734690 w 2437472"/>
              <a:gd name="connsiteY3" fmla="*/ 138763 h 808150"/>
              <a:gd name="connsiteX4" fmla="*/ 1010915 w 2437472"/>
              <a:gd name="connsiteY4" fmla="*/ 167338 h 808150"/>
              <a:gd name="connsiteX5" fmla="*/ 1039490 w 2437472"/>
              <a:gd name="connsiteY5" fmla="*/ 357838 h 808150"/>
              <a:gd name="connsiteX6" fmla="*/ 1144265 w 2437472"/>
              <a:gd name="connsiteY6" fmla="*/ 386413 h 808150"/>
              <a:gd name="connsiteX7" fmla="*/ 1134740 w 2437472"/>
              <a:gd name="connsiteY7" fmla="*/ 491188 h 808150"/>
              <a:gd name="connsiteX8" fmla="*/ 1325240 w 2437472"/>
              <a:gd name="connsiteY8" fmla="*/ 605488 h 808150"/>
              <a:gd name="connsiteX9" fmla="*/ 1306190 w 2437472"/>
              <a:gd name="connsiteY9" fmla="*/ 634063 h 808150"/>
              <a:gd name="connsiteX10" fmla="*/ 1325240 w 2437472"/>
              <a:gd name="connsiteY10" fmla="*/ 805513 h 808150"/>
              <a:gd name="connsiteX11" fmla="*/ 1601465 w 2437472"/>
              <a:gd name="connsiteY11" fmla="*/ 738838 h 808150"/>
              <a:gd name="connsiteX12" fmla="*/ 1830065 w 2437472"/>
              <a:gd name="connsiteY12" fmla="*/ 748363 h 808150"/>
              <a:gd name="connsiteX13" fmla="*/ 1887215 w 2437472"/>
              <a:gd name="connsiteY13" fmla="*/ 681688 h 808150"/>
              <a:gd name="connsiteX14" fmla="*/ 2049140 w 2437472"/>
              <a:gd name="connsiteY14" fmla="*/ 672163 h 808150"/>
              <a:gd name="connsiteX15" fmla="*/ 2172965 w 2437472"/>
              <a:gd name="connsiteY15" fmla="*/ 548338 h 808150"/>
              <a:gd name="connsiteX16" fmla="*/ 2268215 w 2437472"/>
              <a:gd name="connsiteY16" fmla="*/ 538813 h 808150"/>
              <a:gd name="connsiteX17" fmla="*/ 2382515 w 2437472"/>
              <a:gd name="connsiteY17" fmla="*/ 253063 h 808150"/>
              <a:gd name="connsiteX18" fmla="*/ 2353940 w 2437472"/>
              <a:gd name="connsiteY18" fmla="*/ 110188 h 808150"/>
              <a:gd name="connsiteX19" fmla="*/ 2430140 w 2437472"/>
              <a:gd name="connsiteY19" fmla="*/ 5413 h 808150"/>
              <a:gd name="connsiteX20" fmla="*/ 2430140 w 2437472"/>
              <a:gd name="connsiteY20" fmla="*/ 24463 h 808150"/>
              <a:gd name="connsiteX0" fmla="*/ 0 w 2437472"/>
              <a:gd name="connsiteY0" fmla="*/ 174762 h 808150"/>
              <a:gd name="connsiteX1" fmla="*/ 258440 w 2437472"/>
              <a:gd name="connsiteY1" fmla="*/ 186388 h 808150"/>
              <a:gd name="connsiteX2" fmla="*/ 553715 w 2437472"/>
              <a:gd name="connsiteY2" fmla="*/ 310213 h 808150"/>
              <a:gd name="connsiteX3" fmla="*/ 734690 w 2437472"/>
              <a:gd name="connsiteY3" fmla="*/ 138763 h 808150"/>
              <a:gd name="connsiteX4" fmla="*/ 1010915 w 2437472"/>
              <a:gd name="connsiteY4" fmla="*/ 167338 h 808150"/>
              <a:gd name="connsiteX5" fmla="*/ 1039490 w 2437472"/>
              <a:gd name="connsiteY5" fmla="*/ 357838 h 808150"/>
              <a:gd name="connsiteX6" fmla="*/ 1144265 w 2437472"/>
              <a:gd name="connsiteY6" fmla="*/ 386413 h 808150"/>
              <a:gd name="connsiteX7" fmla="*/ 1134740 w 2437472"/>
              <a:gd name="connsiteY7" fmla="*/ 491188 h 808150"/>
              <a:gd name="connsiteX8" fmla="*/ 1325240 w 2437472"/>
              <a:gd name="connsiteY8" fmla="*/ 605488 h 808150"/>
              <a:gd name="connsiteX9" fmla="*/ 1306190 w 2437472"/>
              <a:gd name="connsiteY9" fmla="*/ 634063 h 808150"/>
              <a:gd name="connsiteX10" fmla="*/ 1325240 w 2437472"/>
              <a:gd name="connsiteY10" fmla="*/ 805513 h 808150"/>
              <a:gd name="connsiteX11" fmla="*/ 1601465 w 2437472"/>
              <a:gd name="connsiteY11" fmla="*/ 738838 h 808150"/>
              <a:gd name="connsiteX12" fmla="*/ 1830065 w 2437472"/>
              <a:gd name="connsiteY12" fmla="*/ 748363 h 808150"/>
              <a:gd name="connsiteX13" fmla="*/ 1887215 w 2437472"/>
              <a:gd name="connsiteY13" fmla="*/ 681688 h 808150"/>
              <a:gd name="connsiteX14" fmla="*/ 2049140 w 2437472"/>
              <a:gd name="connsiteY14" fmla="*/ 672163 h 808150"/>
              <a:gd name="connsiteX15" fmla="*/ 2172965 w 2437472"/>
              <a:gd name="connsiteY15" fmla="*/ 548338 h 808150"/>
              <a:gd name="connsiteX16" fmla="*/ 2268215 w 2437472"/>
              <a:gd name="connsiteY16" fmla="*/ 538813 h 808150"/>
              <a:gd name="connsiteX17" fmla="*/ 2382515 w 2437472"/>
              <a:gd name="connsiteY17" fmla="*/ 253063 h 808150"/>
              <a:gd name="connsiteX18" fmla="*/ 2353940 w 2437472"/>
              <a:gd name="connsiteY18" fmla="*/ 110188 h 808150"/>
              <a:gd name="connsiteX19" fmla="*/ 2430140 w 2437472"/>
              <a:gd name="connsiteY19" fmla="*/ 5413 h 808150"/>
              <a:gd name="connsiteX20" fmla="*/ 2430140 w 2437472"/>
              <a:gd name="connsiteY20" fmla="*/ 24463 h 80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437472" h="808150">
                <a:moveTo>
                  <a:pt x="0" y="174762"/>
                </a:moveTo>
                <a:cubicBezTo>
                  <a:pt x="50549" y="76488"/>
                  <a:pt x="166154" y="163813"/>
                  <a:pt x="258440" y="186388"/>
                </a:cubicBezTo>
                <a:cubicBezTo>
                  <a:pt x="350726" y="208963"/>
                  <a:pt x="474340" y="318150"/>
                  <a:pt x="553715" y="310213"/>
                </a:cubicBezTo>
                <a:cubicBezTo>
                  <a:pt x="633090" y="302276"/>
                  <a:pt x="658490" y="162575"/>
                  <a:pt x="734690" y="138763"/>
                </a:cubicBezTo>
                <a:cubicBezTo>
                  <a:pt x="810890" y="114951"/>
                  <a:pt x="960115" y="130826"/>
                  <a:pt x="1010915" y="167338"/>
                </a:cubicBezTo>
                <a:cubicBezTo>
                  <a:pt x="1061715" y="203850"/>
                  <a:pt x="1017265" y="321326"/>
                  <a:pt x="1039490" y="357838"/>
                </a:cubicBezTo>
                <a:cubicBezTo>
                  <a:pt x="1061715" y="394350"/>
                  <a:pt x="1128390" y="364188"/>
                  <a:pt x="1144265" y="386413"/>
                </a:cubicBezTo>
                <a:cubicBezTo>
                  <a:pt x="1160140" y="408638"/>
                  <a:pt x="1104577" y="454675"/>
                  <a:pt x="1134740" y="491188"/>
                </a:cubicBezTo>
                <a:cubicBezTo>
                  <a:pt x="1164903" y="527701"/>
                  <a:pt x="1296665" y="581676"/>
                  <a:pt x="1325240" y="605488"/>
                </a:cubicBezTo>
                <a:cubicBezTo>
                  <a:pt x="1353815" y="629300"/>
                  <a:pt x="1306190" y="600726"/>
                  <a:pt x="1306190" y="634063"/>
                </a:cubicBezTo>
                <a:cubicBezTo>
                  <a:pt x="1306190" y="667400"/>
                  <a:pt x="1276028" y="788051"/>
                  <a:pt x="1325240" y="805513"/>
                </a:cubicBezTo>
                <a:cubicBezTo>
                  <a:pt x="1374452" y="822975"/>
                  <a:pt x="1517328" y="748363"/>
                  <a:pt x="1601465" y="738838"/>
                </a:cubicBezTo>
                <a:cubicBezTo>
                  <a:pt x="1685603" y="729313"/>
                  <a:pt x="1782440" y="757888"/>
                  <a:pt x="1830065" y="748363"/>
                </a:cubicBezTo>
                <a:cubicBezTo>
                  <a:pt x="1877690" y="738838"/>
                  <a:pt x="1850703" y="694388"/>
                  <a:pt x="1887215" y="681688"/>
                </a:cubicBezTo>
                <a:cubicBezTo>
                  <a:pt x="1923728" y="668988"/>
                  <a:pt x="2001515" y="694388"/>
                  <a:pt x="2049140" y="672163"/>
                </a:cubicBezTo>
                <a:cubicBezTo>
                  <a:pt x="2096765" y="649938"/>
                  <a:pt x="2136453" y="570563"/>
                  <a:pt x="2172965" y="548338"/>
                </a:cubicBezTo>
                <a:cubicBezTo>
                  <a:pt x="2209477" y="526113"/>
                  <a:pt x="2233290" y="588026"/>
                  <a:pt x="2268215" y="538813"/>
                </a:cubicBezTo>
                <a:cubicBezTo>
                  <a:pt x="2303140" y="489601"/>
                  <a:pt x="2368228" y="324501"/>
                  <a:pt x="2382515" y="253063"/>
                </a:cubicBezTo>
                <a:cubicBezTo>
                  <a:pt x="2396803" y="181625"/>
                  <a:pt x="2346003" y="151463"/>
                  <a:pt x="2353940" y="110188"/>
                </a:cubicBezTo>
                <a:cubicBezTo>
                  <a:pt x="2361877" y="68913"/>
                  <a:pt x="2417440" y="19700"/>
                  <a:pt x="2430140" y="5413"/>
                </a:cubicBezTo>
                <a:cubicBezTo>
                  <a:pt x="2442840" y="-8875"/>
                  <a:pt x="2436490" y="7794"/>
                  <a:pt x="2430140" y="24463"/>
                </a:cubicBezTo>
              </a:path>
            </a:pathLst>
          </a:cu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 dirty="0"/>
          </a:p>
        </p:txBody>
      </p:sp>
      <p:sp>
        <p:nvSpPr>
          <p:cNvPr id="16" name="語音泡泡: 矩形 16">
            <a:extLst>
              <a:ext uri="{FF2B5EF4-FFF2-40B4-BE49-F238E27FC236}">
                <a16:creationId xmlns:a16="http://schemas.microsoft.com/office/drawing/2014/main" id="{B1AEEFD1-7A6D-4B3F-BFEC-C01892B8FF14}"/>
              </a:ext>
            </a:extLst>
          </p:cNvPr>
          <p:cNvSpPr/>
          <p:nvPr/>
        </p:nvSpPr>
        <p:spPr>
          <a:xfrm>
            <a:off x="3323592" y="805519"/>
            <a:ext cx="2736000" cy="1495776"/>
          </a:xfrm>
          <a:prstGeom prst="wedgeRectCallout">
            <a:avLst>
              <a:gd name="adj1" fmla="val -81252"/>
              <a:gd name="adj2" fmla="val 10996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225"/>
              </a:spcAft>
            </a:pP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前瞻基礎建設計畫</a:t>
            </a:r>
            <a:r>
              <a:rPr lang="en-US" altLang="zh-TW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-</a:t>
            </a: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虎頭溪排水離子尾橋至穗芳橋</a:t>
            </a:r>
            <a:r>
              <a:rPr lang="en-US" altLang="zh-TW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(</a:t>
            </a:r>
            <a:r>
              <a:rPr lang="en-US" altLang="zh-TW" sz="1200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3K+938~4K+578</a:t>
            </a:r>
            <a:r>
              <a:rPr lang="en-US" altLang="zh-TW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)</a:t>
            </a: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護岸治理工程</a:t>
            </a:r>
            <a:r>
              <a:rPr lang="en-US" altLang="zh-TW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(</a:t>
            </a: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非都市</a:t>
            </a:r>
            <a:r>
              <a:rPr lang="zh-TW" altLang="en-US" sz="1200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土地</a:t>
            </a:r>
            <a:r>
              <a:rPr lang="en-US" altLang="zh-TW" sz="1200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)</a:t>
            </a:r>
            <a:r>
              <a:rPr lang="en-US" altLang="zh-TW" sz="1200" b="1" kern="0" dirty="0" smtClean="0">
                <a:solidFill>
                  <a:srgbClr val="FF0000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kern="0" dirty="0" smtClean="0">
                <a:solidFill>
                  <a:srgbClr val="FF0000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全案價購</a:t>
            </a:r>
            <a:r>
              <a:rPr lang="en-US" altLang="zh-TW" sz="1200" b="1" kern="0" dirty="0" smtClean="0">
                <a:solidFill>
                  <a:srgbClr val="FF0000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)</a:t>
            </a:r>
            <a:r>
              <a:rPr lang="zh-TW" altLang="zh-TW" sz="12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/>
            </a:r>
            <a:br>
              <a:rPr lang="zh-TW" altLang="zh-TW" sz="12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</a:b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估價基準日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：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年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月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日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>
              <a:spcAft>
                <a:spcPts val="225"/>
              </a:spcAft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分區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/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用地：特定農業區農牧用地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>
              <a:spcAft>
                <a:spcPts val="225"/>
              </a:spcAft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預審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市價：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 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~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元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/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M</a:t>
            </a:r>
            <a:r>
              <a:rPr lang="en-US" altLang="zh-TW" sz="1200" baseline="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2</a:t>
            </a:r>
          </a:p>
          <a:p>
            <a:pPr>
              <a:spcAft>
                <a:spcPts val="225"/>
              </a:spcAft>
            </a:pP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協議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市價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：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 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~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元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/M</a:t>
            </a:r>
            <a:r>
              <a:rPr lang="en-US" altLang="zh-TW" sz="1200" baseline="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2</a:t>
            </a:r>
            <a:endParaRPr lang="en-US" altLang="zh-TW" sz="1200" baseline="30000" dirty="0">
              <a:solidFill>
                <a:schemeClr val="tx1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</p:txBody>
      </p:sp>
      <p:sp>
        <p:nvSpPr>
          <p:cNvPr id="18" name="語音泡泡: 矩形 16">
            <a:extLst>
              <a:ext uri="{FF2B5EF4-FFF2-40B4-BE49-F238E27FC236}">
                <a16:creationId xmlns:a16="http://schemas.microsoft.com/office/drawing/2014/main" id="{5B79C011-228F-48BD-AC33-6E0D6D8A05B3}"/>
              </a:ext>
            </a:extLst>
          </p:cNvPr>
          <p:cNvSpPr/>
          <p:nvPr/>
        </p:nvSpPr>
        <p:spPr>
          <a:xfrm>
            <a:off x="66025" y="2344348"/>
            <a:ext cx="2736000" cy="1406011"/>
          </a:xfrm>
          <a:prstGeom prst="wedgeRectCallout">
            <a:avLst>
              <a:gd name="adj1" fmla="val 32819"/>
              <a:gd name="adj2" fmla="val -93776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225"/>
              </a:spcAft>
            </a:pP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前瞻基礎建設計畫</a:t>
            </a:r>
            <a:r>
              <a:rPr lang="en-US" altLang="zh-TW" sz="1200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-</a:t>
            </a:r>
            <a:r>
              <a:rPr lang="zh-TW" altLang="en-US" sz="1200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虎頭溪排水離子</a:t>
            </a: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尾橋至穗芳橋</a:t>
            </a:r>
            <a:r>
              <a:rPr lang="en-US" altLang="zh-TW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(3K+938~4K+578)</a:t>
            </a: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護岸治理工程</a:t>
            </a:r>
            <a:r>
              <a:rPr lang="en-US" altLang="zh-TW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(</a:t>
            </a: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都市土地</a:t>
            </a:r>
            <a:r>
              <a:rPr lang="en-US" altLang="zh-TW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)</a:t>
            </a:r>
            <a:r>
              <a:rPr lang="zh-TW" altLang="en-US" sz="1200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工程</a:t>
            </a:r>
            <a:r>
              <a:rPr lang="en-US" altLang="zh-TW" sz="12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全案價購</a:t>
            </a:r>
            <a:r>
              <a:rPr lang="en-US" altLang="zh-TW" sz="12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)</a:t>
            </a:r>
            <a:r>
              <a:rPr lang="zh-TW" altLang="zh-TW" sz="12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/>
            </a:r>
            <a:br>
              <a:rPr lang="zh-TW" altLang="zh-TW" sz="12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</a:b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估價基準日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：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年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月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日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>
              <a:spcAft>
                <a:spcPts val="225"/>
              </a:spcAft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分區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/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用地：農業區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>
              <a:spcAft>
                <a:spcPts val="225"/>
              </a:spcAft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預審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市價：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 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~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元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/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M</a:t>
            </a:r>
            <a:r>
              <a:rPr lang="en-US" altLang="zh-TW" sz="1200" baseline="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2</a:t>
            </a:r>
          </a:p>
          <a:p>
            <a:pPr>
              <a:spcAft>
                <a:spcPts val="225"/>
              </a:spcAft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協議市價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：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 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~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元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/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M</a:t>
            </a:r>
            <a:r>
              <a:rPr lang="en-US" altLang="zh-TW" sz="1200" baseline="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2</a:t>
            </a:r>
            <a:endParaRPr lang="en-US" altLang="zh-TW" sz="1200" baseline="30000" dirty="0">
              <a:solidFill>
                <a:schemeClr val="tx1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</p:txBody>
      </p:sp>
      <p:sp>
        <p:nvSpPr>
          <p:cNvPr id="20" name="語音泡泡: 矩形 16">
            <a:extLst>
              <a:ext uri="{FF2B5EF4-FFF2-40B4-BE49-F238E27FC236}">
                <a16:creationId xmlns:a16="http://schemas.microsoft.com/office/drawing/2014/main" id="{29CD19D1-518D-48ED-B3B3-0D7A7190340B}"/>
              </a:ext>
            </a:extLst>
          </p:cNvPr>
          <p:cNvSpPr/>
          <p:nvPr/>
        </p:nvSpPr>
        <p:spPr>
          <a:xfrm>
            <a:off x="6482713" y="2299099"/>
            <a:ext cx="2591503" cy="1375167"/>
          </a:xfrm>
          <a:prstGeom prst="wedgeRectCallout">
            <a:avLst>
              <a:gd name="adj1" fmla="val -58120"/>
              <a:gd name="adj2" fmla="val 140470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225"/>
              </a:spcAft>
            </a:pP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前瞻基礎建設計畫</a:t>
            </a:r>
            <a:r>
              <a:rPr lang="en-US" altLang="zh-TW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-</a:t>
            </a: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虎頭溪排水護岸治理工程</a:t>
            </a:r>
            <a:r>
              <a:rPr lang="en-US" altLang="zh-TW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(8K+884~10K+601)(</a:t>
            </a: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都市土地</a:t>
            </a:r>
            <a:r>
              <a:rPr lang="en-US" altLang="zh-TW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)</a:t>
            </a: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工程</a:t>
            </a:r>
            <a:r>
              <a:rPr lang="zh-TW" altLang="zh-TW" sz="12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/>
            </a:r>
            <a:br>
              <a:rPr lang="zh-TW" altLang="zh-TW" sz="12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</a:b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估價基準日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：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年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月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日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>
              <a:spcAft>
                <a:spcPts val="225"/>
              </a:spcAft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分區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/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用地：農業區、公園用地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>
              <a:spcAft>
                <a:spcPts val="225"/>
              </a:spcAft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預審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市價：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 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~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元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/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M</a:t>
            </a:r>
            <a:r>
              <a:rPr lang="en-US" altLang="zh-TW" sz="1200" baseline="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2</a:t>
            </a:r>
          </a:p>
          <a:p>
            <a:pPr>
              <a:spcAft>
                <a:spcPts val="225"/>
              </a:spcAft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協議市價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：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 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~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元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/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M</a:t>
            </a:r>
            <a:r>
              <a:rPr lang="en-US" altLang="zh-TW" sz="1200" baseline="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2</a:t>
            </a:r>
            <a:endParaRPr lang="en-US" altLang="zh-TW" sz="1200" baseline="30000" dirty="0">
              <a:solidFill>
                <a:schemeClr val="tx1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</p:txBody>
      </p:sp>
      <p:sp>
        <p:nvSpPr>
          <p:cNvPr id="22" name="語音泡泡: 矩形 16">
            <a:extLst>
              <a:ext uri="{FF2B5EF4-FFF2-40B4-BE49-F238E27FC236}">
                <a16:creationId xmlns:a16="http://schemas.microsoft.com/office/drawing/2014/main" id="{215741EB-C2CC-4C9B-B4BF-3CF22A58972C}"/>
              </a:ext>
            </a:extLst>
          </p:cNvPr>
          <p:cNvSpPr/>
          <p:nvPr/>
        </p:nvSpPr>
        <p:spPr>
          <a:xfrm>
            <a:off x="4932040" y="5373216"/>
            <a:ext cx="2772000" cy="1392129"/>
          </a:xfrm>
          <a:prstGeom prst="wedgeRectCallout">
            <a:avLst>
              <a:gd name="adj1" fmla="val -20871"/>
              <a:gd name="adj2" fmla="val -91305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225"/>
              </a:spcAft>
            </a:pP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前瞻基礎建設計畫</a:t>
            </a:r>
            <a:r>
              <a:rPr lang="en-US" altLang="zh-TW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-</a:t>
            </a: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虎頭溪排水護岸治理工程</a:t>
            </a:r>
            <a:r>
              <a:rPr lang="en-US" altLang="zh-TW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(8K+884~10K+601)(</a:t>
            </a:r>
            <a:r>
              <a:rPr lang="zh-TW" altLang="en-US" sz="1200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非都市土地</a:t>
            </a:r>
            <a:r>
              <a:rPr lang="en-US" altLang="zh-TW" sz="1200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)</a:t>
            </a:r>
            <a:r>
              <a:rPr lang="en-US" altLang="zh-TW" sz="1200" kern="0" dirty="0">
                <a:solidFill>
                  <a:srgbClr val="FF0000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</a:t>
            </a:r>
            <a:r>
              <a:rPr lang="en-US" altLang="zh-TW" sz="12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全案價購</a:t>
            </a:r>
            <a:r>
              <a:rPr lang="en-US" altLang="zh-TW" sz="12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)</a:t>
            </a:r>
            <a:r>
              <a:rPr lang="zh-TW" altLang="zh-TW" sz="12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/>
            </a:r>
            <a:br>
              <a:rPr lang="zh-TW" altLang="zh-TW" sz="12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</a:b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估價基準日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：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年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月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日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>
              <a:spcAft>
                <a:spcPts val="225"/>
              </a:spcAft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分區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/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用地：一般農業區農牧用地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>
              <a:spcAft>
                <a:spcPts val="225"/>
              </a:spcAft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評定市價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：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 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~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元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/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M</a:t>
            </a:r>
            <a:r>
              <a:rPr lang="en-US" altLang="zh-TW" sz="1200" baseline="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2</a:t>
            </a:r>
          </a:p>
          <a:p>
            <a:pPr>
              <a:spcAft>
                <a:spcPts val="225"/>
              </a:spcAft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協議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市價：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○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 ~ ○</a:t>
            </a: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元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/</a:t>
            </a:r>
            <a:r>
              <a:rPr lang="en-US" altLang="zh-TW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M</a:t>
            </a:r>
            <a:r>
              <a:rPr lang="en-US" altLang="zh-TW" sz="1200" baseline="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2</a:t>
            </a:r>
            <a:endParaRPr lang="en-US" altLang="zh-TW" sz="1200" baseline="30000" dirty="0">
              <a:solidFill>
                <a:schemeClr val="tx1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94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投影片編號版面配置區 3"/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algn="r" eaLnBrk="1" hangingPunct="1"/>
            <a:fld id="{C6BEA59C-ACAE-4C79-8115-0D2039F8D242}" type="slidenum">
              <a:rPr kumimoji="0" lang="en-US" altLang="zh-TW" sz="1200">
                <a:latin typeface="Garamond" pitchFamily="18" charset="0"/>
                <a:ea typeface="新細明體" charset="-120"/>
              </a:rPr>
              <a:pPr algn="r" eaLnBrk="1" hangingPunct="1"/>
              <a:t>18</a:t>
            </a:fld>
            <a:endParaRPr kumimoji="0" lang="en-US" altLang="zh-TW" sz="1200">
              <a:latin typeface="Garamond" pitchFamily="18" charset="0"/>
              <a:ea typeface="新細明體" charset="-120"/>
            </a:endParaRPr>
          </a:p>
        </p:txBody>
      </p:sp>
      <p:sp>
        <p:nvSpPr>
          <p:cNvPr id="23555" name="Text Box 5"/>
          <p:cNvSpPr txBox="1">
            <a:spLocks noChangeArrowheads="1"/>
          </p:cNvSpPr>
          <p:nvPr/>
        </p:nvSpPr>
        <p:spPr bwMode="auto">
          <a:xfrm>
            <a:off x="395288" y="260350"/>
            <a:ext cx="61214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charset="0"/>
                <a:ea typeface="SimHei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TW" altLang="en-US" sz="3000" b="1">
                <a:solidFill>
                  <a:srgbClr val="000066"/>
                </a:solidFill>
              </a:rPr>
              <a:t>叁</a:t>
            </a:r>
            <a:r>
              <a:rPr lang="zh-TW" altLang="zh-TW" sz="3000" b="1">
                <a:solidFill>
                  <a:srgbClr val="000066"/>
                </a:solidFill>
              </a:rPr>
              <a:t>、</a:t>
            </a:r>
            <a:r>
              <a:rPr lang="zh-TW" altLang="en-US" sz="3000" b="1">
                <a:solidFill>
                  <a:srgbClr val="000066"/>
                </a:solidFill>
              </a:rPr>
              <a:t>預定徵收土地宗地單位市價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8313" y="981075"/>
            <a:ext cx="8135937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62" indent="0" defTabSz="449263" eaLnBrk="1" hangingPunct="1">
              <a:buNone/>
              <a:tabLst>
                <a:tab pos="441325" algn="l"/>
                <a:tab pos="546100" algn="l"/>
                <a:tab pos="995363" algn="l"/>
                <a:tab pos="1444625" algn="l"/>
                <a:tab pos="1893888" algn="l"/>
                <a:tab pos="2343150" algn="l"/>
                <a:tab pos="2792413" algn="l"/>
                <a:tab pos="3241675" algn="l"/>
                <a:tab pos="3690938" algn="l"/>
                <a:tab pos="4140200" algn="l"/>
                <a:tab pos="4589463" algn="l"/>
                <a:tab pos="5038725" algn="l"/>
                <a:tab pos="5487988" algn="l"/>
                <a:tab pos="5937250" algn="l"/>
                <a:tab pos="6386513" algn="l"/>
                <a:tab pos="6835775" algn="l"/>
                <a:tab pos="7285038" algn="l"/>
                <a:tab pos="7734300" algn="l"/>
                <a:tab pos="8183563" algn="l"/>
                <a:tab pos="8632825" algn="l"/>
                <a:tab pos="9082088" algn="l"/>
              </a:tabLst>
              <a:defRPr/>
            </a:pPr>
            <a:r>
              <a:rPr lang="en-US" altLang="zh-TW" sz="2800" b="1" kern="0" dirty="0" smtClean="0">
                <a:solidFill>
                  <a:srgbClr val="A5002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lang="zh-TW" altLang="en-US" sz="2800" b="1" kern="0" dirty="0" smtClean="0">
                <a:solidFill>
                  <a:srgbClr val="A5002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預定徵收土地宗地單位市價：</a:t>
            </a:r>
            <a:r>
              <a:rPr lang="en-US" altLang="zh-TW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○○</a:t>
            </a:r>
            <a:r>
              <a:rPr lang="en-US" altLang="zh-TW" sz="24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~</a:t>
            </a:r>
            <a:r>
              <a:rPr lang="en-US" altLang="zh-TW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○○</a:t>
            </a:r>
            <a:r>
              <a:rPr lang="zh-TW" altLang="en-US" sz="24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TW" sz="24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/m</a:t>
            </a:r>
            <a:r>
              <a:rPr lang="en-US" altLang="zh-TW" sz="2400" b="1" kern="0" baseline="30000" dirty="0" smtClean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2</a:t>
            </a:r>
          </a:p>
          <a:p>
            <a:pPr marL="4762" indent="0" defTabSz="449263" eaLnBrk="1" hangingPunct="1">
              <a:buFont typeface="Wingdings" panose="05000000000000000000" pitchFamily="2" charset="2"/>
              <a:buNone/>
              <a:tabLst>
                <a:tab pos="441325" algn="l"/>
                <a:tab pos="546100" algn="l"/>
                <a:tab pos="995363" algn="l"/>
                <a:tab pos="1444625" algn="l"/>
                <a:tab pos="1893888" algn="l"/>
                <a:tab pos="2343150" algn="l"/>
                <a:tab pos="2792413" algn="l"/>
                <a:tab pos="3241675" algn="l"/>
                <a:tab pos="3690938" algn="l"/>
                <a:tab pos="4140200" algn="l"/>
                <a:tab pos="4589463" algn="l"/>
                <a:tab pos="5038725" algn="l"/>
                <a:tab pos="5487988" algn="l"/>
                <a:tab pos="5937250" algn="l"/>
                <a:tab pos="6386513" algn="l"/>
                <a:tab pos="6835775" algn="l"/>
                <a:tab pos="7285038" algn="l"/>
                <a:tab pos="7734300" algn="l"/>
                <a:tab pos="8183563" algn="l"/>
                <a:tab pos="8632825" algn="l"/>
                <a:tab pos="9082088" algn="l"/>
              </a:tabLst>
              <a:defRPr/>
            </a:pPr>
            <a:endParaRPr lang="en-US" altLang="zh-TW" sz="2800" b="1" kern="0" baseline="30000" dirty="0" smtClean="0">
              <a:solidFill>
                <a:srgbClr val="0000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 defTabSz="449263" eaLnBrk="1" hangingPunct="1">
              <a:buFont typeface="Wingdings" panose="05000000000000000000" pitchFamily="2" charset="2"/>
              <a:buNone/>
              <a:tabLst>
                <a:tab pos="8183563" algn="l"/>
                <a:tab pos="8632825" algn="l"/>
                <a:tab pos="9082088" algn="l"/>
              </a:tabLst>
              <a:defRPr/>
            </a:pPr>
            <a:r>
              <a:rPr lang="en-US" altLang="zh-TW" sz="2800" b="1" kern="0" dirty="0" smtClean="0">
                <a:solidFill>
                  <a:srgbClr val="A5002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lang="zh-TW" altLang="en-US" sz="2800" b="1" kern="0" dirty="0" smtClean="0">
                <a:solidFill>
                  <a:srgbClr val="A5002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各宗地市價請參見</a:t>
            </a:r>
            <a:r>
              <a:rPr lang="zh-TW" altLang="en-US" sz="2800" b="1" kern="0" dirty="0" smtClean="0">
                <a:solidFill>
                  <a:srgbClr val="A50021"/>
                </a:solidFill>
                <a:latin typeface="SimHei" panose="02010609060101010101" pitchFamily="49" charset="-122"/>
                <a:ea typeface="SimHei" panose="02010609060101010101" pitchFamily="49" charset="-122"/>
                <a:hlinkClick r:id="rId2" action="ppaction://hlinkfile"/>
              </a:rPr>
              <a:t>表</a:t>
            </a:r>
            <a:r>
              <a:rPr lang="en-US" altLang="zh-TW" sz="2800" b="1" kern="0" dirty="0" smtClean="0">
                <a:solidFill>
                  <a:srgbClr val="A50021"/>
                </a:solidFill>
                <a:latin typeface="SimHei" panose="02010609060101010101" pitchFamily="49" charset="-122"/>
                <a:ea typeface="SimHei" panose="02010609060101010101" pitchFamily="49" charset="-122"/>
                <a:hlinkClick r:id="rId2" action="ppaction://hlinkfile"/>
              </a:rPr>
              <a:t>9</a:t>
            </a:r>
            <a:r>
              <a:rPr lang="zh-TW" altLang="en-US" sz="2800" b="1" kern="0" dirty="0" smtClean="0">
                <a:solidFill>
                  <a:srgbClr val="A50021"/>
                </a:solidFill>
                <a:latin typeface="SimHei" panose="02010609060101010101" pitchFamily="49" charset="-122"/>
                <a:ea typeface="SimHei" panose="02010609060101010101" pitchFamily="49" charset="-122"/>
                <a:hlinkClick r:id="rId2" action="ppaction://hlinkfile"/>
              </a:rPr>
              <a:t>徵收土地宗地市價評議表</a:t>
            </a:r>
            <a:endParaRPr lang="en-US" altLang="zh-TW" sz="2800" b="1" kern="0" dirty="0" smtClean="0">
              <a:solidFill>
                <a:srgbClr val="A5002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 defTabSz="449263" eaLnBrk="1" hangingPunct="1">
              <a:buFont typeface="Wingdings" panose="05000000000000000000" pitchFamily="2" charset="2"/>
              <a:buNone/>
              <a:tabLst>
                <a:tab pos="8183563" algn="l"/>
                <a:tab pos="8632825" algn="l"/>
                <a:tab pos="9082088" algn="l"/>
              </a:tabLst>
              <a:defRPr/>
            </a:pPr>
            <a:endParaRPr lang="en-US" altLang="zh-TW" sz="2800" b="1" kern="0" dirty="0">
              <a:solidFill>
                <a:srgbClr val="A5002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4762" indent="0" defTabSz="449263" eaLnBrk="1" hangingPunct="1">
              <a:buNone/>
              <a:tabLst>
                <a:tab pos="441325" algn="l"/>
                <a:tab pos="546100" algn="l"/>
                <a:tab pos="995363" algn="l"/>
                <a:tab pos="1444625" algn="l"/>
                <a:tab pos="1893888" algn="l"/>
                <a:tab pos="2343150" algn="l"/>
                <a:tab pos="2792413" algn="l"/>
                <a:tab pos="3241675" algn="l"/>
                <a:tab pos="3690938" algn="l"/>
                <a:tab pos="4140200" algn="l"/>
                <a:tab pos="4589463" algn="l"/>
                <a:tab pos="5038725" algn="l"/>
                <a:tab pos="5487988" algn="l"/>
                <a:tab pos="5937250" algn="l"/>
                <a:tab pos="6386513" algn="l"/>
                <a:tab pos="6835775" algn="l"/>
                <a:tab pos="7285038" algn="l"/>
                <a:tab pos="7734300" algn="l"/>
                <a:tab pos="8183563" algn="l"/>
                <a:tab pos="8632825" algn="l"/>
                <a:tab pos="9082088" algn="l"/>
              </a:tabLst>
              <a:defRPr/>
            </a:pPr>
            <a:r>
              <a:rPr lang="en-US" altLang="zh-TW" sz="2800" b="1" kern="0" dirty="0" smtClean="0">
                <a:solidFill>
                  <a:srgbClr val="A5002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lang="zh-TW" altLang="en-US" sz="2800" b="1" kern="0" dirty="0" smtClean="0">
                <a:solidFill>
                  <a:srgbClr val="A5002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前期評定市價</a:t>
            </a:r>
            <a:r>
              <a:rPr lang="en-US" altLang="zh-TW" sz="2000" b="1" kern="0" dirty="0" smtClean="0">
                <a:solidFill>
                  <a:srgbClr val="A5002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(</a:t>
            </a:r>
            <a:r>
              <a:rPr lang="zh-TW" altLang="en-US" sz="2000" b="1" kern="0" dirty="0" smtClean="0">
                <a:solidFill>
                  <a:srgbClr val="A5002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基準日</a:t>
            </a:r>
            <a:r>
              <a:rPr lang="en-US" altLang="zh-TW" sz="2000" b="1" kern="0" dirty="0" smtClean="0">
                <a:solidFill>
                  <a:srgbClr val="A5002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1060301)</a:t>
            </a:r>
            <a:r>
              <a:rPr lang="zh-TW" altLang="en-US" sz="2800" b="1" kern="0" dirty="0" smtClean="0">
                <a:solidFill>
                  <a:srgbClr val="A5002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r>
              <a:rPr lang="en-US" altLang="zh-TW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○○</a:t>
            </a:r>
            <a:r>
              <a:rPr lang="en-US" altLang="zh-TW" sz="24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~</a:t>
            </a:r>
            <a:r>
              <a:rPr lang="en-US" altLang="zh-TW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○○</a:t>
            </a:r>
            <a:r>
              <a:rPr lang="zh-TW" altLang="en-US" sz="24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TW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en-US" altLang="zh-TW" sz="24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TW" sz="2400" b="1" kern="0" baseline="30000" dirty="0" smtClean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矩形圖說文字 7"/>
          <p:cNvSpPr/>
          <p:nvPr/>
        </p:nvSpPr>
        <p:spPr>
          <a:xfrm>
            <a:off x="9252520" y="2708920"/>
            <a:ext cx="1944216" cy="1947753"/>
          </a:xfrm>
          <a:prstGeom prst="wedgeRectCallout">
            <a:avLst>
              <a:gd name="adj1" fmla="val -140435"/>
              <a:gd name="adj2" fmla="val -2511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dirty="0" smtClean="0"/>
              <a:t>重複提評者說明，第</a:t>
            </a:r>
            <a:r>
              <a:rPr lang="en-US" altLang="zh-TW" dirty="0" smtClean="0"/>
              <a:t>1</a:t>
            </a:r>
            <a:r>
              <a:rPr lang="zh-TW" altLang="en-US" dirty="0" smtClean="0"/>
              <a:t>次評議者本行文字請刪除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299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95288" y="260350"/>
            <a:ext cx="61214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TW" altLang="en-US" sz="3000" b="1" dirty="0">
                <a:solidFill>
                  <a:srgbClr val="000066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肆</a:t>
            </a:r>
            <a:r>
              <a:rPr lang="zh-TW" altLang="zh-TW" sz="3000" b="1" dirty="0" smtClean="0">
                <a:solidFill>
                  <a:srgbClr val="000066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、</a:t>
            </a:r>
            <a:r>
              <a:rPr lang="zh-TW" altLang="en-US" sz="3000" b="1" dirty="0" smtClean="0">
                <a:solidFill>
                  <a:srgbClr val="000066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小組審查情形</a:t>
            </a:r>
            <a:endParaRPr lang="zh-TW" altLang="en-US" sz="3000" b="1" dirty="0">
              <a:solidFill>
                <a:srgbClr val="000066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68313" y="981075"/>
            <a:ext cx="8135937" cy="4968205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62" indent="0" defTabSz="449263" eaLnBrk="1" hangingPunct="1">
              <a:buNone/>
              <a:defRPr/>
            </a:pPr>
            <a:r>
              <a:rPr lang="en-US" altLang="zh-TW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一</a:t>
            </a:r>
            <a:r>
              <a:rPr lang="en-US" altLang="zh-TW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)</a:t>
            </a:r>
            <a:r>
              <a:rPr lang="zh-TW" altLang="en-US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時間：</a:t>
            </a:r>
            <a:r>
              <a:rPr lang="zh-TW" altLang="en-US" sz="2400" b="1" kern="0" dirty="0" smtClean="0">
                <a:latin typeface="新細明體" panose="02020500000000000000" pitchFamily="18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〇〇〇</a:t>
            </a:r>
            <a:r>
              <a:rPr lang="zh-TW" altLang="en-US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年</a:t>
            </a:r>
            <a:r>
              <a:rPr lang="zh-TW" altLang="en-US" sz="2400" b="1" kern="0" dirty="0" smtClean="0">
                <a:latin typeface="新細明體" panose="02020500000000000000" pitchFamily="18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〇〇</a:t>
            </a:r>
            <a:r>
              <a:rPr lang="zh-TW" altLang="en-US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月</a:t>
            </a:r>
            <a:r>
              <a:rPr lang="zh-TW" altLang="en-US" sz="2400" b="1" kern="0" dirty="0" smtClean="0">
                <a:latin typeface="新細明體" panose="02020500000000000000" pitchFamily="18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〇</a:t>
            </a:r>
            <a:r>
              <a:rPr lang="zh-TW" altLang="en-US" sz="2400" b="1" kern="0" dirty="0">
                <a:latin typeface="新細明體" panose="02020500000000000000" pitchFamily="18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〇</a:t>
            </a:r>
            <a:r>
              <a:rPr lang="zh-TW" altLang="en-US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日</a:t>
            </a:r>
            <a:r>
              <a:rPr lang="zh-TW" altLang="en-US" sz="2400" b="1" kern="0" dirty="0" smtClean="0">
                <a:latin typeface="新細明體" panose="02020500000000000000" pitchFamily="18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〇〇</a:t>
            </a:r>
            <a:r>
              <a:rPr lang="zh-TW" altLang="en-US" sz="2400" b="1" kern="0" dirty="0">
                <a:latin typeface="新細明體" panose="02020500000000000000" pitchFamily="18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〇</a:t>
            </a:r>
            <a:r>
              <a:rPr lang="zh-TW" altLang="en-US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年第</a:t>
            </a:r>
            <a:r>
              <a:rPr lang="zh-TW" altLang="en-US" sz="2400" b="1" kern="0" dirty="0" smtClean="0">
                <a:latin typeface="新細明體" panose="02020500000000000000" pitchFamily="18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〇</a:t>
            </a:r>
            <a:r>
              <a:rPr lang="zh-TW" altLang="en-US" sz="2400" b="1" kern="0" dirty="0">
                <a:latin typeface="新細明體" panose="02020500000000000000" pitchFamily="18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〇</a:t>
            </a:r>
            <a:r>
              <a:rPr lang="zh-TW" altLang="en-US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次會議</a:t>
            </a:r>
            <a:endParaRPr lang="en-US" altLang="zh-TW" sz="2400" b="1" kern="0" dirty="0" smtClean="0"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 marL="4762" indent="0" defTabSz="449263" eaLnBrk="1" hangingPunct="1">
              <a:buNone/>
              <a:defRPr/>
            </a:pPr>
            <a:r>
              <a:rPr lang="en-US" altLang="zh-TW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二</a:t>
            </a:r>
            <a:r>
              <a:rPr lang="en-US" altLang="zh-TW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)</a:t>
            </a:r>
            <a:r>
              <a:rPr lang="zh-TW" altLang="en-US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組</a:t>
            </a:r>
            <a:r>
              <a:rPr lang="zh-TW" altLang="en-US" sz="2400" b="1" kern="0" dirty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別</a:t>
            </a:r>
            <a:r>
              <a:rPr lang="zh-TW" altLang="en-US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：</a:t>
            </a:r>
            <a:r>
              <a:rPr lang="zh-TW" altLang="en-US" sz="2400" b="1" kern="0" dirty="0" smtClean="0">
                <a:latin typeface="新細明體" panose="02020500000000000000" pitchFamily="18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〇</a:t>
            </a:r>
            <a:r>
              <a:rPr lang="zh-TW" altLang="en-US" sz="2400" b="1" kern="0" dirty="0">
                <a:latin typeface="新細明體" panose="02020500000000000000" pitchFamily="18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〇</a:t>
            </a:r>
            <a:r>
              <a:rPr lang="zh-TW" altLang="en-US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組</a:t>
            </a:r>
            <a:endParaRPr lang="en-US" altLang="zh-TW" sz="2400" b="1" kern="0" dirty="0" smtClean="0"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 marL="4762" indent="0" defTabSz="449263" eaLnBrk="1" hangingPunct="1">
              <a:buNone/>
              <a:defRPr/>
            </a:pPr>
            <a:r>
              <a:rPr lang="en-US" altLang="zh-TW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三</a:t>
            </a:r>
            <a:r>
              <a:rPr lang="en-US" altLang="zh-TW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)</a:t>
            </a:r>
            <a:r>
              <a:rPr lang="zh-TW" altLang="en-US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小組審查市價查估作業情形</a:t>
            </a:r>
            <a:endParaRPr lang="en-US" altLang="zh-TW" sz="2400" b="1" kern="0" dirty="0"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 marL="4762" indent="0" defTabSz="449263" eaLnBrk="1" hangingPunct="1">
              <a:buNone/>
              <a:defRPr/>
            </a:pPr>
            <a:endParaRPr lang="en-US" altLang="zh-TW" sz="2400" b="1" kern="0" dirty="0" smtClean="0"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 marL="4762" indent="0" defTabSz="449263" eaLnBrk="1" hangingPunct="1">
              <a:buNone/>
              <a:defRPr/>
            </a:pPr>
            <a:endParaRPr lang="en-US" altLang="zh-TW" sz="2400" b="1" kern="0" dirty="0"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 marL="4762" indent="0" defTabSz="449263" eaLnBrk="1" hangingPunct="1">
              <a:buNone/>
              <a:defRPr/>
            </a:pPr>
            <a:endParaRPr lang="en-US" altLang="zh-TW" sz="2400" b="1" kern="0" dirty="0" smtClean="0"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 marL="4762" indent="0" defTabSz="449263" eaLnBrk="1" hangingPunct="1">
              <a:buNone/>
              <a:defRPr/>
            </a:pPr>
            <a:endParaRPr lang="en-US" altLang="zh-TW" sz="2400" b="1" kern="0" dirty="0"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 marL="4762" indent="0" defTabSz="449263" eaLnBrk="1" hangingPunct="1">
              <a:buNone/>
              <a:defRPr/>
            </a:pPr>
            <a:endParaRPr lang="en-US" altLang="zh-TW" sz="2400" b="1" kern="0" dirty="0" smtClean="0"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ADB62C50-BE54-404A-9A59-E0561553789E}" type="slidenum">
              <a:rPr lang="en-US" altLang="zh-TW" smtClean="0"/>
              <a:pPr>
                <a:defRPr/>
              </a:pPr>
              <a:t>19</a:t>
            </a:fld>
            <a:endParaRPr lang="en-US" altLang="zh-TW" dirty="0"/>
          </a:p>
        </p:txBody>
      </p:sp>
      <p:grpSp>
        <p:nvGrpSpPr>
          <p:cNvPr id="7" name="群組 6"/>
          <p:cNvGrpSpPr/>
          <p:nvPr/>
        </p:nvGrpSpPr>
        <p:grpSpPr>
          <a:xfrm>
            <a:off x="2082628" y="2348880"/>
            <a:ext cx="4907305" cy="3986003"/>
            <a:chOff x="1567679" y="829249"/>
            <a:chExt cx="5974820" cy="5194248"/>
          </a:xfrm>
        </p:grpSpPr>
        <p:grpSp>
          <p:nvGrpSpPr>
            <p:cNvPr id="9" name="群組 8"/>
            <p:cNvGrpSpPr/>
            <p:nvPr/>
          </p:nvGrpSpPr>
          <p:grpSpPr>
            <a:xfrm>
              <a:off x="1567679" y="829249"/>
              <a:ext cx="5810515" cy="5194248"/>
              <a:chOff x="1507859" y="829249"/>
              <a:chExt cx="5810515" cy="5194248"/>
            </a:xfrm>
          </p:grpSpPr>
          <p:pic>
            <p:nvPicPr>
              <p:cNvPr id="12" name="圖片 11"/>
              <p:cNvPicPr>
                <a:picLocks noChangeAspect="1"/>
              </p:cNvPicPr>
              <p:nvPr/>
            </p:nvPicPr>
            <p:blipFill rotWithShape="1">
              <a:blip r:embed="rId2" cstate="email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507859" y="829249"/>
                <a:ext cx="5810515" cy="5194248"/>
              </a:xfrm>
              <a:prstGeom prst="rect">
                <a:avLst/>
              </a:prstGeom>
            </p:spPr>
          </p:pic>
          <p:sp>
            <p:nvSpPr>
              <p:cNvPr id="13" name="矩形 12"/>
              <p:cNvSpPr/>
              <p:nvPr/>
            </p:nvSpPr>
            <p:spPr>
              <a:xfrm>
                <a:off x="4511822" y="3545874"/>
                <a:ext cx="715767" cy="535918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>
                  <a:defRPr/>
                </a:pPr>
                <a:r>
                  <a:rPr lang="en-US" altLang="zh-TW" sz="1100" b="1" spc="50" dirty="0" smtClean="0">
                    <a:ln w="11430"/>
                    <a:solidFill>
                      <a:srgbClr val="FF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ea typeface="新細明體" pitchFamily="18" charset="-120"/>
                  </a:rPr>
                  <a:t>P102-00</a:t>
                </a:r>
                <a:endParaRPr lang="en-US" altLang="zh-TW" sz="1100" b="1" spc="50" dirty="0">
                  <a:ln w="11430"/>
                  <a:solidFill>
                    <a:srgbClr val="FF00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ea typeface="新細明體" pitchFamily="18" charset="-120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3164650" y="3426374"/>
                <a:ext cx="715767" cy="535918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>
                  <a:defRPr/>
                </a:pPr>
                <a:r>
                  <a:rPr lang="en-US" altLang="zh-TW" sz="1100" b="1" spc="50" dirty="0" smtClean="0">
                    <a:ln w="11430"/>
                    <a:solidFill>
                      <a:srgbClr val="FF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ea typeface="新細明體" pitchFamily="18" charset="-120"/>
                  </a:rPr>
                  <a:t>P101-00</a:t>
                </a:r>
                <a:endParaRPr lang="en-US" altLang="zh-TW" sz="1100" b="1" spc="50" dirty="0">
                  <a:ln w="11430"/>
                  <a:solidFill>
                    <a:srgbClr val="FF00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ea typeface="新細明體" pitchFamily="18" charset="-120"/>
                </a:endParaRPr>
              </a:p>
            </p:txBody>
          </p:sp>
          <p:sp>
            <p:nvSpPr>
              <p:cNvPr id="15" name="手繪多邊形 14"/>
              <p:cNvSpPr/>
              <p:nvPr/>
            </p:nvSpPr>
            <p:spPr>
              <a:xfrm>
                <a:off x="3964781" y="2600325"/>
                <a:ext cx="1483519" cy="1019175"/>
              </a:xfrm>
              <a:custGeom>
                <a:avLst/>
                <a:gdLst>
                  <a:gd name="connsiteX0" fmla="*/ 190500 w 1483519"/>
                  <a:gd name="connsiteY0" fmla="*/ 0 h 1019175"/>
                  <a:gd name="connsiteX1" fmla="*/ 0 w 1483519"/>
                  <a:gd name="connsiteY1" fmla="*/ 364331 h 1019175"/>
                  <a:gd name="connsiteX2" fmla="*/ 69057 w 1483519"/>
                  <a:gd name="connsiteY2" fmla="*/ 309563 h 1019175"/>
                  <a:gd name="connsiteX3" fmla="*/ 114300 w 1483519"/>
                  <a:gd name="connsiteY3" fmla="*/ 283369 h 1019175"/>
                  <a:gd name="connsiteX4" fmla="*/ 176213 w 1483519"/>
                  <a:gd name="connsiteY4" fmla="*/ 278606 h 1019175"/>
                  <a:gd name="connsiteX5" fmla="*/ 1228725 w 1483519"/>
                  <a:gd name="connsiteY5" fmla="*/ 840581 h 1019175"/>
                  <a:gd name="connsiteX6" fmla="*/ 1269207 w 1483519"/>
                  <a:gd name="connsiteY6" fmla="*/ 888206 h 1019175"/>
                  <a:gd name="connsiteX7" fmla="*/ 1271588 w 1483519"/>
                  <a:gd name="connsiteY7" fmla="*/ 957263 h 1019175"/>
                  <a:gd name="connsiteX8" fmla="*/ 1307307 w 1483519"/>
                  <a:gd name="connsiteY8" fmla="*/ 1019175 h 1019175"/>
                  <a:gd name="connsiteX9" fmla="*/ 1302544 w 1483519"/>
                  <a:gd name="connsiteY9" fmla="*/ 888206 h 1019175"/>
                  <a:gd name="connsiteX10" fmla="*/ 1333500 w 1483519"/>
                  <a:gd name="connsiteY10" fmla="*/ 800100 h 1019175"/>
                  <a:gd name="connsiteX11" fmla="*/ 1407319 w 1483519"/>
                  <a:gd name="connsiteY11" fmla="*/ 666750 h 1019175"/>
                  <a:gd name="connsiteX12" fmla="*/ 1483519 w 1483519"/>
                  <a:gd name="connsiteY12" fmla="*/ 569119 h 1019175"/>
                  <a:gd name="connsiteX13" fmla="*/ 1409700 w 1483519"/>
                  <a:gd name="connsiteY13" fmla="*/ 623888 h 1019175"/>
                  <a:gd name="connsiteX14" fmla="*/ 1362075 w 1483519"/>
                  <a:gd name="connsiteY14" fmla="*/ 661988 h 1019175"/>
                  <a:gd name="connsiteX15" fmla="*/ 1326357 w 1483519"/>
                  <a:gd name="connsiteY15" fmla="*/ 695325 h 1019175"/>
                  <a:gd name="connsiteX16" fmla="*/ 1252538 w 1483519"/>
                  <a:gd name="connsiteY16" fmla="*/ 704850 h 1019175"/>
                  <a:gd name="connsiteX17" fmla="*/ 1088232 w 1483519"/>
                  <a:gd name="connsiteY17" fmla="*/ 604838 h 1019175"/>
                  <a:gd name="connsiteX18" fmla="*/ 635794 w 1483519"/>
                  <a:gd name="connsiteY18" fmla="*/ 366713 h 1019175"/>
                  <a:gd name="connsiteX19" fmla="*/ 254794 w 1483519"/>
                  <a:gd name="connsiteY19" fmla="*/ 180975 h 1019175"/>
                  <a:gd name="connsiteX20" fmla="*/ 221457 w 1483519"/>
                  <a:gd name="connsiteY20" fmla="*/ 161925 h 1019175"/>
                  <a:gd name="connsiteX21" fmla="*/ 192882 w 1483519"/>
                  <a:gd name="connsiteY21" fmla="*/ 111919 h 1019175"/>
                  <a:gd name="connsiteX22" fmla="*/ 197644 w 1483519"/>
                  <a:gd name="connsiteY22" fmla="*/ 61913 h 1019175"/>
                  <a:gd name="connsiteX23" fmla="*/ 190500 w 1483519"/>
                  <a:gd name="connsiteY23" fmla="*/ 0 h 1019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483519" h="1019175">
                    <a:moveTo>
                      <a:pt x="190500" y="0"/>
                    </a:moveTo>
                    <a:lnTo>
                      <a:pt x="0" y="364331"/>
                    </a:lnTo>
                    <a:lnTo>
                      <a:pt x="69057" y="309563"/>
                    </a:lnTo>
                    <a:lnTo>
                      <a:pt x="114300" y="283369"/>
                    </a:lnTo>
                    <a:lnTo>
                      <a:pt x="176213" y="278606"/>
                    </a:lnTo>
                    <a:lnTo>
                      <a:pt x="1228725" y="840581"/>
                    </a:lnTo>
                    <a:lnTo>
                      <a:pt x="1269207" y="888206"/>
                    </a:lnTo>
                    <a:cubicBezTo>
                      <a:pt x="1270001" y="911225"/>
                      <a:pt x="1270794" y="934244"/>
                      <a:pt x="1271588" y="957263"/>
                    </a:cubicBezTo>
                    <a:lnTo>
                      <a:pt x="1307307" y="1019175"/>
                    </a:lnTo>
                    <a:lnTo>
                      <a:pt x="1302544" y="888206"/>
                    </a:lnTo>
                    <a:lnTo>
                      <a:pt x="1333500" y="800100"/>
                    </a:lnTo>
                    <a:lnTo>
                      <a:pt x="1407319" y="666750"/>
                    </a:lnTo>
                    <a:lnTo>
                      <a:pt x="1483519" y="569119"/>
                    </a:lnTo>
                    <a:lnTo>
                      <a:pt x="1409700" y="623888"/>
                    </a:lnTo>
                    <a:lnTo>
                      <a:pt x="1362075" y="661988"/>
                    </a:lnTo>
                    <a:lnTo>
                      <a:pt x="1326357" y="695325"/>
                    </a:lnTo>
                    <a:lnTo>
                      <a:pt x="1252538" y="704850"/>
                    </a:lnTo>
                    <a:lnTo>
                      <a:pt x="1088232" y="604838"/>
                    </a:lnTo>
                    <a:lnTo>
                      <a:pt x="635794" y="366713"/>
                    </a:lnTo>
                    <a:lnTo>
                      <a:pt x="254794" y="180975"/>
                    </a:lnTo>
                    <a:lnTo>
                      <a:pt x="221457" y="161925"/>
                    </a:lnTo>
                    <a:lnTo>
                      <a:pt x="192882" y="111919"/>
                    </a:lnTo>
                    <a:lnTo>
                      <a:pt x="197644" y="61913"/>
                    </a:lnTo>
                    <a:lnTo>
                      <a:pt x="190500" y="0"/>
                    </a:lnTo>
                    <a:close/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手繪多邊形 15"/>
              <p:cNvSpPr/>
              <p:nvPr/>
            </p:nvSpPr>
            <p:spPr>
              <a:xfrm>
                <a:off x="4586288" y="2992437"/>
                <a:ext cx="66675" cy="117475"/>
              </a:xfrm>
              <a:custGeom>
                <a:avLst/>
                <a:gdLst>
                  <a:gd name="connsiteX0" fmla="*/ 0 w 66675"/>
                  <a:gd name="connsiteY0" fmla="*/ 117475 h 117475"/>
                  <a:gd name="connsiteX1" fmla="*/ 66675 w 66675"/>
                  <a:gd name="connsiteY1" fmla="*/ 0 h 117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6675" h="117475">
                    <a:moveTo>
                      <a:pt x="0" y="117475"/>
                    </a:moveTo>
                    <a:lnTo>
                      <a:pt x="66675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手繪多邊形 16"/>
              <p:cNvSpPr/>
              <p:nvPr/>
            </p:nvSpPr>
            <p:spPr>
              <a:xfrm>
                <a:off x="3667125" y="1752600"/>
                <a:ext cx="2595563" cy="3633788"/>
              </a:xfrm>
              <a:custGeom>
                <a:avLst/>
                <a:gdLst>
                  <a:gd name="connsiteX0" fmla="*/ 0 w 2595563"/>
                  <a:gd name="connsiteY0" fmla="*/ 2752725 h 3633788"/>
                  <a:gd name="connsiteX1" fmla="*/ 390525 w 2595563"/>
                  <a:gd name="connsiteY1" fmla="*/ 3014663 h 3633788"/>
                  <a:gd name="connsiteX2" fmla="*/ 600075 w 2595563"/>
                  <a:gd name="connsiteY2" fmla="*/ 3157538 h 3633788"/>
                  <a:gd name="connsiteX3" fmla="*/ 1204913 w 2595563"/>
                  <a:gd name="connsiteY3" fmla="*/ 3409950 h 3633788"/>
                  <a:gd name="connsiteX4" fmla="*/ 1366838 w 2595563"/>
                  <a:gd name="connsiteY4" fmla="*/ 3476625 h 3633788"/>
                  <a:gd name="connsiteX5" fmla="*/ 1662113 w 2595563"/>
                  <a:gd name="connsiteY5" fmla="*/ 3633788 h 3633788"/>
                  <a:gd name="connsiteX6" fmla="*/ 1571625 w 2595563"/>
                  <a:gd name="connsiteY6" fmla="*/ 3533775 h 3633788"/>
                  <a:gd name="connsiteX7" fmla="*/ 1581150 w 2595563"/>
                  <a:gd name="connsiteY7" fmla="*/ 3429000 h 3633788"/>
                  <a:gd name="connsiteX8" fmla="*/ 1633538 w 2595563"/>
                  <a:gd name="connsiteY8" fmla="*/ 3257550 h 3633788"/>
                  <a:gd name="connsiteX9" fmla="*/ 1757363 w 2595563"/>
                  <a:gd name="connsiteY9" fmla="*/ 2690813 h 3633788"/>
                  <a:gd name="connsiteX10" fmla="*/ 1800225 w 2595563"/>
                  <a:gd name="connsiteY10" fmla="*/ 2562225 h 3633788"/>
                  <a:gd name="connsiteX11" fmla="*/ 1804988 w 2595563"/>
                  <a:gd name="connsiteY11" fmla="*/ 2481263 h 3633788"/>
                  <a:gd name="connsiteX12" fmla="*/ 1809750 w 2595563"/>
                  <a:gd name="connsiteY12" fmla="*/ 2428875 h 3633788"/>
                  <a:gd name="connsiteX13" fmla="*/ 1762125 w 2595563"/>
                  <a:gd name="connsiteY13" fmla="*/ 2185988 h 3633788"/>
                  <a:gd name="connsiteX14" fmla="*/ 1743075 w 2595563"/>
                  <a:gd name="connsiteY14" fmla="*/ 2038350 h 3633788"/>
                  <a:gd name="connsiteX15" fmla="*/ 1714500 w 2595563"/>
                  <a:gd name="connsiteY15" fmla="*/ 1909763 h 3633788"/>
                  <a:gd name="connsiteX16" fmla="*/ 1733550 w 2595563"/>
                  <a:gd name="connsiteY16" fmla="*/ 1804988 h 3633788"/>
                  <a:gd name="connsiteX17" fmla="*/ 1762125 w 2595563"/>
                  <a:gd name="connsiteY17" fmla="*/ 1643063 h 3633788"/>
                  <a:gd name="connsiteX18" fmla="*/ 1804988 w 2595563"/>
                  <a:gd name="connsiteY18" fmla="*/ 1519238 h 3633788"/>
                  <a:gd name="connsiteX19" fmla="*/ 2000250 w 2595563"/>
                  <a:gd name="connsiteY19" fmla="*/ 1300163 h 3633788"/>
                  <a:gd name="connsiteX20" fmla="*/ 2190750 w 2595563"/>
                  <a:gd name="connsiteY20" fmla="*/ 1019175 h 3633788"/>
                  <a:gd name="connsiteX21" fmla="*/ 2405063 w 2595563"/>
                  <a:gd name="connsiteY21" fmla="*/ 747713 h 3633788"/>
                  <a:gd name="connsiteX22" fmla="*/ 2466975 w 2595563"/>
                  <a:gd name="connsiteY22" fmla="*/ 666750 h 3633788"/>
                  <a:gd name="connsiteX23" fmla="*/ 2500313 w 2595563"/>
                  <a:gd name="connsiteY23" fmla="*/ 638175 h 3633788"/>
                  <a:gd name="connsiteX24" fmla="*/ 2566988 w 2595563"/>
                  <a:gd name="connsiteY24" fmla="*/ 600075 h 3633788"/>
                  <a:gd name="connsiteX25" fmla="*/ 2595563 w 2595563"/>
                  <a:gd name="connsiteY25" fmla="*/ 585788 h 3633788"/>
                  <a:gd name="connsiteX26" fmla="*/ 2366963 w 2595563"/>
                  <a:gd name="connsiteY26" fmla="*/ 490538 h 3633788"/>
                  <a:gd name="connsiteX27" fmla="*/ 1314450 w 2595563"/>
                  <a:gd name="connsiteY27" fmla="*/ 0 h 3633788"/>
                  <a:gd name="connsiteX28" fmla="*/ 1266825 w 2595563"/>
                  <a:gd name="connsiteY28" fmla="*/ 114300 h 3633788"/>
                  <a:gd name="connsiteX29" fmla="*/ 1662113 w 2595563"/>
                  <a:gd name="connsiteY29" fmla="*/ 304800 h 3633788"/>
                  <a:gd name="connsiteX30" fmla="*/ 1533525 w 2595563"/>
                  <a:gd name="connsiteY30" fmla="*/ 514350 h 3633788"/>
                  <a:gd name="connsiteX31" fmla="*/ 1590675 w 2595563"/>
                  <a:gd name="connsiteY31" fmla="*/ 538163 h 3633788"/>
                  <a:gd name="connsiteX32" fmla="*/ 1543050 w 2595563"/>
                  <a:gd name="connsiteY32" fmla="*/ 619125 h 3633788"/>
                  <a:gd name="connsiteX33" fmla="*/ 1581150 w 2595563"/>
                  <a:gd name="connsiteY33" fmla="*/ 633413 h 3633788"/>
                  <a:gd name="connsiteX34" fmla="*/ 1476375 w 2595563"/>
                  <a:gd name="connsiteY34" fmla="*/ 719138 h 3633788"/>
                  <a:gd name="connsiteX35" fmla="*/ 1447800 w 2595563"/>
                  <a:gd name="connsiteY35" fmla="*/ 700088 h 3633788"/>
                  <a:gd name="connsiteX36" fmla="*/ 1104900 w 2595563"/>
                  <a:gd name="connsiteY36" fmla="*/ 509588 h 3633788"/>
                  <a:gd name="connsiteX37" fmla="*/ 952500 w 2595563"/>
                  <a:gd name="connsiteY37" fmla="*/ 823913 h 3633788"/>
                  <a:gd name="connsiteX38" fmla="*/ 1133475 w 2595563"/>
                  <a:gd name="connsiteY38" fmla="*/ 914400 h 3633788"/>
                  <a:gd name="connsiteX39" fmla="*/ 990600 w 2595563"/>
                  <a:gd name="connsiteY39" fmla="*/ 1228725 h 3633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595563" h="3633788">
                    <a:moveTo>
                      <a:pt x="0" y="2752725"/>
                    </a:moveTo>
                    <a:lnTo>
                      <a:pt x="390525" y="3014663"/>
                    </a:lnTo>
                    <a:lnTo>
                      <a:pt x="600075" y="3157538"/>
                    </a:lnTo>
                    <a:lnTo>
                      <a:pt x="1204913" y="3409950"/>
                    </a:lnTo>
                    <a:lnTo>
                      <a:pt x="1366838" y="3476625"/>
                    </a:lnTo>
                    <a:lnTo>
                      <a:pt x="1662113" y="3633788"/>
                    </a:lnTo>
                    <a:lnTo>
                      <a:pt x="1571625" y="3533775"/>
                    </a:lnTo>
                    <a:lnTo>
                      <a:pt x="1581150" y="3429000"/>
                    </a:lnTo>
                    <a:lnTo>
                      <a:pt x="1633538" y="3257550"/>
                    </a:lnTo>
                    <a:lnTo>
                      <a:pt x="1757363" y="2690813"/>
                    </a:lnTo>
                    <a:lnTo>
                      <a:pt x="1800225" y="2562225"/>
                    </a:lnTo>
                    <a:lnTo>
                      <a:pt x="1804988" y="2481263"/>
                    </a:lnTo>
                    <a:lnTo>
                      <a:pt x="1809750" y="2428875"/>
                    </a:lnTo>
                    <a:lnTo>
                      <a:pt x="1762125" y="2185988"/>
                    </a:lnTo>
                    <a:lnTo>
                      <a:pt x="1743075" y="2038350"/>
                    </a:lnTo>
                    <a:lnTo>
                      <a:pt x="1714500" y="1909763"/>
                    </a:lnTo>
                    <a:lnTo>
                      <a:pt x="1733550" y="1804988"/>
                    </a:lnTo>
                    <a:lnTo>
                      <a:pt x="1762125" y="1643063"/>
                    </a:lnTo>
                    <a:lnTo>
                      <a:pt x="1804988" y="1519238"/>
                    </a:lnTo>
                    <a:lnTo>
                      <a:pt x="2000250" y="1300163"/>
                    </a:lnTo>
                    <a:lnTo>
                      <a:pt x="2190750" y="1019175"/>
                    </a:lnTo>
                    <a:lnTo>
                      <a:pt x="2405063" y="747713"/>
                    </a:lnTo>
                    <a:lnTo>
                      <a:pt x="2466975" y="666750"/>
                    </a:lnTo>
                    <a:lnTo>
                      <a:pt x="2500313" y="638175"/>
                    </a:lnTo>
                    <a:lnTo>
                      <a:pt x="2566988" y="600075"/>
                    </a:lnTo>
                    <a:lnTo>
                      <a:pt x="2595563" y="585788"/>
                    </a:lnTo>
                    <a:lnTo>
                      <a:pt x="2366963" y="490538"/>
                    </a:lnTo>
                    <a:lnTo>
                      <a:pt x="1314450" y="0"/>
                    </a:lnTo>
                    <a:lnTo>
                      <a:pt x="1266825" y="114300"/>
                    </a:lnTo>
                    <a:lnTo>
                      <a:pt x="1662113" y="304800"/>
                    </a:lnTo>
                    <a:lnTo>
                      <a:pt x="1533525" y="514350"/>
                    </a:lnTo>
                    <a:lnTo>
                      <a:pt x="1590675" y="538163"/>
                    </a:lnTo>
                    <a:lnTo>
                      <a:pt x="1543050" y="619125"/>
                    </a:lnTo>
                    <a:lnTo>
                      <a:pt x="1581150" y="633413"/>
                    </a:lnTo>
                    <a:lnTo>
                      <a:pt x="1476375" y="719138"/>
                    </a:lnTo>
                    <a:lnTo>
                      <a:pt x="1447800" y="700088"/>
                    </a:lnTo>
                    <a:lnTo>
                      <a:pt x="1104900" y="509588"/>
                    </a:lnTo>
                    <a:lnTo>
                      <a:pt x="952500" y="823913"/>
                    </a:lnTo>
                    <a:lnTo>
                      <a:pt x="1133475" y="914400"/>
                    </a:lnTo>
                    <a:lnTo>
                      <a:pt x="990600" y="1228725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手繪多邊形 17"/>
              <p:cNvSpPr/>
              <p:nvPr/>
            </p:nvSpPr>
            <p:spPr>
              <a:xfrm>
                <a:off x="3662363" y="3119438"/>
                <a:ext cx="923925" cy="1395412"/>
              </a:xfrm>
              <a:custGeom>
                <a:avLst/>
                <a:gdLst>
                  <a:gd name="connsiteX0" fmla="*/ 923925 w 923925"/>
                  <a:gd name="connsiteY0" fmla="*/ 0 h 1395412"/>
                  <a:gd name="connsiteX1" fmla="*/ 533400 w 923925"/>
                  <a:gd name="connsiteY1" fmla="*/ 738187 h 1395412"/>
                  <a:gd name="connsiteX2" fmla="*/ 423862 w 923925"/>
                  <a:gd name="connsiteY2" fmla="*/ 657225 h 1395412"/>
                  <a:gd name="connsiteX3" fmla="*/ 0 w 923925"/>
                  <a:gd name="connsiteY3" fmla="*/ 1395412 h 1395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3925" h="1395412">
                    <a:moveTo>
                      <a:pt x="923925" y="0"/>
                    </a:moveTo>
                    <a:lnTo>
                      <a:pt x="533400" y="738187"/>
                    </a:lnTo>
                    <a:lnTo>
                      <a:pt x="423862" y="657225"/>
                    </a:lnTo>
                    <a:lnTo>
                      <a:pt x="0" y="1395412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手繪多邊形 18"/>
              <p:cNvSpPr/>
              <p:nvPr/>
            </p:nvSpPr>
            <p:spPr>
              <a:xfrm>
                <a:off x="2590800" y="1409700"/>
                <a:ext cx="2395538" cy="3095625"/>
              </a:xfrm>
              <a:custGeom>
                <a:avLst/>
                <a:gdLst>
                  <a:gd name="connsiteX0" fmla="*/ 2395538 w 2395538"/>
                  <a:gd name="connsiteY0" fmla="*/ 347663 h 3095625"/>
                  <a:gd name="connsiteX1" fmla="*/ 1976438 w 2395538"/>
                  <a:gd name="connsiteY1" fmla="*/ 152400 h 3095625"/>
                  <a:gd name="connsiteX2" fmla="*/ 1809750 w 2395538"/>
                  <a:gd name="connsiteY2" fmla="*/ 80963 h 3095625"/>
                  <a:gd name="connsiteX3" fmla="*/ 1528763 w 2395538"/>
                  <a:gd name="connsiteY3" fmla="*/ 0 h 3095625"/>
                  <a:gd name="connsiteX4" fmla="*/ 1490663 w 2395538"/>
                  <a:gd name="connsiteY4" fmla="*/ 52388 h 3095625"/>
                  <a:gd name="connsiteX5" fmla="*/ 1400175 w 2395538"/>
                  <a:gd name="connsiteY5" fmla="*/ 319088 h 3095625"/>
                  <a:gd name="connsiteX6" fmla="*/ 1485900 w 2395538"/>
                  <a:gd name="connsiteY6" fmla="*/ 347663 h 3095625"/>
                  <a:gd name="connsiteX7" fmla="*/ 1452563 w 2395538"/>
                  <a:gd name="connsiteY7" fmla="*/ 385763 h 3095625"/>
                  <a:gd name="connsiteX8" fmla="*/ 1347788 w 2395538"/>
                  <a:gd name="connsiteY8" fmla="*/ 847725 h 3095625"/>
                  <a:gd name="connsiteX9" fmla="*/ 1114425 w 2395538"/>
                  <a:gd name="connsiteY9" fmla="*/ 785813 h 3095625"/>
                  <a:gd name="connsiteX10" fmla="*/ 1081088 w 2395538"/>
                  <a:gd name="connsiteY10" fmla="*/ 919163 h 3095625"/>
                  <a:gd name="connsiteX11" fmla="*/ 952500 w 2395538"/>
                  <a:gd name="connsiteY11" fmla="*/ 881063 h 3095625"/>
                  <a:gd name="connsiteX12" fmla="*/ 928688 w 2395538"/>
                  <a:gd name="connsiteY12" fmla="*/ 1109663 h 3095625"/>
                  <a:gd name="connsiteX13" fmla="*/ 919163 w 2395538"/>
                  <a:gd name="connsiteY13" fmla="*/ 1152525 h 3095625"/>
                  <a:gd name="connsiteX14" fmla="*/ 828675 w 2395538"/>
                  <a:gd name="connsiteY14" fmla="*/ 1333500 h 3095625"/>
                  <a:gd name="connsiteX15" fmla="*/ 547688 w 2395538"/>
                  <a:gd name="connsiteY15" fmla="*/ 1914525 h 3095625"/>
                  <a:gd name="connsiteX16" fmla="*/ 300038 w 2395538"/>
                  <a:gd name="connsiteY16" fmla="*/ 1776413 h 3095625"/>
                  <a:gd name="connsiteX17" fmla="*/ 0 w 2395538"/>
                  <a:gd name="connsiteY17" fmla="*/ 2257425 h 3095625"/>
                  <a:gd name="connsiteX18" fmla="*/ 71438 w 2395538"/>
                  <a:gd name="connsiteY18" fmla="*/ 2395538 h 3095625"/>
                  <a:gd name="connsiteX19" fmla="*/ 157163 w 2395538"/>
                  <a:gd name="connsiteY19" fmla="*/ 2505075 h 3095625"/>
                  <a:gd name="connsiteX20" fmla="*/ 247650 w 2395538"/>
                  <a:gd name="connsiteY20" fmla="*/ 2624138 h 3095625"/>
                  <a:gd name="connsiteX21" fmla="*/ 323850 w 2395538"/>
                  <a:gd name="connsiteY21" fmla="*/ 2686050 h 3095625"/>
                  <a:gd name="connsiteX22" fmla="*/ 495300 w 2395538"/>
                  <a:gd name="connsiteY22" fmla="*/ 2762250 h 3095625"/>
                  <a:gd name="connsiteX23" fmla="*/ 700088 w 2395538"/>
                  <a:gd name="connsiteY23" fmla="*/ 2862263 h 3095625"/>
                  <a:gd name="connsiteX24" fmla="*/ 900113 w 2395538"/>
                  <a:gd name="connsiteY24" fmla="*/ 2957513 h 3095625"/>
                  <a:gd name="connsiteX25" fmla="*/ 1085850 w 2395538"/>
                  <a:gd name="connsiteY25" fmla="*/ 3095625 h 3095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395538" h="3095625">
                    <a:moveTo>
                      <a:pt x="2395538" y="347663"/>
                    </a:moveTo>
                    <a:lnTo>
                      <a:pt x="1976438" y="152400"/>
                    </a:lnTo>
                    <a:lnTo>
                      <a:pt x="1809750" y="80963"/>
                    </a:lnTo>
                    <a:lnTo>
                      <a:pt x="1528763" y="0"/>
                    </a:lnTo>
                    <a:lnTo>
                      <a:pt x="1490663" y="52388"/>
                    </a:lnTo>
                    <a:lnTo>
                      <a:pt x="1400175" y="319088"/>
                    </a:lnTo>
                    <a:lnTo>
                      <a:pt x="1485900" y="347663"/>
                    </a:lnTo>
                    <a:lnTo>
                      <a:pt x="1452563" y="385763"/>
                    </a:lnTo>
                    <a:lnTo>
                      <a:pt x="1347788" y="847725"/>
                    </a:lnTo>
                    <a:lnTo>
                      <a:pt x="1114425" y="785813"/>
                    </a:lnTo>
                    <a:lnTo>
                      <a:pt x="1081088" y="919163"/>
                    </a:lnTo>
                    <a:lnTo>
                      <a:pt x="952500" y="881063"/>
                    </a:lnTo>
                    <a:lnTo>
                      <a:pt x="928688" y="1109663"/>
                    </a:lnTo>
                    <a:lnTo>
                      <a:pt x="919163" y="1152525"/>
                    </a:lnTo>
                    <a:lnTo>
                      <a:pt x="828675" y="1333500"/>
                    </a:lnTo>
                    <a:lnTo>
                      <a:pt x="547688" y="1914525"/>
                    </a:lnTo>
                    <a:lnTo>
                      <a:pt x="300038" y="1776413"/>
                    </a:lnTo>
                    <a:lnTo>
                      <a:pt x="0" y="2257425"/>
                    </a:lnTo>
                    <a:lnTo>
                      <a:pt x="71438" y="2395538"/>
                    </a:lnTo>
                    <a:lnTo>
                      <a:pt x="157163" y="2505075"/>
                    </a:lnTo>
                    <a:lnTo>
                      <a:pt x="247650" y="2624138"/>
                    </a:lnTo>
                    <a:lnTo>
                      <a:pt x="323850" y="2686050"/>
                    </a:lnTo>
                    <a:lnTo>
                      <a:pt x="495300" y="2762250"/>
                    </a:lnTo>
                    <a:lnTo>
                      <a:pt x="700088" y="2862263"/>
                    </a:lnTo>
                    <a:lnTo>
                      <a:pt x="900113" y="2957513"/>
                    </a:lnTo>
                    <a:lnTo>
                      <a:pt x="1085850" y="3095625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0" name="圓角矩形圖說文字 9"/>
            <p:cNvSpPr/>
            <p:nvPr/>
          </p:nvSpPr>
          <p:spPr bwMode="auto">
            <a:xfrm>
              <a:off x="1692565" y="2254596"/>
              <a:ext cx="1870074" cy="737841"/>
            </a:xfrm>
            <a:prstGeom prst="wedgeRoundRectCallout">
              <a:avLst>
                <a:gd name="adj1" fmla="val 115792"/>
                <a:gd name="adj2" fmla="val 56815"/>
                <a:gd name="adj3" fmla="val 16667"/>
              </a:avLst>
            </a:prstGeom>
            <a:solidFill>
              <a:srgbClr val="FF99FF"/>
            </a:solidFill>
            <a:ln>
              <a:solidFill>
                <a:srgbClr val="000099"/>
              </a:solidFill>
            </a:ln>
            <a:scene3d>
              <a:camera prst="orthographicFront"/>
              <a:lightRig rig="threePt" dir="t"/>
            </a:scene3d>
            <a:sp3d>
              <a:contourClr>
                <a:srgbClr val="000099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r>
                <a:rPr lang="zh-TW" altLang="en-US" sz="1000" dirty="0" smtClean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區段編號：</a:t>
              </a:r>
              <a:r>
                <a:rPr lang="en-US" altLang="zh-TW" sz="1000" dirty="0" smtClean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P101-00</a:t>
              </a:r>
              <a:endParaRPr lang="en-US" altLang="zh-TW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eaLnBrk="1" hangingPunct="1">
                <a:defRPr/>
              </a:pPr>
              <a:r>
                <a:rPr lang="zh-TW" altLang="en-US" sz="1000" dirty="0" smtClean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地價：</a:t>
              </a:r>
              <a:r>
                <a:rPr lang="en-US" altLang="zh-TW" sz="1000" dirty="0" smtClean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000</a:t>
              </a:r>
              <a:r>
                <a:rPr lang="zh-TW" altLang="en-US" sz="1000" dirty="0" smtClean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元</a:t>
              </a:r>
              <a:r>
                <a:rPr lang="en-US" altLang="zh-TW" sz="1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/m</a:t>
              </a:r>
              <a:r>
                <a:rPr lang="en-US" altLang="zh-TW" sz="1000" baseline="30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</a:p>
          </p:txBody>
        </p:sp>
        <p:sp>
          <p:nvSpPr>
            <p:cNvPr id="11" name="圓角矩形圖說文字 10"/>
            <p:cNvSpPr/>
            <p:nvPr/>
          </p:nvSpPr>
          <p:spPr bwMode="auto">
            <a:xfrm>
              <a:off x="5829326" y="3358598"/>
              <a:ext cx="1713173" cy="585030"/>
            </a:xfrm>
            <a:prstGeom prst="wedgeRoundRectCallout">
              <a:avLst>
                <a:gd name="adj1" fmla="val -92954"/>
                <a:gd name="adj2" fmla="val -48068"/>
                <a:gd name="adj3" fmla="val 16667"/>
              </a:avLst>
            </a:prstGeom>
            <a:solidFill>
              <a:srgbClr val="FF99FF"/>
            </a:solidFill>
            <a:ln>
              <a:solidFill>
                <a:srgbClr val="000099"/>
              </a:solidFill>
            </a:ln>
            <a:scene3d>
              <a:camera prst="orthographicFront"/>
              <a:lightRig rig="threePt" dir="t"/>
            </a:scene3d>
            <a:sp3d>
              <a:contourClr>
                <a:srgbClr val="000099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r>
                <a:rPr lang="zh-TW" altLang="en-US" sz="1000" dirty="0" smtClean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區段編號：</a:t>
              </a:r>
              <a:r>
                <a:rPr lang="en-US" altLang="zh-TW" sz="1000" dirty="0" smtClean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P102-00</a:t>
              </a:r>
              <a:endParaRPr lang="en-US" altLang="zh-TW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eaLnBrk="1" hangingPunct="1">
                <a:defRPr/>
              </a:pPr>
              <a:r>
                <a:rPr lang="zh-TW" altLang="en-US" sz="1000" dirty="0" smtClean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地價：</a:t>
              </a:r>
              <a:r>
                <a:rPr lang="en-US" altLang="zh-TW" sz="1000" dirty="0" smtClean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00</a:t>
              </a:r>
              <a:r>
                <a:rPr lang="zh-TW" altLang="en-US" sz="1000" dirty="0" smtClean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元</a:t>
              </a:r>
              <a:r>
                <a:rPr lang="en-US" altLang="zh-TW" sz="1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/m</a:t>
              </a:r>
              <a:r>
                <a:rPr lang="en-US" altLang="zh-TW" sz="1000" baseline="30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</a:p>
          </p:txBody>
        </p:sp>
      </p:grpSp>
      <p:sp>
        <p:nvSpPr>
          <p:cNvPr id="20" name="文字方塊 19"/>
          <p:cNvSpPr txBox="1"/>
          <p:nvPr/>
        </p:nvSpPr>
        <p:spPr>
          <a:xfrm>
            <a:off x="9540552" y="1196752"/>
            <a:ext cx="2808312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/>
              <a:t>說明：</a:t>
            </a:r>
            <a:endParaRPr lang="en-US" altLang="zh-TW" dirty="0"/>
          </a:p>
          <a:p>
            <a:r>
              <a:rPr lang="en-US" altLang="zh-TW" dirty="0"/>
              <a:t>1.</a:t>
            </a:r>
            <a:r>
              <a:rPr lang="zh-TW" altLang="en-US" dirty="0"/>
              <a:t>本頁放置</a:t>
            </a:r>
            <a:r>
              <a:rPr lang="zh-TW" altLang="en-US" dirty="0">
                <a:solidFill>
                  <a:srgbClr val="FF0000"/>
                </a:solidFill>
              </a:rPr>
              <a:t>提送預審小組會議前</a:t>
            </a:r>
            <a:r>
              <a:rPr lang="zh-TW" altLang="en-US" dirty="0"/>
              <a:t>成果，意即「依照預審意見</a:t>
            </a:r>
            <a:r>
              <a:rPr lang="zh-TW" altLang="en-US" dirty="0">
                <a:solidFill>
                  <a:srgbClr val="FF0000"/>
                </a:solidFill>
              </a:rPr>
              <a:t>修正前</a:t>
            </a:r>
            <a:r>
              <a:rPr lang="zh-TW" altLang="en-US" dirty="0"/>
              <a:t>」之成果</a:t>
            </a:r>
            <a:r>
              <a:rPr lang="zh-TW" altLang="en-US" dirty="0" smtClean="0"/>
              <a:t>。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0433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95288" y="260350"/>
            <a:ext cx="61214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SimHei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TW" altLang="en-US" sz="3000" b="1" dirty="0">
                <a:solidFill>
                  <a:srgbClr val="000066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肆</a:t>
            </a:r>
            <a:r>
              <a:rPr lang="zh-TW" altLang="zh-TW" sz="3000" b="1" dirty="0" smtClean="0">
                <a:solidFill>
                  <a:srgbClr val="000066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、</a:t>
            </a:r>
            <a:r>
              <a:rPr lang="zh-TW" altLang="en-US" sz="3000" b="1" dirty="0" smtClean="0">
                <a:solidFill>
                  <a:srgbClr val="000066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小組審查情形</a:t>
            </a:r>
            <a:endParaRPr lang="zh-TW" altLang="en-US" sz="3000" b="1" dirty="0">
              <a:solidFill>
                <a:srgbClr val="000066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68312" y="859872"/>
            <a:ext cx="8135937" cy="575717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62" indent="0" defTabSz="449263" eaLnBrk="1" hangingPunct="1">
              <a:buNone/>
              <a:defRPr/>
            </a:pPr>
            <a:r>
              <a:rPr lang="en-US" altLang="zh-TW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四</a:t>
            </a:r>
            <a:r>
              <a:rPr lang="en-US" altLang="zh-TW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)</a:t>
            </a:r>
            <a:r>
              <a:rPr lang="zh-TW" altLang="en-US" sz="2400" b="1" kern="0" dirty="0" smtClean="0"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意見及回應：</a:t>
            </a:r>
            <a:endParaRPr lang="en-US" altLang="zh-TW" sz="2400" b="1" kern="0" dirty="0" smtClean="0"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 marL="4762" indent="0" defTabSz="449263" eaLnBrk="1" hangingPunct="1">
              <a:buNone/>
              <a:defRPr/>
            </a:pPr>
            <a:endParaRPr lang="en-US" altLang="zh-TW" sz="2400" b="1" kern="0" dirty="0"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 marL="4762" indent="0" defTabSz="449263" eaLnBrk="1" hangingPunct="1">
              <a:buNone/>
              <a:defRPr/>
            </a:pPr>
            <a:endParaRPr lang="en-US" altLang="zh-TW" sz="2400" b="1" kern="0" dirty="0" smtClean="0"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 marL="4762" indent="0" defTabSz="449263" eaLnBrk="1" hangingPunct="1">
              <a:buNone/>
              <a:defRPr/>
            </a:pPr>
            <a:endParaRPr lang="en-US" altLang="zh-TW" sz="2400" b="1" kern="0" dirty="0"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 marL="4762" indent="0" defTabSz="449263" eaLnBrk="1" hangingPunct="1">
              <a:buNone/>
              <a:defRPr/>
            </a:pPr>
            <a:endParaRPr lang="en-US" altLang="zh-TW" sz="2400" b="1" kern="0" dirty="0" smtClean="0"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 marL="4762" indent="0" defTabSz="449263" eaLnBrk="1" hangingPunct="1">
              <a:buNone/>
              <a:defRPr/>
            </a:pPr>
            <a:endParaRPr lang="en-US" altLang="zh-TW" sz="2400" b="1" kern="0" dirty="0"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 marL="4762" indent="0" defTabSz="449263" eaLnBrk="1" hangingPunct="1">
              <a:buNone/>
              <a:defRPr/>
            </a:pPr>
            <a:endParaRPr lang="en-US" altLang="zh-TW" sz="2400" b="1" kern="0" dirty="0" smtClean="0"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11250"/>
              </p:ext>
            </p:extLst>
          </p:nvPr>
        </p:nvGraphicFramePr>
        <p:xfrm>
          <a:off x="534665" y="1435589"/>
          <a:ext cx="8003232" cy="2464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1616">
                  <a:extLst>
                    <a:ext uri="{9D8B030D-6E8A-4147-A177-3AD203B41FA5}">
                      <a16:colId xmlns:a16="http://schemas.microsoft.com/office/drawing/2014/main" val="606443130"/>
                    </a:ext>
                  </a:extLst>
                </a:gridCol>
                <a:gridCol w="4001616">
                  <a:extLst>
                    <a:ext uri="{9D8B030D-6E8A-4147-A177-3AD203B41FA5}">
                      <a16:colId xmlns:a16="http://schemas.microsoft.com/office/drawing/2014/main" val="4116979990"/>
                    </a:ext>
                  </a:extLst>
                </a:gridCol>
              </a:tblGrid>
              <a:tr h="34586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Taipei Sans TC Beta" pitchFamily="2" charset="-120"/>
                          <a:ea typeface="Taipei Sans TC Beta" pitchFamily="2" charset="-120"/>
                        </a:rPr>
                        <a:t>意見</a:t>
                      </a:r>
                      <a:endParaRPr lang="zh-TW" altLang="en-US" dirty="0">
                        <a:latin typeface="Taipei Sans TC Beta" pitchFamily="2" charset="-120"/>
                        <a:ea typeface="Taipei Sans TC Beta" pitchFamily="2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Taipei Sans TC Beta" pitchFamily="2" charset="-120"/>
                          <a:ea typeface="Taipei Sans TC Beta" pitchFamily="2" charset="-120"/>
                        </a:rPr>
                        <a:t>回應</a:t>
                      </a:r>
                      <a:endParaRPr lang="zh-TW" altLang="en-US" dirty="0">
                        <a:latin typeface="Taipei Sans TC Beta" pitchFamily="2" charset="-120"/>
                        <a:ea typeface="Taipei Sans TC Beta" pitchFamily="2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52531"/>
                  </a:ext>
                </a:extLst>
              </a:tr>
              <a:tr h="1049433">
                <a:tc>
                  <a:txBody>
                    <a:bodyPr/>
                    <a:lstStyle/>
                    <a:p>
                      <a:r>
                        <a:rPr lang="zh-TW" altLang="en-US" sz="2000" b="0" kern="0" dirty="0" smtClean="0">
                          <a:latin typeface="Taipei Sans TC Beta" pitchFamily="2" charset="-120"/>
                          <a:ea typeface="Taipei Sans TC Beta" pitchFamily="2" charset="-120"/>
                        </a:rPr>
                        <a:t>請確認本案左、右岸之價格階層及合理性。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kern="0" dirty="0" smtClean="0">
                          <a:solidFill>
                            <a:srgbClr val="A50021"/>
                          </a:solidFill>
                          <a:latin typeface="Taipei Sans TC Beta" pitchFamily="2" charset="-120"/>
                          <a:ea typeface="Taipei Sans TC Beta" pitchFamily="2" charset="-120"/>
                          <a:cs typeface="+mn-cs"/>
                        </a:rPr>
                        <a:t>遵照辦理，查估市價時已將左右岸之條件及價格階層一併納入考量。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802426"/>
                  </a:ext>
                </a:extLst>
              </a:tr>
              <a:tr h="1049433">
                <a:tc>
                  <a:txBody>
                    <a:bodyPr/>
                    <a:lstStyle/>
                    <a:p>
                      <a:r>
                        <a:rPr lang="zh-TW" altLang="en-US" sz="2000" b="0" kern="0" dirty="0" smtClean="0">
                          <a:latin typeface="Taipei Sans TC Beta" pitchFamily="2" charset="-120"/>
                          <a:ea typeface="Taipei Sans TC Beta" pitchFamily="2" charset="-120"/>
                        </a:rPr>
                        <a:t>本案請查估單位依會議決議及後附審查意見修正，經業務單位審視無誤後，提大會評議。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kern="0" dirty="0" smtClean="0">
                          <a:solidFill>
                            <a:srgbClr val="A50021"/>
                          </a:solidFill>
                          <a:latin typeface="Taipei Sans TC Beta" pitchFamily="2" charset="-120"/>
                          <a:ea typeface="Taipei Sans TC Beta" pitchFamily="2" charset="-120"/>
                          <a:cs typeface="+mn-cs"/>
                        </a:rPr>
                        <a:t>查估單位已依審查意見修正，修正回復意見對照詳見估價報告書及會議資料。</a:t>
                      </a:r>
                      <a:endParaRPr lang="zh-TW" altLang="en-US" sz="2000" b="0" kern="1200" dirty="0" smtClean="0">
                        <a:solidFill>
                          <a:schemeClr val="dk1"/>
                        </a:solidFill>
                        <a:latin typeface="Taipei Sans TC Beta" pitchFamily="2" charset="-120"/>
                        <a:ea typeface="Taipei Sans TC Beta" pitchFamily="2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789503"/>
                  </a:ext>
                </a:extLst>
              </a:tr>
            </a:tbl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ADB62C50-BE54-404A-9A59-E0561553789E}" type="slidenum">
              <a:rPr lang="en-US" altLang="zh-TW" smtClean="0"/>
              <a:pPr>
                <a:defRPr/>
              </a:pPr>
              <a:t>20</a:t>
            </a:fld>
            <a:endParaRPr lang="en-US" altLang="zh-TW" dirty="0"/>
          </a:p>
        </p:txBody>
      </p:sp>
      <p:sp>
        <p:nvSpPr>
          <p:cNvPr id="8" name="文字方塊 7"/>
          <p:cNvSpPr txBox="1"/>
          <p:nvPr/>
        </p:nvSpPr>
        <p:spPr>
          <a:xfrm>
            <a:off x="9404920" y="412750"/>
            <a:ext cx="3924944" cy="3693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/>
              <a:t>說明：</a:t>
            </a:r>
            <a:endParaRPr lang="en-US" altLang="zh-TW" dirty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本頁於</a:t>
            </a:r>
            <a:r>
              <a:rPr lang="zh-TW" altLang="en-US" dirty="0" smtClean="0">
                <a:solidFill>
                  <a:srgbClr val="FF0000"/>
                </a:solidFill>
              </a:rPr>
              <a:t>預審小組會議後填載，供正式會委員參考</a:t>
            </a:r>
            <a:endParaRPr lang="en-US" altLang="zh-TW" dirty="0" smtClean="0"/>
          </a:p>
          <a:p>
            <a:r>
              <a:rPr lang="en-US" altLang="zh-TW" dirty="0" smtClean="0"/>
              <a:t>2.</a:t>
            </a:r>
            <a:r>
              <a:rPr lang="zh-TW" altLang="en-US" dirty="0" smtClean="0"/>
              <a:t>請填列該案預審小組審查時間及組別</a:t>
            </a:r>
            <a:r>
              <a:rPr lang="en-US" altLang="zh-TW" dirty="0" smtClean="0"/>
              <a:t>(</a:t>
            </a:r>
            <a:r>
              <a:rPr lang="zh-TW" altLang="en-US" dirty="0" smtClean="0"/>
              <a:t>請參考會議紀錄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3.</a:t>
            </a:r>
            <a:r>
              <a:rPr lang="zh-TW" altLang="en-US" dirty="0" smtClean="0"/>
              <a:t>將</a:t>
            </a:r>
            <a:r>
              <a:rPr lang="zh-TW" altLang="en-US" dirty="0"/>
              <a:t>預審小組會議</a:t>
            </a:r>
            <a:r>
              <a:rPr lang="zh-TW" altLang="en-US" dirty="0" smtClean="0">
                <a:solidFill>
                  <a:srgbClr val="FF0000"/>
                </a:solidFill>
              </a:rPr>
              <a:t>決議</a:t>
            </a:r>
            <a:r>
              <a:rPr lang="zh-TW" altLang="en-US" dirty="0" smtClean="0"/>
              <a:t>事項列於意見欄位，並敘明修正回應意見。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49588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ADB62C50-BE54-404A-9A59-E0561553789E}" type="slidenum">
              <a:rPr lang="en-US" altLang="zh-TW" smtClean="0"/>
              <a:pPr>
                <a:defRPr/>
              </a:pPr>
              <a:t>21</a:t>
            </a:fld>
            <a:endParaRPr lang="en-US" altLang="zh-TW" dirty="0"/>
          </a:p>
        </p:txBody>
      </p:sp>
      <p:sp>
        <p:nvSpPr>
          <p:cNvPr id="8" name="文字方塊 7"/>
          <p:cNvSpPr txBox="1"/>
          <p:nvPr/>
        </p:nvSpPr>
        <p:spPr>
          <a:xfrm>
            <a:off x="9404920" y="412750"/>
            <a:ext cx="3924944" cy="3693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/>
              <a:t>說明：</a:t>
            </a:r>
            <a:endParaRPr lang="en-US" altLang="zh-TW" dirty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本頁於</a:t>
            </a:r>
            <a:r>
              <a:rPr lang="zh-TW" altLang="en-US" dirty="0" smtClean="0">
                <a:solidFill>
                  <a:srgbClr val="FF0000"/>
                </a:solidFill>
              </a:rPr>
              <a:t>預審小組會議後填載，供正式會委員參考</a:t>
            </a:r>
            <a:endParaRPr lang="en-US" altLang="zh-TW" dirty="0" smtClean="0"/>
          </a:p>
          <a:p>
            <a:r>
              <a:rPr lang="en-US" altLang="zh-TW" dirty="0" smtClean="0"/>
              <a:t>2.</a:t>
            </a:r>
            <a:r>
              <a:rPr lang="zh-TW" altLang="en-US" dirty="0" smtClean="0"/>
              <a:t>請填列該案預審小組審查時間及組別</a:t>
            </a:r>
            <a:r>
              <a:rPr lang="en-US" altLang="zh-TW" dirty="0" smtClean="0"/>
              <a:t>(</a:t>
            </a:r>
            <a:r>
              <a:rPr lang="zh-TW" altLang="en-US" dirty="0" smtClean="0"/>
              <a:t>請參考會議紀錄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3.</a:t>
            </a:r>
            <a:r>
              <a:rPr lang="zh-TW" altLang="en-US" dirty="0" smtClean="0"/>
              <a:t>將</a:t>
            </a:r>
            <a:r>
              <a:rPr lang="zh-TW" altLang="en-US" dirty="0"/>
              <a:t>預審小組會議</a:t>
            </a:r>
            <a:r>
              <a:rPr lang="zh-TW" altLang="en-US" dirty="0" smtClean="0">
                <a:solidFill>
                  <a:srgbClr val="FF0000"/>
                </a:solidFill>
              </a:rPr>
              <a:t>決議</a:t>
            </a:r>
            <a:r>
              <a:rPr lang="zh-TW" altLang="en-US" dirty="0" smtClean="0"/>
              <a:t>事項列於意見欄位，並敘明修正回應意見。</a:t>
            </a:r>
            <a:endParaRPr lang="en-US" altLang="zh-TW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50863" y="2449885"/>
            <a:ext cx="8135937" cy="1656184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62" indent="0" defTabSz="449263" eaLnBrk="1" hangingPunct="1">
              <a:buNone/>
              <a:defRPr/>
            </a:pPr>
            <a:endParaRPr lang="zh-TW" altLang="en-US" sz="2400" b="1" kern="0" dirty="0"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  <a:p>
            <a:pPr marL="441325" lvl="0" indent="-436563" algn="ctr" defTabSz="449263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zh-TW" altLang="en-US" sz="53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Taipei Sans TC Beta" pitchFamily="2" charset="-120"/>
                <a:cs typeface="Times New Roman" panose="02020603050405020304" pitchFamily="18" charset="0"/>
              </a:rPr>
              <a:t>提請評議</a:t>
            </a:r>
            <a:endParaRPr lang="en-US" altLang="zh-TW" sz="2600" b="1" kern="0" baseline="30000" dirty="0">
              <a:solidFill>
                <a:srgbClr val="0000FF"/>
              </a:solidFill>
              <a:latin typeface="Times New Roman" panose="02020603050405020304" pitchFamily="18" charset="0"/>
              <a:ea typeface="Taipei Sans TC Beta" pitchFamily="2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39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6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自訂 2">
      <a:majorFont>
        <a:latin typeface="Times New Roman"/>
        <a:ea typeface="Taipei Sans TC Beta"/>
        <a:cs typeface=""/>
      </a:majorFont>
      <a:minorFont>
        <a:latin typeface="Times New Roman"/>
        <a:ea typeface="Taipei Sans TC Beta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dist">
          <a:defRPr dirty="0">
            <a:solidFill>
              <a:srgbClr val="FF0000"/>
            </a:solidFill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5413</TotalTime>
  <Words>2734</Words>
  <Application>Microsoft Office PowerPoint</Application>
  <PresentationFormat>如螢幕大小 (4:3)</PresentationFormat>
  <Paragraphs>358</Paragraphs>
  <Slides>21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32" baseType="lpstr">
      <vt:lpstr>Wingdings</vt:lpstr>
      <vt:lpstr>Arial</vt:lpstr>
      <vt:lpstr>Taipei Sans TC Beta</vt:lpstr>
      <vt:lpstr>SimHei</vt:lpstr>
      <vt:lpstr>微軟正黑體</vt:lpstr>
      <vt:lpstr>Times New Roman</vt:lpstr>
      <vt:lpstr>Garamond</vt:lpstr>
      <vt:lpstr>Taipei Sans TC Beta Light</vt:lpstr>
      <vt:lpstr>Calibri</vt:lpstr>
      <vt:lpstr>新細明體</vt:lpstr>
      <vt:lpstr>16_Edge</vt:lpstr>
      <vt:lpstr>○○○○○○○○○工程 預定徵收土地宗地單位市價評定案 （108年徵收案重新提評）</vt:lpstr>
      <vt:lpstr>PowerPoint 簡報</vt:lpstr>
      <vt:lpstr>PowerPoint 簡報</vt:lpstr>
      <vt:lpstr>PowerPoint 簡報</vt:lpstr>
      <vt:lpstr>貳、預定徵收地區市價查估作業情形</vt:lpstr>
      <vt:lpstr>PowerPoint 簡報</vt:lpstr>
      <vt:lpstr>PowerPoint 簡報</vt:lpstr>
      <vt:lpstr>貳、預定徵收地區市價查估作業情形</vt:lpstr>
      <vt:lpstr>PowerPoint 簡報</vt:lpstr>
      <vt:lpstr>PowerPoint 簡報</vt:lpstr>
      <vt:lpstr>PowerPoint 簡報</vt:lpstr>
      <vt:lpstr>PowerPoint 簡報</vt:lpstr>
      <vt:lpstr>貳、預定徵收地區市價查估作業情形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臺南市地價及標準地價評議委員會 105年第6次會議</dc:title>
  <dc:creator>葉冠志</dc:creator>
  <cp:lastModifiedBy>Administrator</cp:lastModifiedBy>
  <cp:revision>943</cp:revision>
  <cp:lastPrinted>2022-01-03T09:12:04Z</cp:lastPrinted>
  <dcterms:created xsi:type="dcterms:W3CDTF">2016-07-12T03:24:50Z</dcterms:created>
  <dcterms:modified xsi:type="dcterms:W3CDTF">2022-02-25T02:19:40Z</dcterms:modified>
</cp:coreProperties>
</file>